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2"/>
  </p:notesMasterIdLst>
  <p:sldIdLst>
    <p:sldId id="279" r:id="rId5"/>
    <p:sldId id="257" r:id="rId6"/>
    <p:sldId id="258" r:id="rId7"/>
    <p:sldId id="264" r:id="rId8"/>
    <p:sldId id="265" r:id="rId9"/>
    <p:sldId id="266" r:id="rId10"/>
    <p:sldId id="267" r:id="rId11"/>
    <p:sldId id="268" r:id="rId12"/>
    <p:sldId id="280" r:id="rId13"/>
    <p:sldId id="281" r:id="rId14"/>
    <p:sldId id="282" r:id="rId15"/>
    <p:sldId id="295" r:id="rId16"/>
    <p:sldId id="294" r:id="rId17"/>
    <p:sldId id="286" r:id="rId18"/>
    <p:sldId id="273" r:id="rId19"/>
    <p:sldId id="284" r:id="rId20"/>
    <p:sldId id="28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27275A-5004-4488-BB2B-8541C3EB84DB}" v="6" dt="2018-08-08T09:05:58.3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5" autoAdjust="0"/>
    <p:restoredTop sz="66707" autoAdjust="0"/>
  </p:normalViewPr>
  <p:slideViewPr>
    <p:cSldViewPr snapToGrid="0" snapToObjects="1">
      <p:cViewPr varScale="1">
        <p:scale>
          <a:sx n="65" d="100"/>
          <a:sy n="65" d="100"/>
        </p:scale>
        <p:origin x="1428" y="28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84" d="100"/>
          <a:sy n="84" d="100"/>
        </p:scale>
        <p:origin x="286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EC2CF0-787B-48FE-8994-1394BFF39544}" type="datetimeFigureOut">
              <a:rPr lang="en-US" smtClean="0"/>
              <a:t>3/20/2026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73E670-C469-43C0-98EC-08E4C325C97F}" type="slidenum">
              <a:rPr lang="en-US" smtClean="0"/>
              <a:t>‹#›</a:t>
            </a:fld>
            <a:endParaRPr lang="en-US"/>
          </a:p>
        </p:txBody>
      </p:sp>
    </p:spTree>
    <p:extLst>
      <p:ext uri="{BB962C8B-B14F-4D97-AF65-F5344CB8AC3E}">
        <p14:creationId xmlns:p14="http://schemas.microsoft.com/office/powerpoint/2010/main" val="2622514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Agenda</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Set the stage for the audience:</a:t>
            </a:r>
            <a:r>
              <a:rPr lang="en-US" sz="1200" b="0" i="0" kern="1200" dirty="0">
                <a:solidFill>
                  <a:schemeClr val="tx1"/>
                </a:solidFill>
                <a:effectLst/>
                <a:latin typeface="+mn-lt"/>
                <a:ea typeface="+mn-ea"/>
                <a:cs typeface="+mn-cs"/>
              </a:rPr>
              <a:t> We're going to cover four major topics today, and they build on each other. By the end, you'll have a complete picture of how to design, build, and deploy multi-agent systems on Azure — from the architectural patterns all the way through to cross-service communication.</a:t>
            </a:r>
          </a:p>
          <a:p>
            <a:r>
              <a:rPr lang="en-US" sz="1200" b="1" i="0" kern="1200" dirty="0">
                <a:solidFill>
                  <a:schemeClr val="tx1"/>
                </a:solidFill>
                <a:effectLst/>
                <a:latin typeface="+mn-lt"/>
                <a:ea typeface="+mn-ea"/>
                <a:cs typeface="+mn-cs"/>
              </a:rPr>
              <a:t>Section 1 — Orchestration Patterns:</a:t>
            </a:r>
            <a:r>
              <a:rPr lang="en-US" sz="1200" b="0" i="0" kern="1200" dirty="0">
                <a:solidFill>
                  <a:schemeClr val="tx1"/>
                </a:solidFill>
                <a:effectLst/>
                <a:latin typeface="+mn-lt"/>
                <a:ea typeface="+mn-ea"/>
                <a:cs typeface="+mn-cs"/>
              </a:rPr>
              <a:t> We'll start with the foundational question: how do multiple agents work together? Microsoft has codified five standardized patterns in the Azure Architecture Center — Sequential, Concurrent, Handoff, Group Chat, and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We'll walk through each one with diagrams, real-world examples, benefits, and trade-offs. The goal is to give you a shared vocabulary and a decision framework for choosing the right pattern for your use case.</a:t>
            </a:r>
          </a:p>
          <a:p>
            <a:r>
              <a:rPr lang="en-US" sz="1200" b="1" i="0" kern="1200" dirty="0">
                <a:solidFill>
                  <a:schemeClr val="tx1"/>
                </a:solidFill>
                <a:effectLst/>
                <a:latin typeface="+mn-lt"/>
                <a:ea typeface="+mn-ea"/>
                <a:cs typeface="+mn-cs"/>
              </a:rPr>
              <a:t>Section 2 — Library Ecosystem:</a:t>
            </a:r>
            <a:r>
              <a:rPr lang="en-US" sz="1200" b="0" i="0" kern="1200" dirty="0">
                <a:solidFill>
                  <a:schemeClr val="tx1"/>
                </a:solidFill>
                <a:effectLst/>
                <a:latin typeface="+mn-lt"/>
                <a:ea typeface="+mn-ea"/>
                <a:cs typeface="+mn-cs"/>
              </a:rPr>
              <a:t> Once you know the patterns, the next question is: which framework do I use to build them? We'll compare the major options —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from the Python world, Semantic Kernel as Microsoft's .NET-first SDK, the new Microsoft Agent Framework that's consolidating both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and SK, plus OpenAI Agents SDK and </a:t>
            </a:r>
            <a:r>
              <a:rPr lang="en-US" sz="1200" b="0" i="0" kern="1200" dirty="0" err="1">
                <a:solidFill>
                  <a:schemeClr val="tx1"/>
                </a:solidFill>
                <a:effectLst/>
                <a:latin typeface="+mn-lt"/>
                <a:ea typeface="+mn-ea"/>
                <a:cs typeface="+mn-cs"/>
              </a:rPr>
              <a:t>CrewAI</a:t>
            </a:r>
            <a:r>
              <a:rPr lang="en-US" sz="1200" b="0" i="0" kern="1200" dirty="0">
                <a:solidFill>
                  <a:schemeClr val="tx1"/>
                </a:solidFill>
                <a:effectLst/>
                <a:latin typeface="+mn-lt"/>
                <a:ea typeface="+mn-ea"/>
                <a:cs typeface="+mn-cs"/>
              </a:rPr>
              <a:t>. You'll see a pattern-to-library mapping matrix so you know exactly which frameworks support which patterns, and in which languages.</a:t>
            </a:r>
          </a:p>
          <a:p>
            <a:r>
              <a:rPr lang="en-US" sz="1200" b="1" i="0" kern="1200" dirty="0">
                <a:solidFill>
                  <a:schemeClr val="tx1"/>
                </a:solidFill>
                <a:effectLst/>
                <a:latin typeface="+mn-lt"/>
                <a:ea typeface="+mn-ea"/>
                <a:cs typeface="+mn-cs"/>
              </a:rPr>
              <a:t>Section 3 — Azure AI Foundry:</a:t>
            </a:r>
            <a:r>
              <a:rPr lang="en-US" sz="1200" b="0" i="0" kern="1200" dirty="0">
                <a:solidFill>
                  <a:schemeClr val="tx1"/>
                </a:solidFill>
                <a:effectLst/>
                <a:latin typeface="+mn-lt"/>
                <a:ea typeface="+mn-ea"/>
                <a:cs typeface="+mn-cs"/>
              </a:rPr>
              <a:t> Since this organization is already on Azure AI Foundry, we'll focus on compatibility. How well do these frameworks integrate with Foundry's model catalog, Agent Service, and hosted deployment? We'll look at Foundry's three-tier graduation path — from no-code Prompt Agents to fully containerized Hosted Agents — and show you the compatibility matrix across frameworks. The short answer is: all three primary frameworks integrate well, but there are nuances worth knowing.</a:t>
            </a:r>
          </a:p>
          <a:p>
            <a:r>
              <a:rPr lang="en-US" sz="1200" b="1" i="0" kern="1200" dirty="0">
                <a:solidFill>
                  <a:schemeClr val="tx1"/>
                </a:solidFill>
                <a:effectLst/>
                <a:latin typeface="+mn-lt"/>
                <a:ea typeface="+mn-ea"/>
                <a:cs typeface="+mn-cs"/>
              </a:rPr>
              <a:t>Section 4 — A2A Communication:</a:t>
            </a:r>
            <a:r>
              <a:rPr lang="en-US" sz="1200" b="0" i="0" kern="1200" dirty="0">
                <a:solidFill>
                  <a:schemeClr val="tx1"/>
                </a:solidFill>
                <a:effectLst/>
                <a:latin typeface="+mn-lt"/>
                <a:ea typeface="+mn-ea"/>
                <a:cs typeface="+mn-cs"/>
              </a:rPr>
              <a:t> Finally, we'll tackle the enterprise reality — your agents won't all live in one process. The Agent2Agent protocol is the emerging standard for inter-agent communication, backed by the Linux Foundation. We'll cover how A2A differs from MCP, when to use in-process orchestration versus A2A, the ASP.NET implementation, and the recommended hybrid architecture that combines both. This is the section that ties everything together into an actionable enterprise architecture.</a:t>
            </a:r>
          </a:p>
          <a:p>
            <a:r>
              <a:rPr lang="en-US" sz="1200" b="1" i="0" kern="1200" dirty="0">
                <a:solidFill>
                  <a:schemeClr val="tx1"/>
                </a:solidFill>
                <a:effectLst/>
                <a:latin typeface="+mn-lt"/>
                <a:ea typeface="+mn-ea"/>
                <a:cs typeface="+mn-cs"/>
              </a:rPr>
              <a:t>How these sections connect:</a:t>
            </a:r>
            <a:r>
              <a:rPr lang="en-US" sz="1200" b="0" i="0" kern="1200" dirty="0">
                <a:solidFill>
                  <a:schemeClr val="tx1"/>
                </a:solidFill>
                <a:effectLst/>
                <a:latin typeface="+mn-lt"/>
                <a:ea typeface="+mn-ea"/>
                <a:cs typeface="+mn-cs"/>
              </a:rPr>
              <a:t> Think of it as a funnel from theory to practice. Patterns tell you </a:t>
            </a:r>
            <a:r>
              <a:rPr lang="en-US" sz="1200" b="0" i="1" kern="1200" dirty="0">
                <a:solidFill>
                  <a:schemeClr val="tx1"/>
                </a:solidFill>
                <a:effectLst/>
                <a:latin typeface="+mn-lt"/>
                <a:ea typeface="+mn-ea"/>
                <a:cs typeface="+mn-cs"/>
              </a:rPr>
              <a:t>what</a:t>
            </a:r>
            <a:r>
              <a:rPr lang="en-US" sz="1200" b="0" i="0" kern="1200" dirty="0">
                <a:solidFill>
                  <a:schemeClr val="tx1"/>
                </a:solidFill>
                <a:effectLst/>
                <a:latin typeface="+mn-lt"/>
                <a:ea typeface="+mn-ea"/>
                <a:cs typeface="+mn-cs"/>
              </a:rPr>
              <a:t> to build. Libraries tell you </a:t>
            </a:r>
            <a:r>
              <a:rPr lang="en-US" sz="1200" b="0" i="1" kern="1200" dirty="0">
                <a:solidFill>
                  <a:schemeClr val="tx1"/>
                </a:solidFill>
                <a:effectLst/>
                <a:latin typeface="+mn-lt"/>
                <a:ea typeface="+mn-ea"/>
                <a:cs typeface="+mn-cs"/>
              </a:rPr>
              <a:t>what to build it with</a:t>
            </a:r>
            <a:r>
              <a:rPr lang="en-US" sz="1200" b="0" i="0" kern="1200" dirty="0">
                <a:solidFill>
                  <a:schemeClr val="tx1"/>
                </a:solidFill>
                <a:effectLst/>
                <a:latin typeface="+mn-lt"/>
                <a:ea typeface="+mn-ea"/>
                <a:cs typeface="+mn-cs"/>
              </a:rPr>
              <a:t>. Foundry compatibility tells you </a:t>
            </a:r>
            <a:r>
              <a:rPr lang="en-US" sz="1200" b="0" i="1" kern="1200" dirty="0">
                <a:solidFill>
                  <a:schemeClr val="tx1"/>
                </a:solidFill>
                <a:effectLst/>
                <a:latin typeface="+mn-lt"/>
                <a:ea typeface="+mn-ea"/>
                <a:cs typeface="+mn-cs"/>
              </a:rPr>
              <a:t>where it runs</a:t>
            </a:r>
            <a:r>
              <a:rPr lang="en-US" sz="1200" b="0" i="0" kern="1200" dirty="0">
                <a:solidFill>
                  <a:schemeClr val="tx1"/>
                </a:solidFill>
                <a:effectLst/>
                <a:latin typeface="+mn-lt"/>
                <a:ea typeface="+mn-ea"/>
                <a:cs typeface="+mn-cs"/>
              </a:rPr>
              <a:t>. A2A tells you </a:t>
            </a:r>
            <a:r>
              <a:rPr lang="en-US" sz="1200" b="0" i="1" kern="1200" dirty="0">
                <a:solidFill>
                  <a:schemeClr val="tx1"/>
                </a:solidFill>
                <a:effectLst/>
                <a:latin typeface="+mn-lt"/>
                <a:ea typeface="+mn-ea"/>
                <a:cs typeface="+mn-cs"/>
              </a:rPr>
              <a:t>how it connects</a:t>
            </a:r>
            <a:r>
              <a:rPr lang="en-US" sz="1200" b="0" i="0" kern="1200" dirty="0">
                <a:solidFill>
                  <a:schemeClr val="tx1"/>
                </a:solidFill>
                <a:effectLst/>
                <a:latin typeface="+mn-lt"/>
                <a:ea typeface="+mn-ea"/>
                <a:cs typeface="+mn-cs"/>
              </a:rPr>
              <a:t> across your organization. Each section answers a different question, and together they give you a complete decision framework.</a:t>
            </a:r>
          </a:p>
          <a:p>
            <a:r>
              <a:rPr lang="en-US" sz="1200" b="1" i="0" kern="1200" dirty="0">
                <a:solidFill>
                  <a:schemeClr val="tx1"/>
                </a:solidFill>
                <a:effectLst/>
                <a:latin typeface="+mn-lt"/>
                <a:ea typeface="+mn-ea"/>
                <a:cs typeface="+mn-cs"/>
              </a:rPr>
              <a:t>What we won't cover today:</a:t>
            </a:r>
            <a:r>
              <a:rPr lang="en-US" sz="1200" b="0" i="0" kern="1200" dirty="0">
                <a:solidFill>
                  <a:schemeClr val="tx1"/>
                </a:solidFill>
                <a:effectLst/>
                <a:latin typeface="+mn-lt"/>
                <a:ea typeface="+mn-ea"/>
                <a:cs typeface="+mn-cs"/>
              </a:rPr>
              <a:t> This presentation focuses on architecture and technology selection — not hands-on coding tutorials. We have code references and documentation links in the research document for teams that want to dive into implementation. We're also not covering model selection or prompt engineering — the focus is on the multi-agent orchestration layer above the model.</a:t>
            </a:r>
          </a:p>
          <a:p>
            <a:r>
              <a:rPr lang="en-US" sz="1200" b="1" i="0" kern="1200" dirty="0">
                <a:solidFill>
                  <a:schemeClr val="tx1"/>
                </a:solidFill>
                <a:effectLst/>
                <a:latin typeface="+mn-lt"/>
                <a:ea typeface="+mn-ea"/>
                <a:cs typeface="+mn-cs"/>
              </a:rPr>
              <a:t>Encourage engagement:</a:t>
            </a:r>
            <a:r>
              <a:rPr lang="en-US" sz="1200" b="0" i="0" kern="1200" dirty="0">
                <a:solidFill>
                  <a:schemeClr val="tx1"/>
                </a:solidFill>
                <a:effectLst/>
                <a:latin typeface="+mn-lt"/>
                <a:ea typeface="+mn-ea"/>
                <a:cs typeface="+mn-cs"/>
              </a:rPr>
              <a:t> Each section builds on the last, but feel free to ask questions as we go. If something in Section 1 affects your thinking about Section 3, let's surface that early rather than waiting until the end.</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2</a:t>
            </a:fld>
            <a:endParaRPr lang="en-US"/>
          </a:p>
        </p:txBody>
      </p:sp>
    </p:spTree>
    <p:extLst>
      <p:ext uri="{BB962C8B-B14F-4D97-AF65-F5344CB8AC3E}">
        <p14:creationId xmlns:p14="http://schemas.microsoft.com/office/powerpoint/2010/main" val="4199479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Start Simple: The Complexity Spectrum</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Lead with the guiding principle:</a:t>
            </a:r>
            <a:r>
              <a:rPr lang="en-US" sz="1200" b="0" i="0" kern="1200" dirty="0">
                <a:solidFill>
                  <a:schemeClr val="tx1"/>
                </a:solidFill>
                <a:effectLst/>
                <a:latin typeface="+mn-lt"/>
                <a:ea typeface="+mn-ea"/>
                <a:cs typeface="+mn-cs"/>
              </a:rPr>
              <a:t> Before we dive into the five orchestration patterns, here's the most important design principle from Microsoft's Azure Architecture Center guidance — </a:t>
            </a:r>
            <a:r>
              <a:rPr lang="en-US" sz="1200" b="0" i="1" kern="1200" dirty="0">
                <a:solidFill>
                  <a:schemeClr val="tx1"/>
                </a:solidFill>
                <a:effectLst/>
                <a:latin typeface="+mn-lt"/>
                <a:ea typeface="+mn-ea"/>
                <a:cs typeface="+mn-cs"/>
              </a:rPr>
              <a:t>use the lowest level of complexity that reliably meets your requirements.</a:t>
            </a:r>
            <a:r>
              <a:rPr lang="en-US" sz="1200" b="0" i="0" kern="1200" dirty="0">
                <a:solidFill>
                  <a:schemeClr val="tx1"/>
                </a:solidFill>
                <a:effectLst/>
                <a:latin typeface="+mn-lt"/>
                <a:ea typeface="+mn-ea"/>
                <a:cs typeface="+mn-cs"/>
              </a:rPr>
              <a:t> Multi-agent is powerful, but it's not always the right answer. This slide is the "should you even be here?" checkpoint.</a:t>
            </a:r>
          </a:p>
          <a:p>
            <a:r>
              <a:rPr lang="en-US" sz="1200" b="1" i="0" kern="1200" dirty="0">
                <a:solidFill>
                  <a:schemeClr val="tx1"/>
                </a:solidFill>
                <a:effectLst/>
                <a:latin typeface="+mn-lt"/>
                <a:ea typeface="+mn-ea"/>
                <a:cs typeface="+mn-cs"/>
              </a:rPr>
              <a:t>Level 1 — Direct Model Call:</a:t>
            </a:r>
            <a:r>
              <a:rPr lang="en-US" sz="1200" b="0" i="0" kern="1200" dirty="0">
                <a:solidFill>
                  <a:schemeClr val="tx1"/>
                </a:solidFill>
                <a:effectLst/>
                <a:latin typeface="+mn-lt"/>
                <a:ea typeface="+mn-ea"/>
                <a:cs typeface="+mn-cs"/>
              </a:rPr>
              <a:t> This is the simplest possible approach. A single LLM call with a well-crafted prompt. No agent framework, no tool calling, no orchestration. It's ideal for classification, summarization, translation, and any single-step task where one prompt gets you the answer. If your problem fits here, you're done — don't add agents just because they're exciting. A well-crafted prompt with a capable model solves a surprising number of problems.</a:t>
            </a:r>
          </a:p>
          <a:p>
            <a:r>
              <a:rPr lang="en-US" sz="1200" b="1" i="0" kern="1200" dirty="0">
                <a:solidFill>
                  <a:schemeClr val="tx1"/>
                </a:solidFill>
                <a:effectLst/>
                <a:latin typeface="+mn-lt"/>
                <a:ea typeface="+mn-ea"/>
                <a:cs typeface="+mn-cs"/>
              </a:rPr>
              <a:t>Level 2 — Single Agent + Tools:</a:t>
            </a:r>
            <a:r>
              <a:rPr lang="en-US" sz="1200" b="0" i="0" kern="1200" dirty="0">
                <a:solidFill>
                  <a:schemeClr val="tx1"/>
                </a:solidFill>
                <a:effectLst/>
                <a:latin typeface="+mn-lt"/>
                <a:ea typeface="+mn-ea"/>
                <a:cs typeface="+mn-cs"/>
              </a:rPr>
              <a:t> One step up. You have a single agent that can reason about which tools to use — search a database, call an API, run a calculation — based on the query. It's still one agent, but it has access to a toolkit. This covers most "varied queries within a single domain" scenarios. A customer service agent that can look up orders, check account status, and process returns? That's a single agent with tools, not a multi-agent system.</a:t>
            </a:r>
          </a:p>
          <a:p>
            <a:r>
              <a:rPr lang="en-US" sz="1200" b="1" i="0" kern="1200" dirty="0">
                <a:solidFill>
                  <a:schemeClr val="tx1"/>
                </a:solidFill>
                <a:effectLst/>
                <a:latin typeface="+mn-lt"/>
                <a:ea typeface="+mn-ea"/>
                <a:cs typeface="+mn-cs"/>
              </a:rPr>
              <a:t>Level 3 — Multi-Agent Orchestration:</a:t>
            </a:r>
            <a:r>
              <a:rPr lang="en-US" sz="1200" b="0" i="0" kern="1200" dirty="0">
                <a:solidFill>
                  <a:schemeClr val="tx1"/>
                </a:solidFill>
                <a:effectLst/>
                <a:latin typeface="+mn-lt"/>
                <a:ea typeface="+mn-ea"/>
                <a:cs typeface="+mn-cs"/>
              </a:rPr>
              <a:t> This is what the rest of the presentation is about — multiple specialized agents coordinating to solve a problem. You only need this when the problem is genuinely cross-functional, when you need distinct security boundaries between agents, when different agents need different model capabilities, or when parallel specialization provides a real advantage. This is the top of the staircase, and the five patterns we'll cover next are how you implement it.</a:t>
            </a:r>
          </a:p>
          <a:p>
            <a:r>
              <a:rPr lang="en-US" sz="1200" b="1" i="0" kern="1200" dirty="0">
                <a:solidFill>
                  <a:schemeClr val="tx1"/>
                </a:solidFill>
                <a:effectLst/>
                <a:latin typeface="+mn-lt"/>
                <a:ea typeface="+mn-ea"/>
                <a:cs typeface="+mn-cs"/>
              </a:rPr>
              <a:t>Why this framing matters for decision-making:</a:t>
            </a:r>
            <a:r>
              <a:rPr lang="en-US" sz="1200" b="0" i="0" kern="1200" dirty="0">
                <a:solidFill>
                  <a:schemeClr val="tx1"/>
                </a:solidFill>
                <a:effectLst/>
                <a:latin typeface="+mn-lt"/>
                <a:ea typeface="+mn-ea"/>
                <a:cs typeface="+mn-cs"/>
              </a:rPr>
              <a:t> The decision-making overhead of multi-agent orchestration often exceeds the benefits for simpler problems. Every agent you add means more LLM calls (cost), more coordination logic (complexity), more failure modes (reliability), and more debugging surface area (observability). If a single agent with the right tools can handle the job, that's the better architecture — it's cheaper, faster, simpler, and easier to maintain.</a:t>
            </a:r>
          </a:p>
          <a:p>
            <a:r>
              <a:rPr lang="en-US" sz="1200" b="1" i="0" kern="1200" dirty="0">
                <a:solidFill>
                  <a:schemeClr val="tx1"/>
                </a:solidFill>
                <a:effectLst/>
                <a:latin typeface="+mn-lt"/>
                <a:ea typeface="+mn-ea"/>
                <a:cs typeface="+mn-cs"/>
              </a:rPr>
              <a:t>The staircase visual is intentional:</a:t>
            </a:r>
            <a:r>
              <a:rPr lang="en-US" sz="1200" b="0" i="0" kern="1200" dirty="0">
                <a:solidFill>
                  <a:schemeClr val="tx1"/>
                </a:solidFill>
                <a:effectLst/>
                <a:latin typeface="+mn-lt"/>
                <a:ea typeface="+mn-ea"/>
                <a:cs typeface="+mn-cs"/>
              </a:rPr>
              <a:t> Notice the cards are arranged in ascending height — each level adds more capability but also more complexity. The arrows between them represent deliberate escalation decisions, not automatic progression. You should only step up when the current level genuinely can't meet your requirements.</a:t>
            </a:r>
          </a:p>
          <a:p>
            <a:r>
              <a:rPr lang="en-US" sz="1200" b="1" i="0" kern="1200" dirty="0">
                <a:solidFill>
                  <a:schemeClr val="tx1"/>
                </a:solidFill>
                <a:effectLst/>
                <a:latin typeface="+mn-lt"/>
                <a:ea typeface="+mn-ea"/>
                <a:cs typeface="+mn-cs"/>
              </a:rPr>
              <a:t>Practical examples for each level:</a:t>
            </a:r>
            <a:endParaRPr lang="en-US" sz="1200" b="0" i="0" kern="1200" dirty="0">
              <a:solidFill>
                <a:schemeClr val="tx1"/>
              </a:solidFill>
              <a:effectLst/>
              <a:latin typeface="+mn-lt"/>
              <a:ea typeface="+mn-ea"/>
              <a:cs typeface="+mn-cs"/>
            </a:endParaRPr>
          </a:p>
          <a:p>
            <a:pPr lvl="1"/>
            <a:r>
              <a:rPr lang="en-US" sz="1200" b="1" i="0" kern="1200" dirty="0">
                <a:solidFill>
                  <a:schemeClr val="tx1"/>
                </a:solidFill>
                <a:effectLst/>
                <a:latin typeface="+mn-lt"/>
                <a:ea typeface="+mn-ea"/>
                <a:cs typeface="+mn-cs"/>
              </a:rPr>
              <a:t>Direct Model Call:</a:t>
            </a:r>
            <a:r>
              <a:rPr lang="en-US" sz="1200" b="0" i="0" kern="1200" dirty="0">
                <a:solidFill>
                  <a:schemeClr val="tx1"/>
                </a:solidFill>
                <a:effectLst/>
                <a:latin typeface="+mn-lt"/>
                <a:ea typeface="+mn-ea"/>
                <a:cs typeface="+mn-cs"/>
              </a:rPr>
              <a:t> "Translate this document to French." "Classify this support ticket as billing, technical, or general." "Summarize this meeting transcript."</a:t>
            </a:r>
          </a:p>
          <a:p>
            <a:pPr lvl="1"/>
            <a:r>
              <a:rPr lang="en-US" sz="1200" b="1" i="0" kern="1200" dirty="0">
                <a:solidFill>
                  <a:schemeClr val="tx1"/>
                </a:solidFill>
                <a:effectLst/>
                <a:latin typeface="+mn-lt"/>
                <a:ea typeface="+mn-ea"/>
                <a:cs typeface="+mn-cs"/>
              </a:rPr>
              <a:t>Single Agent + Tools:</a:t>
            </a:r>
            <a:r>
              <a:rPr lang="en-US" sz="1200" b="0" i="0" kern="1200" dirty="0">
                <a:solidFill>
                  <a:schemeClr val="tx1"/>
                </a:solidFill>
                <a:effectLst/>
                <a:latin typeface="+mn-lt"/>
                <a:ea typeface="+mn-ea"/>
                <a:cs typeface="+mn-cs"/>
              </a:rPr>
              <a:t> "Look up order #12345 and tell me its status." "Check our inventory for this SKU and calculate restocking recommendations." "Search our knowledge base and answer this customer's question."</a:t>
            </a:r>
          </a:p>
          <a:p>
            <a:pPr lvl="1"/>
            <a:r>
              <a:rPr lang="en-US" sz="1200" b="1" i="0" kern="1200" dirty="0">
                <a:solidFill>
                  <a:schemeClr val="tx1"/>
                </a:solidFill>
                <a:effectLst/>
                <a:latin typeface="+mn-lt"/>
                <a:ea typeface="+mn-ea"/>
                <a:cs typeface="+mn-cs"/>
              </a:rPr>
              <a:t>Multi-Agent:</a:t>
            </a:r>
            <a:r>
              <a:rPr lang="en-US" sz="1200" b="0" i="0" kern="1200" dirty="0">
                <a:solidFill>
                  <a:schemeClr val="tx1"/>
                </a:solidFill>
                <a:effectLst/>
                <a:latin typeface="+mn-lt"/>
                <a:ea typeface="+mn-ea"/>
                <a:cs typeface="+mn-cs"/>
              </a:rPr>
              <a:t> "Analyze this stock from fundamental, technical, sentiment, and ESG perspectives, then combine into a recommendation." "Route this support case to the right specialist, escalate if needed, and ensure compliance at each step." "Plan an incident response — diagnose, remediate, roll back, and communicate."</a:t>
            </a:r>
          </a:p>
          <a:p>
            <a:r>
              <a:rPr lang="en-US" sz="1200" b="1" i="0" kern="1200" dirty="0">
                <a:solidFill>
                  <a:schemeClr val="tx1"/>
                </a:solidFill>
                <a:effectLst/>
                <a:latin typeface="+mn-lt"/>
                <a:ea typeface="+mn-ea"/>
                <a:cs typeface="+mn-cs"/>
              </a:rPr>
              <a:t>A common anti-pattern to call out:</a:t>
            </a:r>
            <a:r>
              <a:rPr lang="en-US" sz="1200" b="0" i="0" kern="1200" dirty="0">
                <a:solidFill>
                  <a:schemeClr val="tx1"/>
                </a:solidFill>
                <a:effectLst/>
                <a:latin typeface="+mn-lt"/>
                <a:ea typeface="+mn-ea"/>
                <a:cs typeface="+mn-cs"/>
              </a:rPr>
              <a:t> Teams often jump straight to multi-agent because it's the most interesting architecture. They build a Sequential pipeline with three agents when a single agent with three tools would work just as well — but at a fraction of the latency and cost. The complexity spectrum is a forcing function to justify each step up.</a:t>
            </a:r>
          </a:p>
          <a:p>
            <a:r>
              <a:rPr lang="en-US" sz="1200" b="1" i="0" kern="1200" dirty="0">
                <a:solidFill>
                  <a:schemeClr val="tx1"/>
                </a:solidFill>
                <a:effectLst/>
                <a:latin typeface="+mn-lt"/>
                <a:ea typeface="+mn-ea"/>
                <a:cs typeface="+mn-cs"/>
              </a:rPr>
              <a:t>This connects to cost optimization later:</a:t>
            </a:r>
            <a:r>
              <a:rPr lang="en-US" sz="1200" b="0" i="0" kern="1200" dirty="0">
                <a:solidFill>
                  <a:schemeClr val="tx1"/>
                </a:solidFill>
                <a:effectLst/>
                <a:latin typeface="+mn-lt"/>
                <a:ea typeface="+mn-ea"/>
                <a:cs typeface="+mn-cs"/>
              </a:rPr>
              <a:t> One of the cross-cutting concerns we'll touch on is assigning each agent a model matching its task complexity — not every agent needs GPT-4o. But the bigger cost optimization is this slide: not every problem needs multiple agents. The cheapest agent call is the one you don't make.</a:t>
            </a:r>
          </a:p>
          <a:p>
            <a:r>
              <a:rPr lang="en-US" sz="1200" b="1" i="0" kern="1200" dirty="0">
                <a:solidFill>
                  <a:schemeClr val="tx1"/>
                </a:solidFill>
                <a:effectLst/>
                <a:latin typeface="+mn-lt"/>
                <a:ea typeface="+mn-ea"/>
                <a:cs typeface="+mn-cs"/>
              </a:rPr>
              <a:t>Transition to the patterns:</a:t>
            </a:r>
            <a:r>
              <a:rPr lang="en-US" sz="1200" b="0" i="0" kern="1200" dirty="0">
                <a:solidFill>
                  <a:schemeClr val="tx1"/>
                </a:solidFill>
                <a:effectLst/>
                <a:latin typeface="+mn-lt"/>
                <a:ea typeface="+mn-ea"/>
                <a:cs typeface="+mn-cs"/>
              </a:rPr>
              <a:t> With that framing in mind — and assuming your problem genuinely needs multi-agent orchestration — let's look at the five patterns Microsoft has standardized for how those agents work together. We'll start with the simplest: Sequential.</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3</a:t>
            </a:fld>
            <a:endParaRPr lang="en-US"/>
          </a:p>
        </p:txBody>
      </p:sp>
    </p:spTree>
    <p:extLst>
      <p:ext uri="{BB962C8B-B14F-4D97-AF65-F5344CB8AC3E}">
        <p14:creationId xmlns:p14="http://schemas.microsoft.com/office/powerpoint/2010/main" val="3477687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What it is:</a:t>
            </a:r>
            <a:r>
              <a:rPr lang="en-US" sz="1200" b="0" i="0" kern="1200" dirty="0">
                <a:solidFill>
                  <a:schemeClr val="tx1"/>
                </a:solidFill>
                <a:effectLst/>
                <a:latin typeface="+mn-lt"/>
                <a:ea typeface="+mn-ea"/>
                <a:cs typeface="+mn-cs"/>
              </a:rPr>
              <a:t> Sequential orchestration chains agents in a predefined, linear order — each agent processes the output from the previous agent, creating a pipeline of specialized transformations. The next agent is deterministically defined, so there's no ambiguity in the flow.</a:t>
            </a:r>
          </a:p>
          <a:p>
            <a:r>
              <a:rPr lang="en-US" sz="1200" b="1" i="0" kern="1200" dirty="0">
                <a:solidFill>
                  <a:schemeClr val="tx1"/>
                </a:solidFill>
                <a:effectLst/>
                <a:latin typeface="+mn-lt"/>
                <a:ea typeface="+mn-ea"/>
                <a:cs typeface="+mn-cs"/>
              </a:rPr>
              <a:t>Also known as:</a:t>
            </a:r>
            <a:r>
              <a:rPr lang="en-US" sz="1200" b="0" i="0" kern="1200" dirty="0">
                <a:solidFill>
                  <a:schemeClr val="tx1"/>
                </a:solidFill>
                <a:effectLst/>
                <a:latin typeface="+mn-lt"/>
                <a:ea typeface="+mn-ea"/>
                <a:cs typeface="+mn-cs"/>
              </a:rPr>
              <a:t> Pipeline, Prompt Chaining, or Linear Delegation — your audience may have encountered it under different names depending on the framework they've used.</a:t>
            </a:r>
          </a:p>
          <a:p>
            <a:r>
              <a:rPr lang="en-US" sz="1200" b="1" i="0" kern="1200" dirty="0">
                <a:solidFill>
                  <a:schemeClr val="tx1"/>
                </a:solidFill>
                <a:effectLst/>
                <a:latin typeface="+mn-lt"/>
                <a:ea typeface="+mn-ea"/>
                <a:cs typeface="+mn-cs"/>
              </a:rPr>
              <a:t>When to use it:</a:t>
            </a:r>
            <a:r>
              <a:rPr lang="en-US" sz="1200" b="0" i="0" kern="1200" dirty="0">
                <a:solidFill>
                  <a:schemeClr val="tx1"/>
                </a:solidFill>
                <a:effectLst/>
                <a:latin typeface="+mn-lt"/>
                <a:ea typeface="+mn-ea"/>
                <a:cs typeface="+mn-cs"/>
              </a:rPr>
              <a:t> This pattern is ideal for multistage processes with clear linear dependencies — think progressive refinement workflows where output is drafted, reviewed, then polished. If each step depends on the previous one completing, sequential is the right fit.</a:t>
            </a:r>
          </a:p>
          <a:p>
            <a:r>
              <a:rPr lang="en-US" sz="1200" b="1" i="0" kern="1200" dirty="0">
                <a:solidFill>
                  <a:schemeClr val="tx1"/>
                </a:solidFill>
                <a:effectLst/>
                <a:latin typeface="+mn-lt"/>
                <a:ea typeface="+mn-ea"/>
                <a:cs typeface="+mn-cs"/>
              </a:rPr>
              <a:t>When to avoid it:</a:t>
            </a:r>
            <a:r>
              <a:rPr lang="en-US" sz="1200" b="0" i="0" kern="1200" dirty="0">
                <a:solidFill>
                  <a:schemeClr val="tx1"/>
                </a:solidFill>
                <a:effectLst/>
                <a:latin typeface="+mn-lt"/>
                <a:ea typeface="+mn-ea"/>
                <a:cs typeface="+mn-cs"/>
              </a:rPr>
              <a:t> If stages can run independently (embarrassingly parallel), you're adding unnecessary latency by serializing them. Also avoid if the workflow needs backtracking or dynamic routing — sequential has no built-in mechanism for that.</a:t>
            </a:r>
          </a:p>
          <a:p>
            <a:r>
              <a:rPr lang="en-US" sz="1200" b="1" i="0" kern="1200" dirty="0">
                <a:solidFill>
                  <a:schemeClr val="tx1"/>
                </a:solidFill>
                <a:effectLst/>
                <a:latin typeface="+mn-lt"/>
                <a:ea typeface="+mn-ea"/>
                <a:cs typeface="+mn-cs"/>
              </a:rPr>
              <a:t>Walking through the example:</a:t>
            </a:r>
            <a:r>
              <a:rPr lang="en-US" sz="1200" b="0" i="0" kern="1200" dirty="0">
                <a:solidFill>
                  <a:schemeClr val="tx1"/>
                </a:solidFill>
                <a:effectLst/>
                <a:latin typeface="+mn-lt"/>
                <a:ea typeface="+mn-ea"/>
                <a:cs typeface="+mn-cs"/>
              </a:rPr>
              <a:t> The contract generation pipeline illustrates this well — Template Selection picks the right starting document, Clause Customization tailors it to the deal, Regulatory Compliance checks legal requirements, and Risk Assessment flags exposure. Each stage enriches the artifact from the previous one.</a:t>
            </a:r>
          </a:p>
          <a:p>
            <a:r>
              <a:rPr lang="en-US" sz="1200" b="1" i="0" kern="1200" dirty="0">
                <a:solidFill>
                  <a:schemeClr val="tx1"/>
                </a:solidFill>
                <a:effectLst/>
                <a:latin typeface="+mn-lt"/>
                <a:ea typeface="+mn-ea"/>
                <a:cs typeface="+mn-cs"/>
              </a:rPr>
              <a:t>Benefits — simplicity is the key advantage:</a:t>
            </a:r>
            <a:r>
              <a:rPr lang="en-US" sz="1200" b="0" i="0" kern="1200" dirty="0">
                <a:solidFill>
                  <a:schemeClr val="tx1"/>
                </a:solidFill>
                <a:effectLst/>
                <a:latin typeface="+mn-lt"/>
                <a:ea typeface="+mn-ea"/>
                <a:cs typeface="+mn-cs"/>
              </a:rPr>
              <a:t> The flow is simple, predictable, and easy to debug. When something goes wrong, you know exactly which stage failed and what its input was. Data lineage is clear — you can trace every transformation.</a:t>
            </a:r>
          </a:p>
          <a:p>
            <a:r>
              <a:rPr lang="en-US" sz="1200" b="1" i="0" kern="1200" dirty="0">
                <a:solidFill>
                  <a:schemeClr val="tx1"/>
                </a:solidFill>
                <a:effectLst/>
                <a:latin typeface="+mn-lt"/>
                <a:ea typeface="+mn-ea"/>
                <a:cs typeface="+mn-cs"/>
              </a:rPr>
              <a:t>Trade-offs to call out:</a:t>
            </a:r>
            <a:r>
              <a:rPr lang="en-US" sz="1200" b="0" i="0" kern="1200" dirty="0">
                <a:solidFill>
                  <a:schemeClr val="tx1"/>
                </a:solidFill>
                <a:effectLst/>
                <a:latin typeface="+mn-lt"/>
                <a:ea typeface="+mn-ea"/>
                <a:cs typeface="+mn-cs"/>
              </a:rPr>
              <a:t> Zero parallelism means latency adds up linearly — a 4-agent pipeline takes 4x a single agent call. A failure in any stage cascades downstream — there's no partial success. And all stages must be known at design time, so it's not adaptable to dynamic requirements.</a:t>
            </a:r>
          </a:p>
          <a:p>
            <a:r>
              <a:rPr lang="en-US" sz="1200" b="1" i="0" kern="1200" dirty="0">
                <a:solidFill>
                  <a:schemeClr val="tx1"/>
                </a:solidFill>
                <a:effectLst/>
                <a:latin typeface="+mn-lt"/>
                <a:ea typeface="+mn-ea"/>
                <a:cs typeface="+mn-cs"/>
              </a:rPr>
              <a:t>Implementation options:</a:t>
            </a:r>
            <a:r>
              <a:rPr lang="en-US" sz="1200" b="0" i="0" kern="1200" dirty="0">
                <a:solidFill>
                  <a:schemeClr val="tx1"/>
                </a:solidFill>
                <a:effectLst/>
                <a:latin typeface="+mn-lt"/>
                <a:ea typeface="+mn-ea"/>
                <a:cs typeface="+mn-cs"/>
              </a:rPr>
              <a:t> In Semantic Kernel, this maps to </a:t>
            </a:r>
            <a:r>
              <a:rPr lang="en-US" sz="1200" b="0" i="0" kern="1200" dirty="0" err="1">
                <a:solidFill>
                  <a:schemeClr val="tx1"/>
                </a:solidFill>
                <a:effectLst/>
                <a:latin typeface="+mn-lt"/>
                <a:ea typeface="+mn-ea"/>
                <a:cs typeface="+mn-cs"/>
              </a:rPr>
              <a:t>SequentialOrchestration</a:t>
            </a:r>
            <a:r>
              <a:rPr lang="en-US" sz="1200" b="0" i="0" kern="1200" dirty="0">
                <a:solidFill>
                  <a:schemeClr val="tx1"/>
                </a:solidFill>
                <a:effectLst/>
                <a:latin typeface="+mn-lt"/>
                <a:ea typeface="+mn-ea"/>
                <a:cs typeface="+mn-cs"/>
              </a:rPr>
              <a:t>. In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/Agent Framework, you can use </a:t>
            </a:r>
            <a:r>
              <a:rPr lang="en-US" sz="1200" b="0" i="0" kern="1200" dirty="0" err="1">
                <a:solidFill>
                  <a:schemeClr val="tx1"/>
                </a:solidFill>
                <a:effectLst/>
                <a:latin typeface="+mn-lt"/>
                <a:ea typeface="+mn-ea"/>
                <a:cs typeface="+mn-cs"/>
              </a:rPr>
              <a:t>RoundRobinGroupChat</a:t>
            </a:r>
            <a:r>
              <a:rPr lang="en-US" sz="1200" b="0" i="0" kern="1200" dirty="0">
                <a:solidFill>
                  <a:schemeClr val="tx1"/>
                </a:solidFill>
                <a:effectLst/>
                <a:latin typeface="+mn-lt"/>
                <a:ea typeface="+mn-ea"/>
                <a:cs typeface="+mn-cs"/>
              </a:rPr>
              <a:t> or </a:t>
            </a:r>
            <a:r>
              <a:rPr lang="en-US" sz="1200" b="0" i="0" kern="1200" dirty="0" err="1">
                <a:solidFill>
                  <a:schemeClr val="tx1"/>
                </a:solidFill>
                <a:effectLst/>
                <a:latin typeface="+mn-lt"/>
                <a:ea typeface="+mn-ea"/>
                <a:cs typeface="+mn-cs"/>
              </a:rPr>
              <a:t>GraphFlow</a:t>
            </a:r>
            <a:r>
              <a:rPr lang="en-US" sz="1200" b="0" i="0" kern="1200" dirty="0">
                <a:solidFill>
                  <a:schemeClr val="tx1"/>
                </a:solidFill>
                <a:effectLst/>
                <a:latin typeface="+mn-lt"/>
                <a:ea typeface="+mn-ea"/>
                <a:cs typeface="+mn-cs"/>
              </a:rPr>
              <a:t> with sequential edges.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implements it simply through graph edges. All three frameworks on Azure AI Foundry support this pattern natively.</a:t>
            </a:r>
          </a:p>
          <a:p>
            <a:r>
              <a:rPr lang="en-US" sz="1200" b="1" i="0" kern="1200" dirty="0">
                <a:solidFill>
                  <a:schemeClr val="tx1"/>
                </a:solidFill>
                <a:effectLst/>
                <a:latin typeface="+mn-lt"/>
                <a:ea typeface="+mn-ea"/>
                <a:cs typeface="+mn-cs"/>
              </a:rPr>
              <a:t>This is your "start here" pattern:</a:t>
            </a:r>
            <a:r>
              <a:rPr lang="en-US" sz="1200" b="0" i="0" kern="1200" dirty="0">
                <a:solidFill>
                  <a:schemeClr val="tx1"/>
                </a:solidFill>
                <a:effectLst/>
                <a:latin typeface="+mn-lt"/>
                <a:ea typeface="+mn-ea"/>
                <a:cs typeface="+mn-cs"/>
              </a:rPr>
              <a:t> Microsoft's guidance recommends starting with the lowest complexity that works. Sequential is the simplest multi-agent pattern — if your workflow fits a linear pipeline, don't over-engineer it with handoffs or group chat.</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4</a:t>
            </a:fld>
            <a:endParaRPr lang="en-US"/>
          </a:p>
        </p:txBody>
      </p:sp>
    </p:spTree>
    <p:extLst>
      <p:ext uri="{BB962C8B-B14F-4D97-AF65-F5344CB8AC3E}">
        <p14:creationId xmlns:p14="http://schemas.microsoft.com/office/powerpoint/2010/main" val="1040257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Concurrent Orchestration</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What it is:</a:t>
            </a:r>
            <a:r>
              <a:rPr lang="en-US" sz="1200" b="0" i="0" kern="1200" dirty="0">
                <a:solidFill>
                  <a:schemeClr val="tx1"/>
                </a:solidFill>
                <a:effectLst/>
                <a:latin typeface="+mn-lt"/>
                <a:ea typeface="+mn-ea"/>
                <a:cs typeface="+mn-cs"/>
              </a:rPr>
              <a:t> Concurrent orchestration — also called Parallel, Scatter-Gather, or Map-Reduce — runs multiple agents simultaneously on the same task. An Initiator dispatches the work, each agent provides independent analysis from its own specialization, and the results are aggregated into a single output.</a:t>
            </a:r>
          </a:p>
          <a:p>
            <a:r>
              <a:rPr lang="en-US" sz="1200" b="1" i="0" kern="1200" dirty="0">
                <a:solidFill>
                  <a:schemeClr val="tx1"/>
                </a:solidFill>
                <a:effectLst/>
                <a:latin typeface="+mn-lt"/>
                <a:ea typeface="+mn-ea"/>
                <a:cs typeface="+mn-cs"/>
              </a:rPr>
              <a:t>Key structural difference from Sequential:</a:t>
            </a:r>
            <a:r>
              <a:rPr lang="en-US" sz="1200" b="0" i="0" kern="1200" dirty="0">
                <a:solidFill>
                  <a:schemeClr val="tx1"/>
                </a:solidFill>
                <a:effectLst/>
                <a:latin typeface="+mn-lt"/>
                <a:ea typeface="+mn-ea"/>
                <a:cs typeface="+mn-cs"/>
              </a:rPr>
              <a:t> Where Sequential is a pipeline — one agent at a time, each building on the last — Concurrent fans out to all agents at once. The agents don't see each other's work. They operate independently and in isolation, which is both the strength and the limitation.</a:t>
            </a:r>
          </a:p>
          <a:p>
            <a:r>
              <a:rPr lang="en-US" sz="1200" b="1" i="0" kern="1200" dirty="0">
                <a:solidFill>
                  <a:schemeClr val="tx1"/>
                </a:solidFill>
                <a:effectLst/>
                <a:latin typeface="+mn-lt"/>
                <a:ea typeface="+mn-ea"/>
                <a:cs typeface="+mn-cs"/>
              </a:rPr>
              <a:t>Walking through the example:</a:t>
            </a:r>
            <a:r>
              <a:rPr lang="en-US" sz="1200" b="0" i="0" kern="1200" dirty="0">
                <a:solidFill>
                  <a:schemeClr val="tx1"/>
                </a:solidFill>
                <a:effectLst/>
                <a:latin typeface="+mn-lt"/>
                <a:ea typeface="+mn-ea"/>
                <a:cs typeface="+mn-cs"/>
              </a:rPr>
              <a:t> In the stock analysis scenario, four specialized agents run in parallel — Fundamental Analysis looks at financials and valuation, Technical Analysis examines price patterns and indicators, Sentiment Analysis scans news and social media, and ESG Analysis evaluates environmental and governance factors. None of them need input from the others, so they run simultaneously and their outputs are merged into a Combined Recommendation.</a:t>
            </a:r>
          </a:p>
          <a:p>
            <a:r>
              <a:rPr lang="en-US" sz="1200" b="1" i="0" kern="1200" dirty="0">
                <a:solidFill>
                  <a:schemeClr val="tx1"/>
                </a:solidFill>
                <a:effectLst/>
                <a:latin typeface="+mn-lt"/>
                <a:ea typeface="+mn-ea"/>
                <a:cs typeface="+mn-cs"/>
              </a:rPr>
              <a:t>When to use it:</a:t>
            </a:r>
            <a:r>
              <a:rPr lang="en-US" sz="1200" b="0" i="0" kern="1200" dirty="0">
                <a:solidFill>
                  <a:schemeClr val="tx1"/>
                </a:solidFill>
                <a:effectLst/>
                <a:latin typeface="+mn-lt"/>
                <a:ea typeface="+mn-ea"/>
                <a:cs typeface="+mn-cs"/>
              </a:rPr>
              <a:t> This pattern shines when tasks are naturally parallelizable, when you want multi-perspective analysis on the same input, for voting or ensemble decisions where diverse viewpoints improve accuracy, and in time-sensitive scenarios where you can't afford to serialize agent calls.</a:t>
            </a:r>
          </a:p>
          <a:p>
            <a:r>
              <a:rPr lang="en-US" sz="1200" b="1" i="0" kern="1200" dirty="0">
                <a:solidFill>
                  <a:schemeClr val="tx1"/>
                </a:solidFill>
                <a:effectLst/>
                <a:latin typeface="+mn-lt"/>
                <a:ea typeface="+mn-ea"/>
                <a:cs typeface="+mn-cs"/>
              </a:rPr>
              <a:t>When to avoid it:</a:t>
            </a:r>
            <a:r>
              <a:rPr lang="en-US" sz="1200" b="0" i="0" kern="1200" dirty="0">
                <a:solidFill>
                  <a:schemeClr val="tx1"/>
                </a:solidFill>
                <a:effectLst/>
                <a:latin typeface="+mn-lt"/>
                <a:ea typeface="+mn-ea"/>
                <a:cs typeface="+mn-cs"/>
              </a:rPr>
              <a:t> If agents need cumulative context — where Agent 2 needs Agent 1's output to do its job — you need Sequential, not Concurrent. Also avoid if you don't have a clear conflict resolution strategy for when agents disagree, or if resource constraints make multiple simultaneous LLM calls prohibitive.</a:t>
            </a:r>
          </a:p>
          <a:p>
            <a:r>
              <a:rPr lang="en-US" sz="1200" b="1" i="0" kern="1200" dirty="0">
                <a:solidFill>
                  <a:schemeClr val="tx1"/>
                </a:solidFill>
                <a:effectLst/>
                <a:latin typeface="+mn-lt"/>
                <a:ea typeface="+mn-ea"/>
                <a:cs typeface="+mn-cs"/>
              </a:rPr>
              <a:t>Benefits — speed and diversity:</a:t>
            </a:r>
            <a:r>
              <a:rPr lang="en-US" sz="1200" b="0" i="0" kern="1200" dirty="0">
                <a:solidFill>
                  <a:schemeClr val="tx1"/>
                </a:solidFill>
                <a:effectLst/>
                <a:latin typeface="+mn-lt"/>
                <a:ea typeface="+mn-ea"/>
                <a:cs typeface="+mn-cs"/>
              </a:rPr>
              <a:t> The biggest win is reduced latency — four agents running in parallel take roughly the same wall-clock time as one. You also get diverse perspectives, which is a natural fit for ensemble-style decisions. If three out of four agents agree, you have high confidence in the result.</a:t>
            </a:r>
          </a:p>
          <a:p>
            <a:r>
              <a:rPr lang="en-US" sz="1200" b="1" i="0" kern="1200" dirty="0">
                <a:solidFill>
                  <a:schemeClr val="tx1"/>
                </a:solidFill>
                <a:effectLst/>
                <a:latin typeface="+mn-lt"/>
                <a:ea typeface="+mn-ea"/>
                <a:cs typeface="+mn-cs"/>
              </a:rPr>
              <a:t>Trade-offs to acknowledge:</a:t>
            </a:r>
            <a:r>
              <a:rPr lang="en-US" sz="1200" b="0" i="0" kern="1200" dirty="0">
                <a:solidFill>
                  <a:schemeClr val="tx1"/>
                </a:solidFill>
                <a:effectLst/>
                <a:latin typeface="+mn-lt"/>
                <a:ea typeface="+mn-ea"/>
                <a:cs typeface="+mn-cs"/>
              </a:rPr>
              <a:t> It's resource-intensive — you're making multiple LLM calls simultaneously, which means higher token costs and compute load. You need a deliberate conflict resolution strategy for when agents return contradictory results. And there's no context sharing between concurrent agents — they can't build on each other's reasoning.</a:t>
            </a:r>
          </a:p>
          <a:p>
            <a:r>
              <a:rPr lang="en-US" sz="1200" b="1" i="0" kern="1200" dirty="0">
                <a:solidFill>
                  <a:schemeClr val="tx1"/>
                </a:solidFill>
                <a:effectLst/>
                <a:latin typeface="+mn-lt"/>
                <a:ea typeface="+mn-ea"/>
                <a:cs typeface="+mn-cs"/>
              </a:rPr>
              <a:t>Implementation options:</a:t>
            </a:r>
            <a:r>
              <a:rPr lang="en-US" sz="1200" b="0" i="0" kern="1200" dirty="0">
                <a:solidFill>
                  <a:schemeClr val="tx1"/>
                </a:solidFill>
                <a:effectLst/>
                <a:latin typeface="+mn-lt"/>
                <a:ea typeface="+mn-ea"/>
                <a:cs typeface="+mn-cs"/>
              </a:rPr>
              <a:t> Semantic Kernel provides </a:t>
            </a:r>
            <a:r>
              <a:rPr lang="en-US" sz="1200" b="0" i="0" kern="1200" dirty="0" err="1">
                <a:solidFill>
                  <a:schemeClr val="tx1"/>
                </a:solidFill>
                <a:effectLst/>
                <a:latin typeface="+mn-lt"/>
                <a:ea typeface="+mn-ea"/>
                <a:cs typeface="+mn-cs"/>
              </a:rPr>
              <a:t>ConcurrentOrchestration</a:t>
            </a:r>
            <a:r>
              <a:rPr lang="en-US" sz="1200" b="0" i="0" kern="1200" dirty="0">
                <a:solidFill>
                  <a:schemeClr val="tx1"/>
                </a:solidFill>
                <a:effectLst/>
                <a:latin typeface="+mn-lt"/>
                <a:ea typeface="+mn-ea"/>
                <a:cs typeface="+mn-cs"/>
              </a:rPr>
              <a:t> as a built-in class. In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you use the Send() API for fan-out.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supports this partially, and the new Agent Framework's Workflow API handles it with fan-out/fan-in edges and barrier synchronization. In Azure Functions Durable Agents, this maps to </a:t>
            </a:r>
            <a:r>
              <a:rPr lang="en-US" sz="1200" b="0" i="0" kern="1200" dirty="0" err="1">
                <a:solidFill>
                  <a:schemeClr val="tx1"/>
                </a:solidFill>
                <a:effectLst/>
                <a:latin typeface="+mn-lt"/>
                <a:ea typeface="+mn-ea"/>
                <a:cs typeface="+mn-cs"/>
              </a:rPr>
              <a:t>Task.WhenAll</a:t>
            </a:r>
            <a:r>
              <a:rPr lang="en-US" sz="1200" b="0" i="0" kern="1200" dirty="0">
                <a:solidFill>
                  <a:schemeClr val="tx1"/>
                </a:solidFill>
                <a:effectLst/>
                <a:latin typeface="+mn-lt"/>
                <a:ea typeface="+mn-ea"/>
                <a:cs typeface="+mn-cs"/>
              </a:rPr>
              <a:t>() for parallel execution with automatic checkpointing.</a:t>
            </a:r>
          </a:p>
          <a:p>
            <a:r>
              <a:rPr lang="en-US" sz="1200" b="1" i="0" kern="1200" dirty="0">
                <a:solidFill>
                  <a:schemeClr val="tx1"/>
                </a:solidFill>
                <a:effectLst/>
                <a:latin typeface="+mn-lt"/>
                <a:ea typeface="+mn-ea"/>
                <a:cs typeface="+mn-cs"/>
              </a:rPr>
              <a:t>Contrast with the previous slide:</a:t>
            </a:r>
            <a:r>
              <a:rPr lang="en-US" sz="1200" b="0" i="0" kern="1200" dirty="0">
                <a:solidFill>
                  <a:schemeClr val="tx1"/>
                </a:solidFill>
                <a:effectLst/>
                <a:latin typeface="+mn-lt"/>
                <a:ea typeface="+mn-ea"/>
                <a:cs typeface="+mn-cs"/>
              </a:rPr>
              <a:t> Sequential is about progressive refinement — each stage enriches the artifact. Concurrent is about independent analysis — each agent contributes a separate perspective. The decision between them is simple: do the agents need each other's output? If yes, Sequential. If no, Concurrent.</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5</a:t>
            </a:fld>
            <a:endParaRPr lang="en-US"/>
          </a:p>
        </p:txBody>
      </p:sp>
    </p:spTree>
    <p:extLst>
      <p:ext uri="{BB962C8B-B14F-4D97-AF65-F5344CB8AC3E}">
        <p14:creationId xmlns:p14="http://schemas.microsoft.com/office/powerpoint/2010/main" val="2321548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Handoff Orchestration</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What it is:</a:t>
            </a:r>
            <a:r>
              <a:rPr lang="en-US" sz="1200" b="0" i="0" kern="1200" dirty="0">
                <a:solidFill>
                  <a:schemeClr val="tx1"/>
                </a:solidFill>
                <a:effectLst/>
                <a:latin typeface="+mn-lt"/>
                <a:ea typeface="+mn-ea"/>
                <a:cs typeface="+mn-cs"/>
              </a:rPr>
              <a:t> Handoff orchestration enables dynamic delegation between specialized agents. A Triage Agent receives the input, assesses the task, and decides which specialist should handle it. Each specialist can also decide to transfer to another agent if the problem shifts domain — or escalate to a human. Only one agent is active at any given time.</a:t>
            </a:r>
          </a:p>
          <a:p>
            <a:r>
              <a:rPr lang="en-US" sz="1200" b="1" i="0" kern="1200" dirty="0">
                <a:solidFill>
                  <a:schemeClr val="tx1"/>
                </a:solidFill>
                <a:effectLst/>
                <a:latin typeface="+mn-lt"/>
                <a:ea typeface="+mn-ea"/>
                <a:cs typeface="+mn-cs"/>
              </a:rPr>
              <a:t>Also known as:</a:t>
            </a:r>
            <a:r>
              <a:rPr lang="en-US" sz="1200" b="0" i="0" kern="1200" dirty="0">
                <a:solidFill>
                  <a:schemeClr val="tx1"/>
                </a:solidFill>
                <a:effectLst/>
                <a:latin typeface="+mn-lt"/>
                <a:ea typeface="+mn-ea"/>
                <a:cs typeface="+mn-cs"/>
              </a:rPr>
              <a:t> Routing, Triage, Transfer, Dispatch, or Delegation. If you've built a customer support IVR or a help desk ticketing system, this is the AI-native version of that same pattern.</a:t>
            </a:r>
          </a:p>
          <a:p>
            <a:r>
              <a:rPr lang="en-US" sz="1200" b="1" i="0" kern="1200" dirty="0">
                <a:solidFill>
                  <a:schemeClr val="tx1"/>
                </a:solidFill>
                <a:effectLst/>
                <a:latin typeface="+mn-lt"/>
                <a:ea typeface="+mn-ea"/>
                <a:cs typeface="+mn-cs"/>
              </a:rPr>
              <a:t>The key differentiator — dynamic routing:</a:t>
            </a:r>
            <a:r>
              <a:rPr lang="en-US" sz="1200" b="0" i="0" kern="1200" dirty="0">
                <a:solidFill>
                  <a:schemeClr val="tx1"/>
                </a:solidFill>
                <a:effectLst/>
                <a:latin typeface="+mn-lt"/>
                <a:ea typeface="+mn-ea"/>
                <a:cs typeface="+mn-cs"/>
              </a:rPr>
              <a:t> Unlike Sequential (where the path is predetermined) or Concurrent (where everyone runs at once), Handoff lets the right specialist emerge during processing. The Triage Agent doesn't need to know the full solution path upfront — it just needs to identify the right first specialist. From there, each agent can re-route as the problem unfolds.</a:t>
            </a:r>
          </a:p>
          <a:p>
            <a:r>
              <a:rPr lang="en-US" sz="1200" b="1" i="0" kern="1200" dirty="0">
                <a:solidFill>
                  <a:schemeClr val="tx1"/>
                </a:solidFill>
                <a:effectLst/>
                <a:latin typeface="+mn-lt"/>
                <a:ea typeface="+mn-ea"/>
                <a:cs typeface="+mn-cs"/>
              </a:rPr>
              <a:t>Walking through the example:</a:t>
            </a:r>
            <a:r>
              <a:rPr lang="en-US" sz="1200" b="0" i="0" kern="1200" dirty="0">
                <a:solidFill>
                  <a:schemeClr val="tx1"/>
                </a:solidFill>
                <a:effectLst/>
                <a:latin typeface="+mn-lt"/>
                <a:ea typeface="+mn-ea"/>
                <a:cs typeface="+mn-cs"/>
              </a:rPr>
              <a:t> In the telecom support scenario, a customer calls in and the Triage Agent classifies the issue. A billing dispute goes to Financial Services. A connectivity problem goes to Technical Support. If Technical Support discovers the issue is actually a locked account, it hands off to Account Access. And if Account Access hits a policy exception it can't resolve, it escalates to a Human Employee. The routing path is discovered at runtime, not designed upfront.</a:t>
            </a:r>
          </a:p>
          <a:p>
            <a:r>
              <a:rPr lang="en-US" sz="1200" b="1" i="0" kern="1200" dirty="0">
                <a:solidFill>
                  <a:schemeClr val="tx1"/>
                </a:solidFill>
                <a:effectLst/>
                <a:latin typeface="+mn-lt"/>
                <a:ea typeface="+mn-ea"/>
                <a:cs typeface="+mn-cs"/>
              </a:rPr>
              <a:t>Human-in-the-loop is a natural fit:</a:t>
            </a:r>
            <a:r>
              <a:rPr lang="en-US" sz="1200" b="0" i="0" kern="1200" dirty="0">
                <a:solidFill>
                  <a:schemeClr val="tx1"/>
                </a:solidFill>
                <a:effectLst/>
                <a:latin typeface="+mn-lt"/>
                <a:ea typeface="+mn-ea"/>
                <a:cs typeface="+mn-cs"/>
              </a:rPr>
              <a:t> Notice the Human Employee node on the diagram — Handoff is the pattern that most naturally supports escalation to real people. This makes it ideal for enterprise scenarios where certain decisions require human judgment, compliance sign-off, or policy exceptions that AI agents shouldn't handle autonomously.</a:t>
            </a:r>
          </a:p>
          <a:p>
            <a:r>
              <a:rPr lang="en-US" sz="1200" b="1" i="0" kern="1200" dirty="0">
                <a:solidFill>
                  <a:schemeClr val="tx1"/>
                </a:solidFill>
                <a:effectLst/>
                <a:latin typeface="+mn-lt"/>
                <a:ea typeface="+mn-ea"/>
                <a:cs typeface="+mn-cs"/>
              </a:rPr>
              <a:t>When to use it:</a:t>
            </a:r>
            <a:r>
              <a:rPr lang="en-US" sz="1200" b="0" i="0" kern="1200" dirty="0">
                <a:solidFill>
                  <a:schemeClr val="tx1"/>
                </a:solidFill>
                <a:effectLst/>
                <a:latin typeface="+mn-lt"/>
                <a:ea typeface="+mn-ea"/>
                <a:cs typeface="+mn-cs"/>
              </a:rPr>
              <a:t> Best for situations where the right expertise emerges during processing — you can't know at the start which specialist you'll need. Customer support escalation is the canonical example. Also great for multi-domain problems where only one domain is relevant at a time, and for any workflow that needs a human escalation path.</a:t>
            </a:r>
          </a:p>
          <a:p>
            <a:r>
              <a:rPr lang="en-US" sz="1200" b="1" i="0" kern="1200" dirty="0">
                <a:solidFill>
                  <a:schemeClr val="tx1"/>
                </a:solidFill>
                <a:effectLst/>
                <a:latin typeface="+mn-lt"/>
                <a:ea typeface="+mn-ea"/>
                <a:cs typeface="+mn-cs"/>
              </a:rPr>
              <a:t>When to avoid it:</a:t>
            </a:r>
            <a:r>
              <a:rPr lang="en-US" sz="1200" b="0" i="0" kern="1200" dirty="0">
                <a:solidFill>
                  <a:schemeClr val="tx1"/>
                </a:solidFill>
                <a:effectLst/>
                <a:latin typeface="+mn-lt"/>
                <a:ea typeface="+mn-ea"/>
                <a:cs typeface="+mn-cs"/>
              </a:rPr>
              <a:t> If you can identify the appropriate agent from the initial input alone, a simple router or even a single agent with tools is simpler. Also avoid when multiple operations should run concurrently — Handoff is strictly one-agent-at-a-time. And critically, watch out for infinite handoff loops where Agent A transfers to Agent B, which transfers back to Agent A.</a:t>
            </a:r>
          </a:p>
          <a:p>
            <a:r>
              <a:rPr lang="en-US" sz="1200" b="1" i="0" kern="1200" dirty="0">
                <a:solidFill>
                  <a:schemeClr val="tx1"/>
                </a:solidFill>
                <a:effectLst/>
                <a:latin typeface="+mn-lt"/>
                <a:ea typeface="+mn-ea"/>
                <a:cs typeface="+mn-cs"/>
              </a:rPr>
              <a:t>Benefits to emphasize:</a:t>
            </a:r>
            <a:r>
              <a:rPr lang="en-US" sz="1200" b="0" i="0" kern="1200" dirty="0">
                <a:solidFill>
                  <a:schemeClr val="tx1"/>
                </a:solidFill>
                <a:effectLst/>
                <a:latin typeface="+mn-lt"/>
                <a:ea typeface="+mn-ea"/>
                <a:cs typeface="+mn-cs"/>
              </a:rPr>
              <a:t> Dynamic, context-aware routing means the system adapts to the actual problem rather than forcing it through a rigid pipeline. Deep specialization is possible because each agent only handles its domain. And the built-in escalation model means you can mix AI and human agents in the same workflow.</a:t>
            </a:r>
          </a:p>
          <a:p>
            <a:r>
              <a:rPr lang="en-US" sz="1200" b="1" i="0" kern="1200" dirty="0">
                <a:solidFill>
                  <a:schemeClr val="tx1"/>
                </a:solidFill>
                <a:effectLst/>
                <a:latin typeface="+mn-lt"/>
                <a:ea typeface="+mn-ea"/>
                <a:cs typeface="+mn-cs"/>
              </a:rPr>
              <a:t>Trade-offs to call out:</a:t>
            </a:r>
            <a:r>
              <a:rPr lang="en-US" sz="1200" b="0" i="0" kern="1200" dirty="0">
                <a:solidFill>
                  <a:schemeClr val="tx1"/>
                </a:solidFill>
                <a:effectLst/>
                <a:latin typeface="+mn-lt"/>
                <a:ea typeface="+mn-ea"/>
                <a:cs typeface="+mn-cs"/>
              </a:rPr>
              <a:t> The biggest risk is infinite handoff loops — you need explicit safeguards like max-handoff limits or loop detection. Routing paths are unpredictable, which makes debugging harder than Sequential. And because only one agent is active at a time, you don't get the latency benefits of Concurrent — the total time depends on how many handoffs occur.</a:t>
            </a:r>
          </a:p>
          <a:p>
            <a:r>
              <a:rPr lang="en-US" sz="1200" b="1" i="0" kern="1200" dirty="0">
                <a:solidFill>
                  <a:schemeClr val="tx1"/>
                </a:solidFill>
                <a:effectLst/>
                <a:latin typeface="+mn-lt"/>
                <a:ea typeface="+mn-ea"/>
                <a:cs typeface="+mn-cs"/>
              </a:rPr>
              <a:t>Implementation options:</a:t>
            </a:r>
            <a:r>
              <a:rPr lang="en-US" sz="1200" b="0" i="0" kern="1200" dirty="0">
                <a:solidFill>
                  <a:schemeClr val="tx1"/>
                </a:solidFill>
                <a:effectLst/>
                <a:latin typeface="+mn-lt"/>
                <a:ea typeface="+mn-ea"/>
                <a:cs typeface="+mn-cs"/>
              </a:rPr>
              <a:t> In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and the Agent Framework, this maps to the Swarm team type — agents decide when to transfer via tool-based handoff decisions. Semantic Kernel provides </a:t>
            </a:r>
            <a:r>
              <a:rPr lang="en-US" sz="1200" b="0" i="0" kern="1200" dirty="0" err="1">
                <a:solidFill>
                  <a:schemeClr val="tx1"/>
                </a:solidFill>
                <a:effectLst/>
                <a:latin typeface="+mn-lt"/>
                <a:ea typeface="+mn-ea"/>
                <a:cs typeface="+mn-cs"/>
              </a:rPr>
              <a:t>HandoffOrchestration</a:t>
            </a:r>
            <a:r>
              <a:rPr lang="en-US" sz="1200" b="0" i="0" kern="1200" dirty="0">
                <a:solidFill>
                  <a:schemeClr val="tx1"/>
                </a:solidFill>
                <a:effectLst/>
                <a:latin typeface="+mn-lt"/>
                <a:ea typeface="+mn-ea"/>
                <a:cs typeface="+mn-cs"/>
              </a:rPr>
              <a:t> as a built-in class.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implements it through conditional routing edges. The OpenAI Agents SDK also has native handoff support, making it one of the most broadly supported patterns across frameworks.</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6</a:t>
            </a:fld>
            <a:endParaRPr lang="en-US"/>
          </a:p>
        </p:txBody>
      </p:sp>
    </p:spTree>
    <p:extLst>
      <p:ext uri="{BB962C8B-B14F-4D97-AF65-F5344CB8AC3E}">
        <p14:creationId xmlns:p14="http://schemas.microsoft.com/office/powerpoint/2010/main" val="833238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Group Chat Orchestration</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What it is:</a:t>
            </a:r>
            <a:r>
              <a:rPr lang="en-US" sz="1200" b="0" i="0" kern="1200" dirty="0">
                <a:solidFill>
                  <a:schemeClr val="tx1"/>
                </a:solidFill>
                <a:effectLst/>
                <a:latin typeface="+mn-lt"/>
                <a:ea typeface="+mn-ea"/>
                <a:cs typeface="+mn-cs"/>
              </a:rPr>
              <a:t> Group Chat orchestration has multiple agents collaborating through a shared conversation thread — like a roundtable discussion. A Chat Manager (itself an LLM) coordinates who speaks when, and all agents contribute to a single accumulating thread. Unlike the previous patterns, agents here can see and respond to each other's reasoning.</a:t>
            </a:r>
          </a:p>
          <a:p>
            <a:r>
              <a:rPr lang="en-US" sz="1200" b="1" i="0" kern="1200" dirty="0">
                <a:solidFill>
                  <a:schemeClr val="tx1"/>
                </a:solidFill>
                <a:effectLst/>
                <a:latin typeface="+mn-lt"/>
                <a:ea typeface="+mn-ea"/>
                <a:cs typeface="+mn-cs"/>
              </a:rPr>
              <a:t>Also known as:</a:t>
            </a:r>
            <a:r>
              <a:rPr lang="en-US" sz="1200" b="0" i="0" kern="1200" dirty="0">
                <a:solidFill>
                  <a:schemeClr val="tx1"/>
                </a:solidFill>
                <a:effectLst/>
                <a:latin typeface="+mn-lt"/>
                <a:ea typeface="+mn-ea"/>
                <a:cs typeface="+mn-cs"/>
              </a:rPr>
              <a:t> Roundtable, Collaborative, Multi-Agent Debate, or Council. The metaphor is a room full of experts having a structured discussion, with a moderator keeping the conversation on track.</a:t>
            </a:r>
          </a:p>
          <a:p>
            <a:r>
              <a:rPr lang="en-US" sz="1200" b="1" i="0" kern="1200" dirty="0">
                <a:solidFill>
                  <a:schemeClr val="tx1"/>
                </a:solidFill>
                <a:effectLst/>
                <a:latin typeface="+mn-lt"/>
                <a:ea typeface="+mn-ea"/>
                <a:cs typeface="+mn-cs"/>
              </a:rPr>
              <a:t>How the diagram works:</a:t>
            </a:r>
            <a:r>
              <a:rPr lang="en-US" sz="1200" b="0" i="0" kern="1200" dirty="0">
                <a:solidFill>
                  <a:schemeClr val="tx1"/>
                </a:solidFill>
                <a:effectLst/>
                <a:latin typeface="+mn-lt"/>
                <a:ea typeface="+mn-ea"/>
                <a:cs typeface="+mn-cs"/>
              </a:rPr>
              <a:t> On the left, you see the three participating agents — Environmental, Community, and Budget. Each contributes messages into the shared Accumulating Chat Thread on the right. The Chat Manager at the top is an LLM that decides turn order — which agent speaks next based on the current state of the conversation. The thread grows as agents respond to each other, eventually converging on a Consensus Result.</a:t>
            </a:r>
          </a:p>
          <a:p>
            <a:r>
              <a:rPr lang="en-US" sz="1200" b="1" i="0" kern="1200" dirty="0">
                <a:solidFill>
                  <a:schemeClr val="tx1"/>
                </a:solidFill>
                <a:effectLst/>
                <a:latin typeface="+mn-lt"/>
                <a:ea typeface="+mn-ea"/>
                <a:cs typeface="+mn-cs"/>
              </a:rPr>
              <a:t>Walking through the example:</a:t>
            </a:r>
            <a:r>
              <a:rPr lang="en-US" sz="1200" b="0" i="0" kern="1200" dirty="0">
                <a:solidFill>
                  <a:schemeClr val="tx1"/>
                </a:solidFill>
                <a:effectLst/>
                <a:latin typeface="+mn-lt"/>
                <a:ea typeface="+mn-ea"/>
                <a:cs typeface="+mn-cs"/>
              </a:rPr>
              <a:t> The city parks proposal is a perfect illustration. The Environmental Agent raises habitat concerns, the Community Agent advocates for green space, and the Budget Agent flags the $2.4M cost estimate. Then Environmental responds with mitigation strategies — it's reacting to the concerns raised by the other agents. This back-and-forth is what makes Group Chat unique — agents refine their positions based on the ongoing debate.</a:t>
            </a:r>
          </a:p>
          <a:p>
            <a:r>
              <a:rPr lang="en-US" sz="1200" b="1" i="0" kern="1200" dirty="0">
                <a:solidFill>
                  <a:schemeClr val="tx1"/>
                </a:solidFill>
                <a:effectLst/>
                <a:latin typeface="+mn-lt"/>
                <a:ea typeface="+mn-ea"/>
                <a:cs typeface="+mn-cs"/>
              </a:rPr>
              <a:t>The Maker-Checker sub-pattern:</a:t>
            </a:r>
            <a:r>
              <a:rPr lang="en-US" sz="1200" b="0" i="0" kern="1200" dirty="0">
                <a:solidFill>
                  <a:schemeClr val="tx1"/>
                </a:solidFill>
                <a:effectLst/>
                <a:latin typeface="+mn-lt"/>
                <a:ea typeface="+mn-ea"/>
                <a:cs typeface="+mn-cs"/>
              </a:rPr>
              <a:t> A powerful variant worth calling out is the Maker-Checker loop — one agent creates output, another evaluates it, and they iterate until the checker approves. This is essentially code review, editorial review, or compliance validation as a two-agent group chat. It's one of the most practical applications of this pattern.</a:t>
            </a:r>
          </a:p>
          <a:p>
            <a:r>
              <a:rPr lang="en-US" sz="1200" b="1" i="0" kern="1200" dirty="0">
                <a:solidFill>
                  <a:schemeClr val="tx1"/>
                </a:solidFill>
                <a:effectLst/>
                <a:latin typeface="+mn-lt"/>
                <a:ea typeface="+mn-ea"/>
                <a:cs typeface="+mn-cs"/>
              </a:rPr>
              <a:t>When to use it:</a:t>
            </a:r>
            <a:r>
              <a:rPr lang="en-US" sz="1200" b="0" i="0" kern="1200" dirty="0">
                <a:solidFill>
                  <a:schemeClr val="tx1"/>
                </a:solidFill>
                <a:effectLst/>
                <a:latin typeface="+mn-lt"/>
                <a:ea typeface="+mn-ea"/>
                <a:cs typeface="+mn-cs"/>
              </a:rPr>
              <a:t> Creative brainstorming where diverse perspectives need to interact, consensus-building where stakeholders must agree, iterative refinement like the Maker-Checker loop, quality assurance and compliance validation, and any scenario where agents need to respond to and build on each other's reasoning.</a:t>
            </a:r>
          </a:p>
          <a:p>
            <a:r>
              <a:rPr lang="en-US" sz="1200" b="1" i="0" kern="1200" dirty="0">
                <a:solidFill>
                  <a:schemeClr val="tx1"/>
                </a:solidFill>
                <a:effectLst/>
                <a:latin typeface="+mn-lt"/>
                <a:ea typeface="+mn-ea"/>
                <a:cs typeface="+mn-cs"/>
              </a:rPr>
              <a:t>When to avoid it:</a:t>
            </a:r>
            <a:r>
              <a:rPr lang="en-US" sz="1200" b="0" i="0" kern="1200" dirty="0">
                <a:solidFill>
                  <a:schemeClr val="tx1"/>
                </a:solidFill>
                <a:effectLst/>
                <a:latin typeface="+mn-lt"/>
                <a:ea typeface="+mn-ea"/>
                <a:cs typeface="+mn-cs"/>
              </a:rPr>
              <a:t> If a linear pipeline is sufficient — don't add the overhead of a conversation when simple chaining works. Avoid for real-time latency requirements since the multi-turn conversation adds significant time. And critically, Microsoft's guidance warns that control becomes difficult with more than about three agents — the conversation can become unfocused.</a:t>
            </a:r>
          </a:p>
          <a:p>
            <a:r>
              <a:rPr lang="en-US" sz="1200" b="1" i="0" kern="1200" dirty="0">
                <a:solidFill>
                  <a:schemeClr val="tx1"/>
                </a:solidFill>
                <a:effectLst/>
                <a:latin typeface="+mn-lt"/>
                <a:ea typeface="+mn-ea"/>
                <a:cs typeface="+mn-cs"/>
              </a:rPr>
              <a:t>Benefits to emphasize:</a:t>
            </a:r>
            <a:r>
              <a:rPr lang="en-US" sz="1200" b="0" i="0" kern="1200" dirty="0">
                <a:solidFill>
                  <a:schemeClr val="tx1"/>
                </a:solidFill>
                <a:effectLst/>
                <a:latin typeface="+mn-lt"/>
                <a:ea typeface="+mn-ea"/>
                <a:cs typeface="+mn-cs"/>
              </a:rPr>
              <a:t> Full transparency and auditability — every agent's reasoning is captured in the thread, so you can trace exactly how the group reached its conclusion. Natural support for human-in-the-loop — a human participant can join the conversation just like any other agent. And it's flexible — the same pattern supports brainstorming, formal debate, and structured review.</a:t>
            </a:r>
          </a:p>
          <a:p>
            <a:r>
              <a:rPr lang="en-US" sz="1200" b="1" i="0" kern="1200" dirty="0">
                <a:solidFill>
                  <a:schemeClr val="tx1"/>
                </a:solidFill>
                <a:effectLst/>
                <a:latin typeface="+mn-lt"/>
                <a:ea typeface="+mn-ea"/>
                <a:cs typeface="+mn-cs"/>
              </a:rPr>
              <a:t>Trade-offs to call out:</a:t>
            </a:r>
            <a:r>
              <a:rPr lang="en-US" sz="1200" b="0" i="0" kern="1200" dirty="0">
                <a:solidFill>
                  <a:schemeClr val="tx1"/>
                </a:solidFill>
                <a:effectLst/>
                <a:latin typeface="+mn-lt"/>
                <a:ea typeface="+mn-ea"/>
                <a:cs typeface="+mn-cs"/>
              </a:rPr>
              <a:t> Conversation loops are the biggest risk — agents can get stuck in circular debates. With more than three agents, it becomes hard to keep the discussion productive — the Chat Manager needs to be capable enough to moderate effectively. And every turn in the conversation is an LLM call, so chat overhead adds up in both latency and token cost.</a:t>
            </a:r>
          </a:p>
          <a:p>
            <a:r>
              <a:rPr lang="en-US" sz="1200" b="1" i="0" kern="1200" dirty="0">
                <a:solidFill>
                  <a:schemeClr val="tx1"/>
                </a:solidFill>
                <a:effectLst/>
                <a:latin typeface="+mn-lt"/>
                <a:ea typeface="+mn-ea"/>
                <a:cs typeface="+mn-cs"/>
              </a:rPr>
              <a:t>Implementation options:</a:t>
            </a:r>
            <a:r>
              <a:rPr lang="en-US" sz="1200" b="0" i="0" kern="1200" dirty="0">
                <a:solidFill>
                  <a:schemeClr val="tx1"/>
                </a:solidFill>
                <a:effectLst/>
                <a:latin typeface="+mn-lt"/>
                <a:ea typeface="+mn-ea"/>
                <a:cs typeface="+mn-cs"/>
              </a:rPr>
              <a:t> Semantic Kernel provides </a:t>
            </a:r>
            <a:r>
              <a:rPr lang="en-US" sz="1200" b="0" i="0" kern="1200" dirty="0" err="1">
                <a:solidFill>
                  <a:schemeClr val="tx1"/>
                </a:solidFill>
                <a:effectLst/>
                <a:latin typeface="+mn-lt"/>
                <a:ea typeface="+mn-ea"/>
                <a:cs typeface="+mn-cs"/>
              </a:rPr>
              <a:t>GroupChatOrchestration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offers multiple flavors — </a:t>
            </a:r>
            <a:r>
              <a:rPr lang="en-US" sz="1200" b="0" i="0" kern="1200" dirty="0" err="1">
                <a:solidFill>
                  <a:schemeClr val="tx1"/>
                </a:solidFill>
                <a:effectLst/>
                <a:latin typeface="+mn-lt"/>
                <a:ea typeface="+mn-ea"/>
                <a:cs typeface="+mn-cs"/>
              </a:rPr>
              <a:t>SelectorGroupChat</a:t>
            </a:r>
            <a:r>
              <a:rPr lang="en-US" sz="1200" b="0" i="0" kern="1200" dirty="0">
                <a:solidFill>
                  <a:schemeClr val="tx1"/>
                </a:solidFill>
                <a:effectLst/>
                <a:latin typeface="+mn-lt"/>
                <a:ea typeface="+mn-ea"/>
                <a:cs typeface="+mn-cs"/>
              </a:rPr>
              <a:t> where an LLM picks the next speaker, and </a:t>
            </a:r>
            <a:r>
              <a:rPr lang="en-US" sz="1200" b="0" i="0" kern="1200" dirty="0" err="1">
                <a:solidFill>
                  <a:schemeClr val="tx1"/>
                </a:solidFill>
                <a:effectLst/>
                <a:latin typeface="+mn-lt"/>
                <a:ea typeface="+mn-ea"/>
                <a:cs typeface="+mn-cs"/>
              </a:rPr>
              <a:t>RoundRobinGroupChat</a:t>
            </a:r>
            <a:r>
              <a:rPr lang="en-US" sz="1200" b="0" i="0" kern="1200" dirty="0">
                <a:solidFill>
                  <a:schemeClr val="tx1"/>
                </a:solidFill>
                <a:effectLst/>
                <a:latin typeface="+mn-lt"/>
                <a:ea typeface="+mn-ea"/>
                <a:cs typeface="+mn-cs"/>
              </a:rPr>
              <a:t> for fixed turn order. The Agent Framework supports this through the </a:t>
            </a:r>
            <a:r>
              <a:rPr lang="en-US" sz="1200" b="0" i="0" kern="1200" dirty="0" err="1">
                <a:solidFill>
                  <a:schemeClr val="tx1"/>
                </a:solidFill>
                <a:effectLst/>
                <a:latin typeface="+mn-lt"/>
                <a:ea typeface="+mn-ea"/>
                <a:cs typeface="+mn-cs"/>
              </a:rPr>
              <a:t>GroupChatBuilder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can implement it via shared state graphs. The Chat Manager is typically the most important design decision — it controls conversation quality.</a:t>
            </a:r>
          </a:p>
          <a:p>
            <a:r>
              <a:rPr lang="en-US" sz="1200" b="1" i="0" kern="1200" dirty="0">
                <a:solidFill>
                  <a:schemeClr val="tx1"/>
                </a:solidFill>
                <a:effectLst/>
                <a:latin typeface="+mn-lt"/>
                <a:ea typeface="+mn-ea"/>
                <a:cs typeface="+mn-cs"/>
              </a:rPr>
              <a:t>How it contrasts with the other patterns:</a:t>
            </a:r>
            <a:r>
              <a:rPr lang="en-US" sz="1200" b="0" i="0" kern="1200" dirty="0">
                <a:solidFill>
                  <a:schemeClr val="tx1"/>
                </a:solidFill>
                <a:effectLst/>
                <a:latin typeface="+mn-lt"/>
                <a:ea typeface="+mn-ea"/>
                <a:cs typeface="+mn-cs"/>
              </a:rPr>
              <a:t> Sequential chains agents but they don't see each other's work. Concurrent runs agents in parallel but they're isolated. Handoff transfers between agents one at a time. Group Chat is the only pattern where agents actively interact, debate, and refine each other's contributions. That makes it the most powerful for consensus-driven problems — but also the most expensive and hardest to control.</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7</a:t>
            </a:fld>
            <a:endParaRPr lang="en-US"/>
          </a:p>
        </p:txBody>
      </p:sp>
    </p:spTree>
    <p:extLst>
      <p:ext uri="{BB962C8B-B14F-4D97-AF65-F5344CB8AC3E}">
        <p14:creationId xmlns:p14="http://schemas.microsoft.com/office/powerpoint/2010/main" val="34056027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err="1">
                <a:solidFill>
                  <a:schemeClr val="tx1"/>
                </a:solidFill>
                <a:effectLst/>
                <a:latin typeface="+mn-lt"/>
                <a:ea typeface="+mn-ea"/>
                <a:cs typeface="+mn-cs"/>
              </a:rPr>
              <a:t>Magentic</a:t>
            </a:r>
            <a:r>
              <a:rPr lang="en-US" sz="1200" b="1" i="0" kern="1200" dirty="0">
                <a:solidFill>
                  <a:schemeClr val="tx1"/>
                </a:solidFill>
                <a:effectLst/>
                <a:latin typeface="+mn-lt"/>
                <a:ea typeface="+mn-ea"/>
                <a:cs typeface="+mn-cs"/>
              </a:rPr>
              <a:t> Orchestration</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What it is: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orchestration is designed for open-ended, complex problems where there is no predetermined solution path. A Manager Agent dynamically builds and maintains a Task &amp; Progress Ledger — essentially a living plan — and coordinates specialized agents to execute against it. After each step, the Manager evaluates progress toward the goal and replans if needed. This is the most autonomous and powerful of the five patterns.</a:t>
            </a:r>
          </a:p>
          <a:p>
            <a:r>
              <a:rPr lang="en-US" sz="1200" b="1" i="0" kern="1200" dirty="0">
                <a:solidFill>
                  <a:schemeClr val="tx1"/>
                </a:solidFill>
                <a:effectLst/>
                <a:latin typeface="+mn-lt"/>
                <a:ea typeface="+mn-ea"/>
                <a:cs typeface="+mn-cs"/>
              </a:rPr>
              <a:t>Origin story:</a:t>
            </a:r>
            <a:r>
              <a:rPr lang="en-US" sz="1200" b="0" i="0" kern="1200" dirty="0">
                <a:solidFill>
                  <a:schemeClr val="tx1"/>
                </a:solidFill>
                <a:effectLst/>
                <a:latin typeface="+mn-lt"/>
                <a:ea typeface="+mn-ea"/>
                <a:cs typeface="+mn-cs"/>
              </a:rPr>
              <a:t> This pattern is inspired by Microsoft Research's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-One system — a generalist multi-agent architecture designed to solve complex tasks that can't be decomposed into a fixed workflow upfront. Microsoft has since codified it as one of the five standard orchestration patterns in their Azure Architecture Center guidance.</a:t>
            </a:r>
          </a:p>
          <a:p>
            <a:r>
              <a:rPr lang="en-US" sz="1200" b="1" i="0" kern="1200" dirty="0">
                <a:solidFill>
                  <a:schemeClr val="tx1"/>
                </a:solidFill>
                <a:effectLst/>
                <a:latin typeface="+mn-lt"/>
                <a:ea typeface="+mn-ea"/>
                <a:cs typeface="+mn-cs"/>
              </a:rPr>
              <a:t>The Task &amp; Progress Ledger is the key concept:</a:t>
            </a:r>
            <a:r>
              <a:rPr lang="en-US" sz="1200" b="0" i="0" kern="1200" dirty="0">
                <a:solidFill>
                  <a:schemeClr val="tx1"/>
                </a:solidFill>
                <a:effectLst/>
                <a:latin typeface="+mn-lt"/>
                <a:ea typeface="+mn-ea"/>
                <a:cs typeface="+mn-cs"/>
              </a:rPr>
              <a:t> Unlike every other pattern,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doesn't have a fixed execution plan. The Ledger is a dynamically built document that tracks what needs to be done, what's been accomplished, what failed, and what to try next. The Manager Agent creates the initial plan, but it continuously refines it as agents report back results. This is what makes it adaptive — the plan evolves based on what's actually happening.</a:t>
            </a:r>
          </a:p>
          <a:p>
            <a:r>
              <a:rPr lang="en-US" sz="1200" b="1" i="0" kern="1200" dirty="0">
                <a:solidFill>
                  <a:schemeClr val="tx1"/>
                </a:solidFill>
                <a:effectLst/>
                <a:latin typeface="+mn-lt"/>
                <a:ea typeface="+mn-ea"/>
                <a:cs typeface="+mn-cs"/>
              </a:rPr>
              <a:t>The Evaluate Goal Loop:</a:t>
            </a:r>
            <a:r>
              <a:rPr lang="en-US" sz="1200" b="0" i="0" kern="1200" dirty="0">
                <a:solidFill>
                  <a:schemeClr val="tx1"/>
                </a:solidFill>
                <a:effectLst/>
                <a:latin typeface="+mn-lt"/>
                <a:ea typeface="+mn-ea"/>
                <a:cs typeface="+mn-cs"/>
              </a:rPr>
              <a:t> After each agent completes its work, the Manager reassesses — are we closer to the goal? Did the agent's output change our understanding of the problem? Should we replan? This loop is what separates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from a simple dispatch pattern. It's genuinely reasoning about progress, not just routing tasks.</a:t>
            </a:r>
          </a:p>
          <a:p>
            <a:r>
              <a:rPr lang="en-US" sz="1200" b="1" i="0" kern="1200" dirty="0">
                <a:solidFill>
                  <a:schemeClr val="tx1"/>
                </a:solidFill>
                <a:effectLst/>
                <a:latin typeface="+mn-lt"/>
                <a:ea typeface="+mn-ea"/>
                <a:cs typeface="+mn-cs"/>
              </a:rPr>
              <a:t>Walking through the example:</a:t>
            </a:r>
            <a:r>
              <a:rPr lang="en-US" sz="1200" b="0" i="0" kern="1200" dirty="0">
                <a:solidFill>
                  <a:schemeClr val="tx1"/>
                </a:solidFill>
                <a:effectLst/>
                <a:latin typeface="+mn-lt"/>
                <a:ea typeface="+mn-ea"/>
                <a:cs typeface="+mn-cs"/>
              </a:rPr>
              <a:t> In the SRE incident response scenario, an alert fires and the Manager Agent creates an initial plan: run diagnostics first. The Diagnostics Agent (Model + Knowledge) analyzes logs and metrics, and reports that a recent deployment caused a memory leak. The Manager replans — now it dispatches the Infrastructure Agent (Model + Tools) to scale resources as a stopgap, then the Rollback Agent (Model + Tools) to revert the deployment. Both of these agents have tools that make actual changes in external systems — this is real action, not just analysis. Meanwhile, the Communication Agent drafts status updates for stakeholders. The Manager monitors all of this and could replan again if the rollback fails.</a:t>
            </a:r>
          </a:p>
          <a:p>
            <a:r>
              <a:rPr lang="en-US" sz="1200" b="1" i="0" kern="1200" dirty="0">
                <a:solidFill>
                  <a:schemeClr val="tx1"/>
                </a:solidFill>
                <a:effectLst/>
                <a:latin typeface="+mn-lt"/>
                <a:ea typeface="+mn-ea"/>
                <a:cs typeface="+mn-cs"/>
              </a:rPr>
              <a:t>Two types of agents — notice the distinction on the diagram:</a:t>
            </a:r>
            <a:r>
              <a:rPr lang="en-US" sz="1200" b="0" i="0" kern="1200" dirty="0">
                <a:solidFill>
                  <a:schemeClr val="tx1"/>
                </a:solidFill>
                <a:effectLst/>
                <a:latin typeface="+mn-lt"/>
                <a:ea typeface="+mn-ea"/>
                <a:cs typeface="+mn-cs"/>
              </a:rPr>
              <a:t> Some agents have "Model + Knowledge" — they reason and analyze but don't take external actions. Others have "Model + Tools" — they can make changes in external systems like infrastructure scaling or deployment rollback. This distinction matters for security boundaries. Agents with tools carry higher risk and need stricter guardrails.</a:t>
            </a:r>
          </a:p>
          <a:p>
            <a:r>
              <a:rPr lang="en-US" sz="1200" b="1" i="0" kern="1200" dirty="0">
                <a:solidFill>
                  <a:schemeClr val="tx1"/>
                </a:solidFill>
                <a:effectLst/>
                <a:latin typeface="+mn-lt"/>
                <a:ea typeface="+mn-ea"/>
                <a:cs typeface="+mn-cs"/>
              </a:rPr>
              <a:t>When to use it:</a:t>
            </a:r>
            <a:r>
              <a:rPr lang="en-US" sz="1200" b="0" i="0" kern="1200" dirty="0">
                <a:solidFill>
                  <a:schemeClr val="tx1"/>
                </a:solidFill>
                <a:effectLst/>
                <a:latin typeface="+mn-lt"/>
                <a:ea typeface="+mn-ea"/>
                <a:cs typeface="+mn-cs"/>
              </a:rPr>
              <a:t> Complex, open-ended problems where you genuinely don't know the solution path upfront. Situations requiring a documented audit trail of decisions and replanning. Scenarios that combine research, reasoning, and tool execution. And problems where the initial plan will almost certainly need to be revised — like incident response, complex investigations, or research workflows.</a:t>
            </a:r>
          </a:p>
          <a:p>
            <a:r>
              <a:rPr lang="en-US" sz="1200" b="1" i="0" kern="1200" dirty="0">
                <a:solidFill>
                  <a:schemeClr val="tx1"/>
                </a:solidFill>
                <a:effectLst/>
                <a:latin typeface="+mn-lt"/>
                <a:ea typeface="+mn-ea"/>
                <a:cs typeface="+mn-cs"/>
              </a:rPr>
              <a:t>When to avoid it:</a:t>
            </a:r>
            <a:r>
              <a:rPr lang="en-US" sz="1200" b="0" i="0" kern="1200" dirty="0">
                <a:solidFill>
                  <a:schemeClr val="tx1"/>
                </a:solidFill>
                <a:effectLst/>
                <a:latin typeface="+mn-lt"/>
                <a:ea typeface="+mn-ea"/>
                <a:cs typeface="+mn-cs"/>
              </a:rPr>
              <a:t> If the solution path is deterministic — use Sequential. If the problem is low complexity — you're paying for a lot of overhead you don't need. For time-sensitive tasks —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is slow because of the planning and replanning overhead. And when the goal is ambiguous — the Manager can stall if it can't clearly assess whether progress is being made.</a:t>
            </a:r>
          </a:p>
          <a:p>
            <a:r>
              <a:rPr lang="en-US" sz="1200" b="1" i="0" kern="1200" dirty="0">
                <a:solidFill>
                  <a:schemeClr val="tx1"/>
                </a:solidFill>
                <a:effectLst/>
                <a:latin typeface="+mn-lt"/>
                <a:ea typeface="+mn-ea"/>
                <a:cs typeface="+mn-cs"/>
              </a:rPr>
              <a:t>Benefits to emphasize:</a:t>
            </a:r>
            <a:r>
              <a:rPr lang="en-US" sz="1200" b="0" i="0" kern="1200" dirty="0">
                <a:solidFill>
                  <a:schemeClr val="tx1"/>
                </a:solidFill>
                <a:effectLst/>
                <a:latin typeface="+mn-lt"/>
                <a:ea typeface="+mn-ea"/>
                <a:cs typeface="+mn-cs"/>
              </a:rPr>
              <a:t> This is the only pattern that can handle truly complex, open-ended problems. The Ledger makes everything auditable — you have a full record of the plan, its evolution, and every decision the Manager made. Dynamic adaptation means the system can recover from dead ends and unexpected findings. And it combines research, reasoning, and real-world action in a single coordinated workflow.</a:t>
            </a:r>
          </a:p>
          <a:p>
            <a:r>
              <a:rPr lang="en-US" sz="1200" b="1" i="0" kern="1200" dirty="0">
                <a:solidFill>
                  <a:schemeClr val="tx1"/>
                </a:solidFill>
                <a:effectLst/>
                <a:latin typeface="+mn-lt"/>
                <a:ea typeface="+mn-ea"/>
                <a:cs typeface="+mn-cs"/>
              </a:rPr>
              <a:t>Trade-offs to be honest about:</a:t>
            </a:r>
            <a:r>
              <a:rPr lang="en-US" sz="1200" b="0" i="0" kern="1200" dirty="0">
                <a:solidFill>
                  <a:schemeClr val="tx1"/>
                </a:solidFill>
                <a:effectLst/>
                <a:latin typeface="+mn-lt"/>
                <a:ea typeface="+mn-ea"/>
                <a:cs typeface="+mn-cs"/>
              </a:rPr>
              <a:t> This is the most expensive pattern by a significant margin — the Manager Agent runs a capable LLM on every evaluation loop, plus all the specialist agent calls. Total cost is difficult to predict because you don't know how many iterations the loop will take. It's slow to converge — multiple rounds of plan-execute-evaluate before reaching a conclusion. And the Manager model needs to be highly capable — a weak model here will lead to poor plans and frequent stalls.</a:t>
            </a:r>
          </a:p>
          <a:p>
            <a:r>
              <a:rPr lang="en-US" sz="1200" b="1" i="0" kern="1200" dirty="0">
                <a:solidFill>
                  <a:schemeClr val="tx1"/>
                </a:solidFill>
                <a:effectLst/>
                <a:latin typeface="+mn-lt"/>
                <a:ea typeface="+mn-ea"/>
                <a:cs typeface="+mn-cs"/>
              </a:rPr>
              <a:t>Implementation options: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provides </a:t>
            </a:r>
            <a:r>
              <a:rPr lang="en-US" sz="1200" b="0" i="0" kern="1200" dirty="0" err="1">
                <a:solidFill>
                  <a:schemeClr val="tx1"/>
                </a:solidFill>
                <a:effectLst/>
                <a:latin typeface="+mn-lt"/>
                <a:ea typeface="+mn-ea"/>
                <a:cs typeface="+mn-cs"/>
              </a:rPr>
              <a:t>MagenticOneGroupChat</a:t>
            </a:r>
            <a:r>
              <a:rPr lang="en-US" sz="1200" b="0" i="0" kern="1200" dirty="0">
                <a:solidFill>
                  <a:schemeClr val="tx1"/>
                </a:solidFill>
                <a:effectLst/>
                <a:latin typeface="+mn-lt"/>
                <a:ea typeface="+mn-ea"/>
                <a:cs typeface="+mn-cs"/>
              </a:rPr>
              <a:t> as a direct implementation. Semantic Kernel offers </a:t>
            </a:r>
            <a:r>
              <a:rPr lang="en-US" sz="1200" b="0" i="0" kern="1200" dirty="0" err="1">
                <a:solidFill>
                  <a:schemeClr val="tx1"/>
                </a:solidFill>
                <a:effectLst/>
                <a:latin typeface="+mn-lt"/>
                <a:ea typeface="+mn-ea"/>
                <a:cs typeface="+mn-cs"/>
              </a:rPr>
              <a:t>MagenticOrchestration</a:t>
            </a:r>
            <a:r>
              <a:rPr lang="en-US" sz="1200" b="0" i="0" kern="1200" dirty="0">
                <a:solidFill>
                  <a:schemeClr val="tx1"/>
                </a:solidFill>
                <a:effectLst/>
                <a:latin typeface="+mn-lt"/>
                <a:ea typeface="+mn-ea"/>
                <a:cs typeface="+mn-cs"/>
              </a:rPr>
              <a:t>. The new Agent Framework supports it via </a:t>
            </a:r>
            <a:r>
              <a:rPr lang="en-US" sz="1200" b="0" i="0" kern="1200" dirty="0" err="1">
                <a:solidFill>
                  <a:schemeClr val="tx1"/>
                </a:solidFill>
                <a:effectLst/>
                <a:latin typeface="+mn-lt"/>
                <a:ea typeface="+mn-ea"/>
                <a:cs typeface="+mn-cs"/>
              </a:rPr>
              <a:t>MagenticBuilder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doesn't have a built-in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implementation — you'd need to build it custom using its graph primitives. This is one of the patterns where the Microsoft ecosystem has a clear advantage.</a:t>
            </a:r>
          </a:p>
          <a:p>
            <a:r>
              <a:rPr lang="en-US" sz="1200" b="1" i="0" kern="1200" dirty="0">
                <a:solidFill>
                  <a:schemeClr val="tx1"/>
                </a:solidFill>
                <a:effectLst/>
                <a:latin typeface="+mn-lt"/>
                <a:ea typeface="+mn-ea"/>
                <a:cs typeface="+mn-cs"/>
              </a:rPr>
              <a:t>Where this fits in the complexity spectrum:</a:t>
            </a:r>
            <a:r>
              <a:rPr lang="en-US" sz="1200" b="0" i="0" kern="1200" dirty="0">
                <a:solidFill>
                  <a:schemeClr val="tx1"/>
                </a:solidFill>
                <a:effectLst/>
                <a:latin typeface="+mn-lt"/>
                <a:ea typeface="+mn-ea"/>
                <a:cs typeface="+mn-cs"/>
              </a:rPr>
              <a:t> Think of these five patterns as a progression. Sequential for linear workflows, Concurrent for parallel analysis, Handoff for dynamic routing, Group Chat for consensus-building, and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for open-ended problem solving. Each step up adds power but also complexity and cost.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is the top of the stack — use it only when the problem genuinely demands it.</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8</a:t>
            </a:fld>
            <a:endParaRPr lang="en-US"/>
          </a:p>
        </p:txBody>
      </p:sp>
    </p:spTree>
    <p:extLst>
      <p:ext uri="{BB962C8B-B14F-4D97-AF65-F5344CB8AC3E}">
        <p14:creationId xmlns:p14="http://schemas.microsoft.com/office/powerpoint/2010/main" val="1088057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Pattern Comparison Matrix</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Purpose of this slide:</a:t>
            </a:r>
            <a:r>
              <a:rPr lang="en-US" sz="1200" b="0" i="0" kern="1200" dirty="0">
                <a:solidFill>
                  <a:schemeClr val="tx1"/>
                </a:solidFill>
                <a:effectLst/>
                <a:latin typeface="+mn-lt"/>
                <a:ea typeface="+mn-ea"/>
                <a:cs typeface="+mn-cs"/>
              </a:rPr>
              <a:t> This is the cheat sheet. We've just walked through each of the five patterns in detail — this matrix lets you compare them side by side on the four dimensions that matter most when choosing a pattern: how agents communicate, how the next agent is selected, what each pattern is best suited for, and the primary risk to watch out for.</a:t>
            </a:r>
          </a:p>
          <a:p>
            <a:r>
              <a:rPr lang="en-US" sz="1200" b="1" i="0" kern="1200" dirty="0">
                <a:solidFill>
                  <a:schemeClr val="tx1"/>
                </a:solidFill>
                <a:effectLst/>
                <a:latin typeface="+mn-lt"/>
                <a:ea typeface="+mn-ea"/>
                <a:cs typeface="+mn-cs"/>
              </a:rPr>
              <a:t>Communication style is the core differentiator:</a:t>
            </a:r>
            <a:r>
              <a:rPr lang="en-US" sz="1200" b="0" i="0" kern="1200" dirty="0">
                <a:solidFill>
                  <a:schemeClr val="tx1"/>
                </a:solidFill>
                <a:effectLst/>
                <a:latin typeface="+mn-lt"/>
                <a:ea typeface="+mn-ea"/>
                <a:cs typeface="+mn-cs"/>
              </a:rPr>
              <a:t> Notice how each pattern has a fundamentally different communication model. Sequential is a linear pipeline — data flows one direction. Concurrent is parallel and independent — no agent sees the others' work. Handoff is dynamic delegation — one-at-a-time transfer. Group Chat uses a shared conversation thread — everyone sees everything. And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is plan-build-execute — the Manager mediates all communication through a task ledger. When choosing a pattern, start by asking: how do our agents need to communicate?</a:t>
            </a:r>
          </a:p>
          <a:p>
            <a:r>
              <a:rPr lang="en-US" sz="1200" b="1" i="0" kern="1200" dirty="0">
                <a:solidFill>
                  <a:schemeClr val="tx1"/>
                </a:solidFill>
                <a:effectLst/>
                <a:latin typeface="+mn-lt"/>
                <a:ea typeface="+mn-ea"/>
                <a:cs typeface="+mn-cs"/>
              </a:rPr>
              <a:t>Agent selection ranges from deterministic to fully dynamic:</a:t>
            </a:r>
            <a:r>
              <a:rPr lang="en-US" sz="1200" b="0" i="0" kern="1200" dirty="0">
                <a:solidFill>
                  <a:schemeClr val="tx1"/>
                </a:solidFill>
                <a:effectLst/>
                <a:latin typeface="+mn-lt"/>
                <a:ea typeface="+mn-ea"/>
                <a:cs typeface="+mn-cs"/>
              </a:rPr>
              <a:t> Sequential and Concurrent are largely deterministic — you know upfront which agents will run. Handoff lets agents themselves decide when to transfer. Group Chat has a Chat Manager controlling turns. And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has a Manager Agent dynamically assigning work based on a plan that evolves. The more dynamic the selection, the more powerful — but also the harder to predict and debug.</a:t>
            </a:r>
          </a:p>
          <a:p>
            <a:r>
              <a:rPr lang="en-US" sz="1200" b="1" i="0" kern="1200" dirty="0">
                <a:solidFill>
                  <a:schemeClr val="tx1"/>
                </a:solidFill>
                <a:effectLst/>
                <a:latin typeface="+mn-lt"/>
                <a:ea typeface="+mn-ea"/>
                <a:cs typeface="+mn-cs"/>
              </a:rPr>
              <a:t>Match the pattern to the problem, not the other way around:</a:t>
            </a:r>
            <a:r>
              <a:rPr lang="en-US" sz="1200" b="0" i="0" kern="1200" dirty="0">
                <a:solidFill>
                  <a:schemeClr val="tx1"/>
                </a:solidFill>
                <a:effectLst/>
                <a:latin typeface="+mn-lt"/>
                <a:ea typeface="+mn-ea"/>
                <a:cs typeface="+mn-cs"/>
              </a:rPr>
              <a:t> The "Best For" column is your decision key. If you have a step-by-step refinement workflow — Sequential. If you need multiple perspectives on the same input — Concurrent. If the right specialist only becomes clear during processing — Handoff. If you need consensus or iterative debate — Group Chat. If the problem is truly open-ended with no predetermined path —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Every pattern has a signature risk:</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Sequential's</a:t>
            </a:r>
            <a:r>
              <a:rPr lang="en-US" sz="1200" b="0" i="0" kern="1200" dirty="0">
                <a:solidFill>
                  <a:schemeClr val="tx1"/>
                </a:solidFill>
                <a:effectLst/>
                <a:latin typeface="+mn-lt"/>
                <a:ea typeface="+mn-ea"/>
                <a:cs typeface="+mn-cs"/>
              </a:rPr>
              <a:t> risk is cascade failure — if one stage breaks, everything downstream fails. Concurrent risks contradictory results that need resolution. Handoff risks infinite loops between agents. Group Chat risks conversation loops where agents go in circles.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risks being slow to converge, especially on ambiguous goals. In every case, you need explicit mitigation strategies — timeouts, max-iteration limits, loop detection, and conflict resolution logic.</a:t>
            </a:r>
          </a:p>
          <a:p>
            <a:r>
              <a:rPr lang="en-US" sz="1200" b="1" i="0" kern="1200" dirty="0">
                <a:solidFill>
                  <a:schemeClr val="tx1"/>
                </a:solidFill>
                <a:effectLst/>
                <a:latin typeface="+mn-lt"/>
                <a:ea typeface="+mn-ea"/>
                <a:cs typeface="+mn-cs"/>
              </a:rPr>
              <a:t>These patterns aren't mutually exclusive:</a:t>
            </a:r>
            <a:r>
              <a:rPr lang="en-US" sz="1200" b="0" i="0" kern="1200" dirty="0">
                <a:solidFill>
                  <a:schemeClr val="tx1"/>
                </a:solidFill>
                <a:effectLst/>
                <a:latin typeface="+mn-lt"/>
                <a:ea typeface="+mn-ea"/>
                <a:cs typeface="+mn-cs"/>
              </a:rPr>
              <a:t> A key point from the Azure Architecture Center guidance is that real-world applications often combine patterns. You might use Sequential for initial data processing, then fan out into Concurrent for parallel analysis, then feed results into a Group Chat for consensus. The matrix helps you pick the right pattern for each stage of your workflow.</a:t>
            </a:r>
          </a:p>
          <a:p>
            <a:r>
              <a:rPr lang="en-US" sz="1200" b="1" i="0" kern="1200" dirty="0">
                <a:solidFill>
                  <a:schemeClr val="tx1"/>
                </a:solidFill>
                <a:effectLst/>
                <a:latin typeface="+mn-lt"/>
                <a:ea typeface="+mn-ea"/>
                <a:cs typeface="+mn-cs"/>
              </a:rPr>
              <a:t>The complexity-cost trade-off runs top to bottom:</a:t>
            </a:r>
            <a:r>
              <a:rPr lang="en-US" sz="1200" b="0" i="0" kern="1200" dirty="0">
                <a:solidFill>
                  <a:schemeClr val="tx1"/>
                </a:solidFill>
                <a:effectLst/>
                <a:latin typeface="+mn-lt"/>
                <a:ea typeface="+mn-ea"/>
                <a:cs typeface="+mn-cs"/>
              </a:rPr>
              <a:t> The table is roughly ordered from simplest (Sequential) to most complex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As you go down, you gain power and flexibility, but you also add latency, cost, and debugging complexity. Microsoft's guidance is clear — use the lowest level of complexity that reliably meets your requirements.</a:t>
            </a:r>
          </a:p>
          <a:p>
            <a:r>
              <a:rPr lang="en-US" sz="1200" b="1" i="0" kern="1200" dirty="0">
                <a:solidFill>
                  <a:schemeClr val="tx1"/>
                </a:solidFill>
                <a:effectLst/>
                <a:latin typeface="+mn-lt"/>
                <a:ea typeface="+mn-ea"/>
                <a:cs typeface="+mn-cs"/>
              </a:rPr>
              <a:t>Framework coverage is broad:</a:t>
            </a:r>
            <a:r>
              <a:rPr lang="en-US" sz="1200" b="0" i="0" kern="1200" dirty="0">
                <a:solidFill>
                  <a:schemeClr val="tx1"/>
                </a:solidFill>
                <a:effectLst/>
                <a:latin typeface="+mn-lt"/>
                <a:ea typeface="+mn-ea"/>
                <a:cs typeface="+mn-cs"/>
              </a:rPr>
              <a:t> All five of these patterns are implemented across Semantic Kernel,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and the new Microsoft Agent Framework.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covers most of them through its graph primitives but doesn't have a built-in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implementation. So regardless of which framework you choose, you have access to the full pattern toolkit — the choice of pattern and choice of framework are independent decisions.</a:t>
            </a:r>
          </a:p>
          <a:p>
            <a:r>
              <a:rPr lang="en-US" sz="1200" b="1" i="0" kern="1200" dirty="0">
                <a:solidFill>
                  <a:schemeClr val="tx1"/>
                </a:solidFill>
                <a:effectLst/>
                <a:latin typeface="+mn-lt"/>
                <a:ea typeface="+mn-ea"/>
                <a:cs typeface="+mn-cs"/>
              </a:rPr>
              <a:t>Practical selection guidance:</a:t>
            </a:r>
            <a:r>
              <a:rPr lang="en-US" sz="1200" b="0" i="0" kern="1200" dirty="0">
                <a:solidFill>
                  <a:schemeClr val="tx1"/>
                </a:solidFill>
                <a:effectLst/>
                <a:latin typeface="+mn-lt"/>
                <a:ea typeface="+mn-ea"/>
                <a:cs typeface="+mn-cs"/>
              </a:rPr>
              <a:t> For most enterprise use cases, you'll start with Sequential or Handoff — they cover the majority of real-world workflows. Concurrent is a natural add when you identify parallelizable stages. Group Chat is niche but powerful for quality assurance and compliance review.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should be reserved for genuinely complex, exploratory problems where the other patterns fall short.</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9</a:t>
            </a:fld>
            <a:endParaRPr lang="en-US"/>
          </a:p>
        </p:txBody>
      </p:sp>
    </p:spTree>
    <p:extLst>
      <p:ext uri="{BB962C8B-B14F-4D97-AF65-F5344CB8AC3E}">
        <p14:creationId xmlns:p14="http://schemas.microsoft.com/office/powerpoint/2010/main" val="1761825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Library Ecosystem &amp; Pattern Support</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Purpose of this slide:</a:t>
            </a:r>
            <a:r>
              <a:rPr lang="en-US" sz="1200" b="0" i="0" kern="1200" dirty="0">
                <a:solidFill>
                  <a:schemeClr val="tx1"/>
                </a:solidFill>
                <a:effectLst/>
                <a:latin typeface="+mn-lt"/>
                <a:ea typeface="+mn-ea"/>
                <a:cs typeface="+mn-cs"/>
              </a:rPr>
              <a:t> Now that we've covered what the patterns are, this matrix answers the practical question — which frameworks actually support which patterns? This is the library shopping guide for your engineering team.</a:t>
            </a:r>
          </a:p>
          <a:p>
            <a:r>
              <a:rPr lang="en-US" sz="1200" b="1" i="0" kern="1200" dirty="0">
                <a:solidFill>
                  <a:schemeClr val="tx1"/>
                </a:solidFill>
                <a:effectLst/>
                <a:latin typeface="+mn-lt"/>
                <a:ea typeface="+mn-ea"/>
                <a:cs typeface="+mn-cs"/>
              </a:rPr>
              <a:t>The six frameworks at a glance:</a:t>
            </a:r>
            <a:r>
              <a:rPr lang="en-US" sz="1200" b="0" i="0" kern="1200" dirty="0">
                <a:solidFill>
                  <a:schemeClr val="tx1"/>
                </a:solidFill>
                <a:effectLst/>
                <a:latin typeface="+mn-lt"/>
                <a:ea typeface="+mn-ea"/>
                <a:cs typeface="+mn-cs"/>
              </a:rPr>
              <a:t> We're comparing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(Python-focused, from </a:t>
            </a:r>
            <a:r>
              <a:rPr lang="en-US" sz="1200" b="0" i="0" kern="1200" dirty="0" err="1">
                <a:solidFill>
                  <a:schemeClr val="tx1"/>
                </a:solidFill>
                <a:effectLst/>
                <a:latin typeface="+mn-lt"/>
                <a:ea typeface="+mn-ea"/>
                <a:cs typeface="+mn-cs"/>
              </a:rPr>
              <a:t>LangChain</a:t>
            </a:r>
            <a:r>
              <a:rPr lang="en-US" sz="1200" b="0" i="0" kern="1200" dirty="0">
                <a:solidFill>
                  <a:schemeClr val="tx1"/>
                </a:solidFill>
                <a:effectLst/>
                <a:latin typeface="+mn-lt"/>
                <a:ea typeface="+mn-ea"/>
                <a:cs typeface="+mn-cs"/>
              </a:rPr>
              <a:t>), Semantic Kernel (Microsoft's .NET-first SDK), Agent Framework (Microsoft's next-gen successor to both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and SK),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(the research predecessor), OpenAI Agents SDK (lightweight, Python + JS), and </a:t>
            </a:r>
            <a:r>
              <a:rPr lang="en-US" sz="1200" b="0" i="0" kern="1200" dirty="0" err="1">
                <a:solidFill>
                  <a:schemeClr val="tx1"/>
                </a:solidFill>
                <a:effectLst/>
                <a:latin typeface="+mn-lt"/>
                <a:ea typeface="+mn-ea"/>
                <a:cs typeface="+mn-cs"/>
              </a:rPr>
              <a:t>CrewAI</a:t>
            </a:r>
            <a:r>
              <a:rPr lang="en-US" sz="1200" b="0" i="0" kern="1200" dirty="0">
                <a:solidFill>
                  <a:schemeClr val="tx1"/>
                </a:solidFill>
                <a:effectLst/>
                <a:latin typeface="+mn-lt"/>
                <a:ea typeface="+mn-ea"/>
                <a:cs typeface="+mn-cs"/>
              </a:rPr>
              <a:t> (standalone Python framework). These represent the realistic choices for an enterprise building multi-agent systems today.</a:t>
            </a:r>
          </a:p>
          <a:p>
            <a:r>
              <a:rPr lang="en-US" sz="1200" b="1" i="0" kern="1200" dirty="0">
                <a:solidFill>
                  <a:schemeClr val="tx1"/>
                </a:solidFill>
                <a:effectLst/>
                <a:latin typeface="+mn-lt"/>
                <a:ea typeface="+mn-ea"/>
                <a:cs typeface="+mn-cs"/>
              </a:rPr>
              <a:t>Sequential is table stakes — everyone supports it.</a:t>
            </a:r>
            <a:r>
              <a:rPr lang="en-US" sz="1200" b="0" i="0" kern="1200" dirty="0">
                <a:solidFill>
                  <a:schemeClr val="tx1"/>
                </a:solidFill>
                <a:effectLst/>
                <a:latin typeface="+mn-lt"/>
                <a:ea typeface="+mn-ea"/>
                <a:cs typeface="+mn-cs"/>
              </a:rPr>
              <a:t> Every single framework has full Sequential support. This is the simplest pattern, and it would be a red flag if a framework didn't offer it. If your needs are purely sequential pipelines, framework choice comes down to language preference and ecosystem fit, not pattern support.</a:t>
            </a:r>
          </a:p>
          <a:p>
            <a:r>
              <a:rPr lang="en-US" sz="1200" b="1" i="0" kern="1200" dirty="0">
                <a:solidFill>
                  <a:schemeClr val="tx1"/>
                </a:solidFill>
                <a:effectLst/>
                <a:latin typeface="+mn-lt"/>
                <a:ea typeface="+mn-ea"/>
                <a:cs typeface="+mn-cs"/>
              </a:rPr>
              <a:t>The Microsoft ecosystem has the broadest coverage.</a:t>
            </a:r>
            <a:r>
              <a:rPr lang="en-US" sz="1200" b="0" i="0" kern="1200" dirty="0">
                <a:solidFill>
                  <a:schemeClr val="tx1"/>
                </a:solidFill>
                <a:effectLst/>
                <a:latin typeface="+mn-lt"/>
                <a:ea typeface="+mn-ea"/>
                <a:cs typeface="+mn-cs"/>
              </a:rPr>
              <a:t> Look at the Agent Framework and Semantic Kernel columns — they have full support (✅) for all five standard patterns plus HITL. Agent Framework also supports Graph/DAG workflows. This is by design — Microsoft codified these five patterns and built their frameworks to implement all of them. If you need the full pattern toolkit, the Microsoft ecosystem is the most complete.</a:t>
            </a:r>
          </a:p>
          <a:p>
            <a:r>
              <a:rPr lang="en-US" sz="1200" b="1" i="0" kern="1200" dirty="0" err="1">
                <a:solidFill>
                  <a:schemeClr val="tx1"/>
                </a:solidFill>
                <a:effectLst/>
                <a:latin typeface="+mn-lt"/>
                <a:ea typeface="+mn-ea"/>
                <a:cs typeface="+mn-cs"/>
              </a:rPr>
              <a:t>LangGraph</a:t>
            </a:r>
            <a:r>
              <a:rPr lang="en-US" sz="1200" b="1" i="0" kern="1200" dirty="0">
                <a:solidFill>
                  <a:schemeClr val="tx1"/>
                </a:solidFill>
                <a:effectLst/>
                <a:latin typeface="+mn-lt"/>
                <a:ea typeface="+mn-ea"/>
                <a:cs typeface="+mn-cs"/>
              </a:rPr>
              <a:t> is the strongest non-Microsoft option.</a:t>
            </a:r>
            <a:r>
              <a:rPr lang="en-US" sz="1200" b="0" i="0" kern="1200" dirty="0">
                <a:solidFill>
                  <a:schemeClr val="tx1"/>
                </a:solidFill>
                <a:effectLst/>
                <a:latin typeface="+mn-lt"/>
                <a:ea typeface="+mn-ea"/>
                <a:cs typeface="+mn-cs"/>
              </a:rPr>
              <a:t> It supports Sequential, Concurrent, Handoff, Group Chat, Graph/DAG, and HITL — all with full marks. The one gap is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which you'd need to build custom using </a:t>
            </a:r>
            <a:r>
              <a:rPr lang="en-US" sz="1200" b="0" i="0" kern="1200" dirty="0" err="1">
                <a:solidFill>
                  <a:schemeClr val="tx1"/>
                </a:solidFill>
                <a:effectLst/>
                <a:latin typeface="+mn-lt"/>
                <a:ea typeface="+mn-ea"/>
                <a:cs typeface="+mn-cs"/>
              </a:rPr>
              <a:t>LangGraph's</a:t>
            </a:r>
            <a:r>
              <a:rPr lang="en-US" sz="1200" b="0" i="0" kern="1200" dirty="0">
                <a:solidFill>
                  <a:schemeClr val="tx1"/>
                </a:solidFill>
                <a:effectLst/>
                <a:latin typeface="+mn-lt"/>
                <a:ea typeface="+mn-ea"/>
                <a:cs typeface="+mn-cs"/>
              </a:rPr>
              <a:t> graph primitives. For Python-first teams,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is a very capable choice that covers most scenarios.</a:t>
            </a:r>
          </a:p>
          <a:p>
            <a:r>
              <a:rPr lang="en-US" sz="1200" b="1" i="0" kern="1200" dirty="0">
                <a:solidFill>
                  <a:schemeClr val="tx1"/>
                </a:solidFill>
                <a:effectLst/>
                <a:latin typeface="+mn-lt"/>
                <a:ea typeface="+mn-ea"/>
                <a:cs typeface="+mn-cs"/>
              </a:rPr>
              <a:t>OpenAI Agents SDK and </a:t>
            </a:r>
            <a:r>
              <a:rPr lang="en-US" sz="1200" b="1" i="0" kern="1200" dirty="0" err="1">
                <a:solidFill>
                  <a:schemeClr val="tx1"/>
                </a:solidFill>
                <a:effectLst/>
                <a:latin typeface="+mn-lt"/>
                <a:ea typeface="+mn-ea"/>
                <a:cs typeface="+mn-cs"/>
              </a:rPr>
              <a:t>CrewAI</a:t>
            </a:r>
            <a:r>
              <a:rPr lang="en-US" sz="1200" b="1" i="0" kern="1200" dirty="0">
                <a:solidFill>
                  <a:schemeClr val="tx1"/>
                </a:solidFill>
                <a:effectLst/>
                <a:latin typeface="+mn-lt"/>
                <a:ea typeface="+mn-ea"/>
                <a:cs typeface="+mn-cs"/>
              </a:rPr>
              <a:t> are more focused.</a:t>
            </a:r>
            <a:r>
              <a:rPr lang="en-US" sz="1200" b="0" i="0" kern="1200" dirty="0">
                <a:solidFill>
                  <a:schemeClr val="tx1"/>
                </a:solidFill>
                <a:effectLst/>
                <a:latin typeface="+mn-lt"/>
                <a:ea typeface="+mn-ea"/>
                <a:cs typeface="+mn-cs"/>
              </a:rPr>
              <a:t> OpenAI's SDK excels at Sequential and Handoff — handoffs are a native first-class feature — but it doesn't offer Group Chat or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CrewAI</a:t>
            </a:r>
            <a:r>
              <a:rPr lang="en-US" sz="1200" b="0" i="0" kern="1200" dirty="0">
                <a:solidFill>
                  <a:schemeClr val="tx1"/>
                </a:solidFill>
                <a:effectLst/>
                <a:latin typeface="+mn-lt"/>
                <a:ea typeface="+mn-ea"/>
                <a:cs typeface="+mn-cs"/>
              </a:rPr>
              <a:t> supports Sequential and Graph/DAG via its Flows system but lacks Handoff, Group Chat, and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These are good tools for specific use cases, but they're not full pattern coverage.</a:t>
            </a:r>
          </a:p>
          <a:p>
            <a:r>
              <a:rPr lang="en-US" sz="1200" b="1" i="0" kern="1200" dirty="0" err="1">
                <a:solidFill>
                  <a:schemeClr val="tx1"/>
                </a:solidFill>
                <a:effectLst/>
                <a:latin typeface="+mn-lt"/>
                <a:ea typeface="+mn-ea"/>
                <a:cs typeface="+mn-cs"/>
              </a:rPr>
              <a:t>AutoGen</a:t>
            </a:r>
            <a:r>
              <a:rPr lang="en-US" sz="1200" b="1" i="0" kern="1200" dirty="0">
                <a:solidFill>
                  <a:schemeClr val="tx1"/>
                </a:solidFill>
                <a:effectLst/>
                <a:latin typeface="+mn-lt"/>
                <a:ea typeface="+mn-ea"/>
                <a:cs typeface="+mn-cs"/>
              </a:rPr>
              <a:t> is in transition.</a:t>
            </a:r>
            <a:r>
              <a:rPr lang="en-US" sz="1200" b="0" i="0" kern="1200" dirty="0">
                <a:solidFill>
                  <a:schemeClr val="tx1"/>
                </a:solidFill>
                <a:effectLst/>
                <a:latin typeface="+mn-lt"/>
                <a:ea typeface="+mn-ea"/>
                <a:cs typeface="+mn-cs"/>
              </a:rPr>
              <a:t> It shows full support for most patterns, with Concurrent as only partial and Graph/DAG as experimental. The important context is that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is actively being migrated into the Agent Framework — it's the research predecessor, not the strategic path forward. If you're starting new, go to Agent Framework directly. If you have existing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code, Microsoft provides migration guides.</a:t>
            </a:r>
          </a:p>
          <a:p>
            <a:r>
              <a:rPr lang="en-US" sz="1200" b="1" i="0" kern="1200" dirty="0">
                <a:solidFill>
                  <a:schemeClr val="tx1"/>
                </a:solidFill>
                <a:effectLst/>
                <a:latin typeface="+mn-lt"/>
                <a:ea typeface="+mn-ea"/>
                <a:cs typeface="+mn-cs"/>
              </a:rPr>
              <a:t>Graph/DAG is worth calling out.</a:t>
            </a:r>
            <a:r>
              <a:rPr lang="en-US" sz="1200" b="0" i="0" kern="1200" dirty="0">
                <a:solidFill>
                  <a:schemeClr val="tx1"/>
                </a:solidFill>
                <a:effectLst/>
                <a:latin typeface="+mn-lt"/>
                <a:ea typeface="+mn-ea"/>
                <a:cs typeface="+mn-cs"/>
              </a:rPr>
              <a:t> This is the ability to define arbitrary directed acyclic graphs — conditional branching, loops, fan-out/fan-in — beyond the five named patterns.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is natively a graph framework, so this is its home turf. The Agent Framework's new Workflow API also supports full graphs with typed edges. Semantic Kernel and OpenAI Agents SDK don't offer this — they provide the named patterns but not arbitrary graph composition.</a:t>
            </a:r>
          </a:p>
          <a:p>
            <a:r>
              <a:rPr lang="en-US" sz="1200" b="1" i="0" kern="1200" dirty="0">
                <a:solidFill>
                  <a:schemeClr val="tx1"/>
                </a:solidFill>
                <a:effectLst/>
                <a:latin typeface="+mn-lt"/>
                <a:ea typeface="+mn-ea"/>
                <a:cs typeface="+mn-cs"/>
              </a:rPr>
              <a:t>HITL is universally supported.</a:t>
            </a:r>
            <a:r>
              <a:rPr lang="en-US" sz="1200" b="0" i="0" kern="1200" dirty="0">
                <a:solidFill>
                  <a:schemeClr val="tx1"/>
                </a:solidFill>
                <a:effectLst/>
                <a:latin typeface="+mn-lt"/>
                <a:ea typeface="+mn-ea"/>
                <a:cs typeface="+mn-cs"/>
              </a:rPr>
              <a:t> Human-in-the-loop is critical for enterprise adoption — every framework on this slide supports it. The implementations vary —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uses interrupt checkpoints, Agent Framework has built-in </a:t>
            </a:r>
            <a:r>
              <a:rPr lang="en-US" sz="1200" b="0" i="0" kern="1200" dirty="0" err="1">
                <a:solidFill>
                  <a:schemeClr val="tx1"/>
                </a:solidFill>
                <a:effectLst/>
                <a:latin typeface="+mn-lt"/>
                <a:ea typeface="+mn-ea"/>
                <a:cs typeface="+mn-cs"/>
              </a:rPr>
              <a:t>request_info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uses </a:t>
            </a:r>
            <a:r>
              <a:rPr lang="en-US" sz="1200" b="0" i="0" kern="1200" dirty="0" err="1">
                <a:solidFill>
                  <a:schemeClr val="tx1"/>
                </a:solidFill>
                <a:effectLst/>
                <a:latin typeface="+mn-lt"/>
                <a:ea typeface="+mn-ea"/>
                <a:cs typeface="+mn-cs"/>
              </a:rPr>
              <a:t>UserProxyAgent</a:t>
            </a:r>
            <a:r>
              <a:rPr lang="en-US" sz="1200" b="0" i="0" kern="1200" dirty="0">
                <a:solidFill>
                  <a:schemeClr val="tx1"/>
                </a:solidFill>
                <a:effectLst/>
                <a:latin typeface="+mn-lt"/>
                <a:ea typeface="+mn-ea"/>
                <a:cs typeface="+mn-cs"/>
              </a:rPr>
              <a:t> — but the capability is there across the board. No framework should be disqualified on HITL grounds.</a:t>
            </a:r>
          </a:p>
          <a:p>
            <a:r>
              <a:rPr lang="en-US" sz="1200" b="1" i="0" kern="1200" dirty="0">
                <a:solidFill>
                  <a:schemeClr val="tx1"/>
                </a:solidFill>
                <a:effectLst/>
                <a:latin typeface="+mn-lt"/>
                <a:ea typeface="+mn-ea"/>
                <a:cs typeface="+mn-cs"/>
              </a:rPr>
              <a:t>Recommendation for an Azure AI Foundry organization:</a:t>
            </a:r>
            <a:r>
              <a:rPr lang="en-US" sz="1200" b="0" i="0" kern="1200" dirty="0">
                <a:solidFill>
                  <a:schemeClr val="tx1"/>
                </a:solidFill>
                <a:effectLst/>
                <a:latin typeface="+mn-lt"/>
                <a:ea typeface="+mn-ea"/>
                <a:cs typeface="+mn-cs"/>
              </a:rPr>
              <a:t> For new projects, the Agent Framework gives you the broadest pattern support and is Microsoft's strategic direction. For production today where you need stability, Semantic Kernel for .NET or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for Python are the safer bets. For polyglot scenarios — .NET services using SK/Agent Framework internally, Python services using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 connect them via the A2A protocol, which we'll cover shortly.</a:t>
            </a:r>
          </a:p>
          <a:p>
            <a:r>
              <a:rPr lang="en-US" sz="1200" b="1" i="0" kern="1200" dirty="0">
                <a:solidFill>
                  <a:schemeClr val="tx1"/>
                </a:solidFill>
                <a:effectLst/>
                <a:latin typeface="+mn-lt"/>
                <a:ea typeface="+mn-ea"/>
                <a:cs typeface="+mn-cs"/>
              </a:rPr>
              <a:t>Language coverage matters too — not shown here but important: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is Python and JS/TS only — no .NET. Semantic Kernel and Agent Framework both support C# and Python. OpenAI Agents SDK is Python and JS/TS. </a:t>
            </a:r>
            <a:r>
              <a:rPr lang="en-US" sz="1200" b="0" i="0" kern="1200" dirty="0" err="1">
                <a:solidFill>
                  <a:schemeClr val="tx1"/>
                </a:solidFill>
                <a:effectLst/>
                <a:latin typeface="+mn-lt"/>
                <a:ea typeface="+mn-ea"/>
                <a:cs typeface="+mn-cs"/>
              </a:rPr>
              <a:t>CrewAI</a:t>
            </a:r>
            <a:r>
              <a:rPr lang="en-US" sz="1200" b="0" i="0" kern="1200" dirty="0">
                <a:solidFill>
                  <a:schemeClr val="tx1"/>
                </a:solidFill>
                <a:effectLst/>
                <a:latin typeface="+mn-lt"/>
                <a:ea typeface="+mn-ea"/>
                <a:cs typeface="+mn-cs"/>
              </a:rPr>
              <a:t> is Python only. For .NET shops, your realistic choices narrow to Semantic Kernel and Agent Framework.</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10</a:t>
            </a:fld>
            <a:endParaRPr lang="en-US"/>
          </a:p>
        </p:txBody>
      </p:sp>
    </p:spTree>
    <p:extLst>
      <p:ext uri="{BB962C8B-B14F-4D97-AF65-F5344CB8AC3E}">
        <p14:creationId xmlns:p14="http://schemas.microsoft.com/office/powerpoint/2010/main" val="2332234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Azure AI Foundry Compatibility</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Purpose of this slide:</a:t>
            </a:r>
            <a:r>
              <a:rPr lang="en-US" sz="1200" b="0" i="0" kern="1200" dirty="0">
                <a:solidFill>
                  <a:schemeClr val="tx1"/>
                </a:solidFill>
                <a:effectLst/>
                <a:latin typeface="+mn-lt"/>
                <a:ea typeface="+mn-ea"/>
                <a:cs typeface="+mn-cs"/>
              </a:rPr>
              <a:t> For an organization already invested in Azure AI Foundry, the key question is — do these frameworks actually integrate well? The answer is yes, across the board. This slide shows both Foundry's own agent hosting tiers and how each framework plugs in.</a:t>
            </a:r>
          </a:p>
          <a:p>
            <a:r>
              <a:rPr lang="en-US" sz="1200" b="1" i="0" kern="1200" dirty="0">
                <a:solidFill>
                  <a:schemeClr val="tx1"/>
                </a:solidFill>
                <a:effectLst/>
                <a:latin typeface="+mn-lt"/>
                <a:ea typeface="+mn-ea"/>
                <a:cs typeface="+mn-cs"/>
              </a:rPr>
              <a:t>The Three-Tier Graduation Path — start simple, grow into code:</a:t>
            </a:r>
            <a:r>
              <a:rPr lang="en-US" sz="1200" b="0" i="0" kern="1200" dirty="0">
                <a:solidFill>
                  <a:schemeClr val="tx1"/>
                </a:solidFill>
                <a:effectLst/>
                <a:latin typeface="+mn-lt"/>
                <a:ea typeface="+mn-ea"/>
                <a:cs typeface="+mn-cs"/>
              </a:rPr>
              <a:t> Foundry provides a deliberate progression. Prompt Agents require no code — they're for prototyping and simple single-agent tasks. Workflow Agents add multi-step automation with optional YAML definitions — ideal for non-developers or rapid iteration. Hosted Agents give you full control with containerized deployments — this is where you bring your own framework code. The key insight is you don't have to pick a tier upfront — you can start with Prompt Agents and graduate to Hosted Agents as complexity grows.</a:t>
            </a:r>
          </a:p>
          <a:p>
            <a:r>
              <a:rPr lang="en-US" sz="1200" b="1" i="0" kern="1200" dirty="0">
                <a:solidFill>
                  <a:schemeClr val="tx1"/>
                </a:solidFill>
                <a:effectLst/>
                <a:latin typeface="+mn-lt"/>
                <a:ea typeface="+mn-ea"/>
                <a:cs typeface="+mn-cs"/>
              </a:rPr>
              <a:t>The "Generate Code" bridge is a game-changer:</a:t>
            </a:r>
            <a:r>
              <a:rPr lang="en-US" sz="1200" b="0" i="0" kern="1200" dirty="0">
                <a:solidFill>
                  <a:schemeClr val="tx1"/>
                </a:solidFill>
                <a:effectLst/>
                <a:latin typeface="+mn-lt"/>
                <a:ea typeface="+mn-ea"/>
                <a:cs typeface="+mn-cs"/>
              </a:rPr>
              <a:t> An important detail not shown on the slide but worth mentioning — Foundry's VS Code integration has a "Generate Code" button that converts Workflow Agent YAML definitions into Agent Framework code using GitHub Copilot. This means a team can prototype visually in the portal, validate the workflow, then seamlessly graduate to a full code-based implementation. It's not a one-way door.</a:t>
            </a:r>
          </a:p>
          <a:p>
            <a:r>
              <a:rPr lang="en-US" sz="1200" b="1" i="0" kern="1200" dirty="0">
                <a:solidFill>
                  <a:schemeClr val="tx1"/>
                </a:solidFill>
                <a:effectLst/>
                <a:latin typeface="+mn-lt"/>
                <a:ea typeface="+mn-ea"/>
                <a:cs typeface="+mn-cs"/>
              </a:rPr>
              <a:t>Azure OpenAI model support is universal — full marks across all three.</a:t>
            </a:r>
            <a:r>
              <a:rPr lang="en-US" sz="1200" b="0" i="0" kern="1200" dirty="0">
                <a:solidFill>
                  <a:schemeClr val="tx1"/>
                </a:solidFill>
                <a:effectLst/>
                <a:latin typeface="+mn-lt"/>
                <a:ea typeface="+mn-ea"/>
                <a:cs typeface="+mn-cs"/>
              </a:rPr>
              <a:t> Semantic Kernel, Agent Framework, and </a:t>
            </a:r>
            <a:r>
              <a:rPr lang="en-US" sz="1200" b="0" i="0" kern="1200" dirty="0" err="1">
                <a:solidFill>
                  <a:schemeClr val="tx1"/>
                </a:solidFill>
                <a:effectLst/>
                <a:latin typeface="+mn-lt"/>
                <a:ea typeface="+mn-ea"/>
                <a:cs typeface="+mn-cs"/>
              </a:rPr>
              <a:t>LangChain</a:t>
            </a:r>
            <a:r>
              <a:rPr lang="en-US" sz="1200" b="0" i="0" kern="1200" dirty="0">
                <a:solidFill>
                  <a:schemeClr val="tx1"/>
                </a:solidFill>
                <a:effectLst/>
                <a:latin typeface="+mn-lt"/>
                <a:ea typeface="+mn-ea"/>
                <a:cs typeface="+mn-cs"/>
              </a:rPr>
              <a:t> all have full support for Azure OpenAI models deployed in Foundry. This includes GPT-4o, GPT-4.1, o3, o4-mini, and the full model catalog. Foundry's OpenAI-compatible API surface means most frameworks "just work" with deployed models — there's no special integration needed.</a:t>
            </a:r>
          </a:p>
          <a:p>
            <a:r>
              <a:rPr lang="en-US" sz="1200" b="1" i="0" kern="1200" dirty="0">
                <a:solidFill>
                  <a:schemeClr val="tx1"/>
                </a:solidFill>
                <a:effectLst/>
                <a:latin typeface="+mn-lt"/>
                <a:ea typeface="+mn-ea"/>
                <a:cs typeface="+mn-cs"/>
              </a:rPr>
              <a:t>Foundry Agent Service integration is strong but uses different APIs:</a:t>
            </a:r>
            <a:r>
              <a:rPr lang="en-US" sz="1200" b="0" i="0" kern="1200" dirty="0">
                <a:solidFill>
                  <a:schemeClr val="tx1"/>
                </a:solidFill>
                <a:effectLst/>
                <a:latin typeface="+mn-lt"/>
                <a:ea typeface="+mn-ea"/>
                <a:cs typeface="+mn-cs"/>
              </a:rPr>
              <a:t> Each framework has its own wrapper for the Foundry Agent Service. Semantic Kernel uses </a:t>
            </a:r>
            <a:r>
              <a:rPr lang="en-US" sz="1200" b="0" i="0" kern="1200" dirty="0" err="1">
                <a:solidFill>
                  <a:schemeClr val="tx1"/>
                </a:solidFill>
                <a:effectLst/>
                <a:latin typeface="+mn-lt"/>
                <a:ea typeface="+mn-ea"/>
                <a:cs typeface="+mn-cs"/>
              </a:rPr>
              <a:t>AzureAIAgent</a:t>
            </a:r>
            <a:r>
              <a:rPr lang="en-US" sz="1200" b="0" i="0" kern="1200" dirty="0">
                <a:solidFill>
                  <a:schemeClr val="tx1"/>
                </a:solidFill>
                <a:effectLst/>
                <a:latin typeface="+mn-lt"/>
                <a:ea typeface="+mn-ea"/>
                <a:cs typeface="+mn-cs"/>
              </a:rPr>
              <a:t>, Agent Framework uses </a:t>
            </a:r>
            <a:r>
              <a:rPr lang="en-US" sz="1200" b="0" i="0" kern="1200" dirty="0" err="1">
                <a:solidFill>
                  <a:schemeClr val="tx1"/>
                </a:solidFill>
                <a:effectLst/>
                <a:latin typeface="+mn-lt"/>
                <a:ea typeface="+mn-ea"/>
                <a:cs typeface="+mn-cs"/>
              </a:rPr>
              <a:t>AzureAIAgentClient</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LangChain</a:t>
            </a:r>
            <a:r>
              <a:rPr lang="en-US" sz="1200" b="0" i="0" kern="1200" dirty="0">
                <a:solidFill>
                  <a:schemeClr val="tx1"/>
                </a:solidFill>
                <a:effectLst/>
                <a:latin typeface="+mn-lt"/>
                <a:ea typeface="+mn-ea"/>
                <a:cs typeface="+mn-cs"/>
              </a:rPr>
              <a:t> uses </a:t>
            </a:r>
            <a:r>
              <a:rPr lang="en-US" sz="1200" b="0" i="0" kern="1200" dirty="0" err="1">
                <a:solidFill>
                  <a:schemeClr val="tx1"/>
                </a:solidFill>
                <a:effectLst/>
                <a:latin typeface="+mn-lt"/>
                <a:ea typeface="+mn-ea"/>
                <a:cs typeface="+mn-cs"/>
              </a:rPr>
              <a:t>AgentServiceFactory</a:t>
            </a:r>
            <a:r>
              <a:rPr lang="en-US" sz="1200" b="0" i="0" kern="1200" dirty="0">
                <a:solidFill>
                  <a:schemeClr val="tx1"/>
                </a:solidFill>
                <a:effectLst/>
                <a:latin typeface="+mn-lt"/>
                <a:ea typeface="+mn-ea"/>
                <a:cs typeface="+mn-cs"/>
              </a:rPr>
              <a:t>. All three give you access to Foundry's built-in tools — file search, code interpreter, web search, Azure Functions, </a:t>
            </a:r>
            <a:r>
              <a:rPr lang="en-US" sz="1200" b="0" i="0" kern="1200" dirty="0" err="1">
                <a:solidFill>
                  <a:schemeClr val="tx1"/>
                </a:solidFill>
                <a:effectLst/>
                <a:latin typeface="+mn-lt"/>
                <a:ea typeface="+mn-ea"/>
                <a:cs typeface="+mn-cs"/>
              </a:rPr>
              <a:t>OpenAPI</a:t>
            </a:r>
            <a:r>
              <a:rPr lang="en-US" sz="1200" b="0" i="0" kern="1200" dirty="0">
                <a:solidFill>
                  <a:schemeClr val="tx1"/>
                </a:solidFill>
                <a:effectLst/>
                <a:latin typeface="+mn-lt"/>
                <a:ea typeface="+mn-ea"/>
                <a:cs typeface="+mn-cs"/>
              </a:rPr>
              <a:t> endpoints. The API names differ but the capabilities are equivalent.</a:t>
            </a:r>
          </a:p>
          <a:p>
            <a:r>
              <a:rPr lang="en-US" sz="1200" b="1" i="0" kern="1200" dirty="0">
                <a:solidFill>
                  <a:schemeClr val="tx1"/>
                </a:solidFill>
                <a:effectLst/>
                <a:latin typeface="+mn-lt"/>
                <a:ea typeface="+mn-ea"/>
                <a:cs typeface="+mn-cs"/>
              </a:rPr>
              <a:t>Hosted deployment is where a gap appears:</a:t>
            </a:r>
            <a:r>
              <a:rPr lang="en-US" sz="1200" b="0" i="0" kern="1200" dirty="0">
                <a:solidFill>
                  <a:schemeClr val="tx1"/>
                </a:solidFill>
                <a:effectLst/>
                <a:latin typeface="+mn-lt"/>
                <a:ea typeface="+mn-ea"/>
                <a:cs typeface="+mn-cs"/>
              </a:rPr>
              <a:t> Agent Framework supports hosted deployment in both Python and C#. </a:t>
            </a:r>
            <a:r>
              <a:rPr lang="en-US" sz="1200" b="0" i="0" kern="1200" dirty="0" err="1">
                <a:solidFill>
                  <a:schemeClr val="tx1"/>
                </a:solidFill>
                <a:effectLst/>
                <a:latin typeface="+mn-lt"/>
                <a:ea typeface="+mn-ea"/>
                <a:cs typeface="+mn-cs"/>
              </a:rPr>
              <a:t>LangChain</a:t>
            </a:r>
            <a:r>
              <a:rPr lang="en-US" sz="1200" b="0" i="0" kern="1200" dirty="0">
                <a:solidFill>
                  <a:schemeClr val="tx1"/>
                </a:solidFill>
                <a:effectLst/>
                <a:latin typeface="+mn-lt"/>
                <a:ea typeface="+mn-ea"/>
                <a:cs typeface="+mn-cs"/>
              </a:rPr>
              <a:t> supports it in Python only. Semantic Kernel doesn't have a direct hosted deployment path. For .NET shops that want to deploy containerized agents to Foundry, the Agent Framework is currently the only option. This is one practical reason the Agent Framework is positioned as the strategic path forward.</a:t>
            </a:r>
          </a:p>
          <a:p>
            <a:r>
              <a:rPr lang="en-US" sz="1200" b="1" i="0" kern="1200" dirty="0">
                <a:solidFill>
                  <a:schemeClr val="tx1"/>
                </a:solidFill>
                <a:effectLst/>
                <a:latin typeface="+mn-lt"/>
                <a:ea typeface="+mn-ea"/>
                <a:cs typeface="+mn-cs"/>
              </a:rPr>
              <a:t>Observability is covered everywhere — but with different backends:</a:t>
            </a:r>
            <a:r>
              <a:rPr lang="en-US" sz="1200" b="0" i="0" kern="1200" dirty="0">
                <a:solidFill>
                  <a:schemeClr val="tx1"/>
                </a:solidFill>
                <a:effectLst/>
                <a:latin typeface="+mn-lt"/>
                <a:ea typeface="+mn-ea"/>
                <a:cs typeface="+mn-cs"/>
              </a:rPr>
              <a:t> Semantic Kernel and Agent Framework both use </a:t>
            </a:r>
            <a:r>
              <a:rPr lang="en-US" sz="1200" b="0" i="0" kern="1200" dirty="0" err="1">
                <a:solidFill>
                  <a:schemeClr val="tx1"/>
                </a:solidFill>
                <a:effectLst/>
                <a:latin typeface="+mn-lt"/>
                <a:ea typeface="+mn-ea"/>
                <a:cs typeface="+mn-cs"/>
              </a:rPr>
              <a:t>OpenTelemetry</a:t>
            </a:r>
            <a:r>
              <a:rPr lang="en-US" sz="1200" b="0" i="0" kern="1200" dirty="0">
                <a:solidFill>
                  <a:schemeClr val="tx1"/>
                </a:solidFill>
                <a:effectLst/>
                <a:latin typeface="+mn-lt"/>
                <a:ea typeface="+mn-ea"/>
                <a:cs typeface="+mn-cs"/>
              </a:rPr>
              <a:t>, which is the industry standard and integrates naturally with Azure Monitor and Application Insights. </a:t>
            </a:r>
            <a:r>
              <a:rPr lang="en-US" sz="1200" b="0" i="0" kern="1200" dirty="0" err="1">
                <a:solidFill>
                  <a:schemeClr val="tx1"/>
                </a:solidFill>
                <a:effectLst/>
                <a:latin typeface="+mn-lt"/>
                <a:ea typeface="+mn-ea"/>
                <a:cs typeface="+mn-cs"/>
              </a:rPr>
              <a:t>LangChain</a:t>
            </a:r>
            <a:r>
              <a:rPr lang="en-US" sz="1200" b="0" i="0" kern="1200" dirty="0">
                <a:solidFill>
                  <a:schemeClr val="tx1"/>
                </a:solidFill>
                <a:effectLst/>
                <a:latin typeface="+mn-lt"/>
                <a:ea typeface="+mn-ea"/>
                <a:cs typeface="+mn-cs"/>
              </a:rPr>
              <a:t> routes through its own </a:t>
            </a:r>
            <a:r>
              <a:rPr lang="en-US" sz="1200" b="0" i="0" kern="1200" dirty="0" err="1">
                <a:solidFill>
                  <a:schemeClr val="tx1"/>
                </a:solidFill>
                <a:effectLst/>
                <a:latin typeface="+mn-lt"/>
                <a:ea typeface="+mn-ea"/>
                <a:cs typeface="+mn-cs"/>
              </a:rPr>
              <a:t>AzureAIOpenTelemetryTracer</a:t>
            </a:r>
            <a:r>
              <a:rPr lang="en-US" sz="1200" b="0" i="0" kern="1200" dirty="0">
                <a:solidFill>
                  <a:schemeClr val="tx1"/>
                </a:solidFill>
                <a:effectLst/>
                <a:latin typeface="+mn-lt"/>
                <a:ea typeface="+mn-ea"/>
                <a:cs typeface="+mn-cs"/>
              </a:rPr>
              <a:t> to App Insights. The end result is similar — you get distributed tracing and agent operation logging — but the instrumentation approach differs. For teams already using </a:t>
            </a:r>
            <a:r>
              <a:rPr lang="en-US" sz="1200" b="0" i="0" kern="1200" dirty="0" err="1">
                <a:solidFill>
                  <a:schemeClr val="tx1"/>
                </a:solidFill>
                <a:effectLst/>
                <a:latin typeface="+mn-lt"/>
                <a:ea typeface="+mn-ea"/>
                <a:cs typeface="+mn-cs"/>
              </a:rPr>
              <a:t>OpenTelemetry</a:t>
            </a:r>
            <a:r>
              <a:rPr lang="en-US" sz="1200" b="0" i="0" kern="1200" dirty="0">
                <a:solidFill>
                  <a:schemeClr val="tx1"/>
                </a:solidFill>
                <a:effectLst/>
                <a:latin typeface="+mn-lt"/>
                <a:ea typeface="+mn-ea"/>
                <a:cs typeface="+mn-cs"/>
              </a:rPr>
              <a:t>, the Microsoft frameworks have a slight edge in consistency.</a:t>
            </a:r>
          </a:p>
          <a:p>
            <a:r>
              <a:rPr lang="en-US" sz="1200" b="1" i="0" kern="1200" dirty="0">
                <a:solidFill>
                  <a:schemeClr val="tx1"/>
                </a:solidFill>
                <a:effectLst/>
                <a:latin typeface="+mn-lt"/>
                <a:ea typeface="+mn-ea"/>
                <a:cs typeface="+mn-cs"/>
              </a:rPr>
              <a:t>Low friction overall for existing Foundry users:</a:t>
            </a:r>
            <a:r>
              <a:rPr lang="en-US" sz="1200" b="0" i="0" kern="1200" dirty="0">
                <a:solidFill>
                  <a:schemeClr val="tx1"/>
                </a:solidFill>
                <a:effectLst/>
                <a:latin typeface="+mn-lt"/>
                <a:ea typeface="+mn-ea"/>
                <a:cs typeface="+mn-cs"/>
              </a:rPr>
              <a:t> The bottom line for this slide is reassuring — there's no vendor lock-in concern around library choice. All three primary frameworks integrate well with Foundry. The OpenAI-compatible API surface minimizes integration friction. Your framework decision should be driven by language preference, pattern coverage, and maturity requirements — not by Foundry compatibility, because they all pass that test.</a:t>
            </a:r>
          </a:p>
          <a:p>
            <a:r>
              <a:rPr lang="en-US" sz="1200" b="1" i="0" kern="1200" dirty="0">
                <a:solidFill>
                  <a:schemeClr val="tx1"/>
                </a:solidFill>
                <a:effectLst/>
                <a:latin typeface="+mn-lt"/>
                <a:ea typeface="+mn-ea"/>
                <a:cs typeface="+mn-cs"/>
              </a:rPr>
              <a:t>Friction points to be aware of:</a:t>
            </a:r>
            <a:r>
              <a:rPr lang="en-US" sz="1200" b="0" i="0" kern="1200" dirty="0">
                <a:solidFill>
                  <a:schemeClr val="tx1"/>
                </a:solidFill>
                <a:effectLst/>
                <a:latin typeface="+mn-lt"/>
                <a:ea typeface="+mn-ea"/>
                <a:cs typeface="+mn-cs"/>
              </a:rPr>
              <a:t> A few things to flag proactively. The Agent Framework and SK's </a:t>
            </a:r>
            <a:r>
              <a:rPr lang="en-US" sz="1200" b="0" i="0" kern="1200" dirty="0" err="1">
                <a:solidFill>
                  <a:schemeClr val="tx1"/>
                </a:solidFill>
                <a:effectLst/>
                <a:latin typeface="+mn-lt"/>
                <a:ea typeface="+mn-ea"/>
                <a:cs typeface="+mn-cs"/>
              </a:rPr>
              <a:t>AzureAIAgent</a:t>
            </a:r>
            <a:r>
              <a:rPr lang="en-US" sz="1200" b="0" i="0" kern="1200" dirty="0">
                <a:solidFill>
                  <a:schemeClr val="tx1"/>
                </a:solidFill>
                <a:effectLst/>
                <a:latin typeface="+mn-lt"/>
                <a:ea typeface="+mn-ea"/>
                <a:cs typeface="+mn-cs"/>
              </a:rPr>
              <a:t> are still in preview/experimental — pin your package versions and plan for API changes. Not all Foundry catalog models support function calling, so check model capabilities before building tool-calling agents. And Foundry's classic portal is being deprecated in March 2027 — ensure you're building on the new Foundry, not classic.</a:t>
            </a:r>
          </a:p>
          <a:p>
            <a:r>
              <a:rPr lang="en-US" sz="1200" b="1" i="0" kern="1200" dirty="0">
                <a:solidFill>
                  <a:schemeClr val="tx1"/>
                </a:solidFill>
                <a:effectLst/>
                <a:latin typeface="+mn-lt"/>
                <a:ea typeface="+mn-ea"/>
                <a:cs typeface="+mn-cs"/>
              </a:rPr>
              <a:t>The recommendation for this audience:</a:t>
            </a:r>
            <a:r>
              <a:rPr lang="en-US" sz="1200" b="0" i="0" kern="1200" dirty="0">
                <a:solidFill>
                  <a:schemeClr val="tx1"/>
                </a:solidFill>
                <a:effectLst/>
                <a:latin typeface="+mn-lt"/>
                <a:ea typeface="+mn-ea"/>
                <a:cs typeface="+mn-cs"/>
              </a:rPr>
              <a:t> Since you're already on Azure AI Foundry, start with Prompt Agents or Workflow Agents for rapid prototyping. When you need full control, graduate to Hosted Agents using the Agent Framework for .NET or Agent Framework/</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for Python. Use the "Generate Code" bridge to make that transition smooth. And monitor the Agent Framework's progress toward GA — it's the strategic consolidation point for the entire Microsoft agent ecosystem.</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11</a:t>
            </a:fld>
            <a:endParaRPr lang="en-US"/>
          </a:p>
        </p:txBody>
      </p:sp>
    </p:spTree>
    <p:extLst>
      <p:ext uri="{BB962C8B-B14F-4D97-AF65-F5344CB8AC3E}">
        <p14:creationId xmlns:p14="http://schemas.microsoft.com/office/powerpoint/2010/main" val="1400454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Azure AI Foundry — Workflow Agents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Workflow Agents are the official replacement for the now-deprecated Connected Agents feature in Foundry Agent Service. They're currently in Preview.</a:t>
            </a:r>
          </a:p>
          <a:p>
            <a:r>
              <a:rPr lang="en-US" sz="1200" b="0" i="0" kern="1200" dirty="0">
                <a:solidFill>
                  <a:schemeClr val="tx1"/>
                </a:solidFill>
                <a:effectLst/>
                <a:latin typeface="+mn-lt"/>
                <a:ea typeface="+mn-ea"/>
                <a:cs typeface="+mn-cs"/>
              </a:rPr>
              <a:t>The core idea is declarative multi-agent orchestration — you define workflows that coordinate multiple agents without writing any code.</a:t>
            </a:r>
          </a:p>
          <a:p>
            <a:r>
              <a:rPr lang="en-US" sz="1200" b="0" i="0" kern="1200" dirty="0">
                <a:solidFill>
                  <a:schemeClr val="tx1"/>
                </a:solidFill>
                <a:effectLst/>
                <a:latin typeface="+mn-lt"/>
                <a:ea typeface="+mn-ea"/>
                <a:cs typeface="+mn-cs"/>
              </a:rPr>
              <a:t>There are three ways to author these workflows, all kept in bidirectional sync:</a:t>
            </a:r>
          </a:p>
          <a:p>
            <a:pPr lvl="1"/>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Foundry Portal visual designer</a:t>
            </a:r>
            <a:r>
              <a:rPr lang="en-US" sz="1200" b="0" i="0" kern="1200" dirty="0">
                <a:solidFill>
                  <a:schemeClr val="tx1"/>
                </a:solidFill>
                <a:effectLst/>
                <a:latin typeface="+mn-lt"/>
                <a:ea typeface="+mn-ea"/>
                <a:cs typeface="+mn-cs"/>
              </a:rPr>
              <a:t> — a node-based drag-and-drop builder with templates to get started quickly.</a:t>
            </a:r>
          </a:p>
          <a:p>
            <a:pPr lvl="1"/>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YAML editor</a:t>
            </a:r>
            <a:r>
              <a:rPr lang="en-US" sz="1200" b="0" i="0" kern="1200" dirty="0">
                <a:solidFill>
                  <a:schemeClr val="tx1"/>
                </a:solidFill>
                <a:effectLst/>
                <a:latin typeface="+mn-lt"/>
                <a:ea typeface="+mn-ea"/>
                <a:cs typeface="+mn-cs"/>
              </a:rPr>
              <a:t> — toggle "YAML Visualizer View" in the portal for a text-based definition.</a:t>
            </a:r>
          </a:p>
          <a:p>
            <a:pPr lvl="1"/>
            <a:r>
              <a:rPr lang="en-US" sz="1200" b="1" i="0" kern="1200" dirty="0">
                <a:solidFill>
                  <a:schemeClr val="tx1"/>
                </a:solidFill>
                <a:effectLst/>
                <a:latin typeface="+mn-lt"/>
                <a:ea typeface="+mn-ea"/>
                <a:cs typeface="+mn-cs"/>
              </a:rPr>
              <a:t>VS Code for the Web</a:t>
            </a:r>
            <a:r>
              <a:rPr lang="en-US" sz="1200" b="0" i="0" kern="1200" dirty="0">
                <a:solidFill>
                  <a:schemeClr val="tx1"/>
                </a:solidFill>
                <a:effectLst/>
                <a:latin typeface="+mn-lt"/>
                <a:ea typeface="+mn-ea"/>
                <a:cs typeface="+mn-cs"/>
              </a:rPr>
              <a:t> — gives you YAML and a visual graph side-by-side, which is the most developer-friendly option.</a:t>
            </a:r>
          </a:p>
          <a:p>
            <a:r>
              <a:rPr lang="en-US" sz="1200" b="0" i="0" kern="1200" dirty="0">
                <a:solidFill>
                  <a:schemeClr val="tx1"/>
                </a:solidFill>
                <a:effectLst/>
                <a:latin typeface="+mn-lt"/>
                <a:ea typeface="+mn-ea"/>
                <a:cs typeface="+mn-cs"/>
              </a:rPr>
              <a:t>Workflows are composed of four node types:</a:t>
            </a:r>
          </a:p>
          <a:p>
            <a:pPr lvl="1"/>
            <a:r>
              <a:rPr lang="en-US" sz="1200" b="1" i="0" kern="1200" dirty="0">
                <a:solidFill>
                  <a:schemeClr val="tx1"/>
                </a:solidFill>
                <a:effectLst/>
                <a:latin typeface="+mn-lt"/>
                <a:ea typeface="+mn-ea"/>
                <a:cs typeface="+mn-cs"/>
              </a:rPr>
              <a:t>Agent nodes</a:t>
            </a:r>
            <a:r>
              <a:rPr lang="en-US" sz="1200" b="0" i="0" kern="1200" dirty="0">
                <a:solidFill>
                  <a:schemeClr val="tx1"/>
                </a:solidFill>
                <a:effectLst/>
                <a:latin typeface="+mn-lt"/>
                <a:ea typeface="+mn-ea"/>
                <a:cs typeface="+mn-cs"/>
              </a:rPr>
              <a:t> invoke existing Foundry agents you've already built (prompt agents or other workflow agents).</a:t>
            </a:r>
          </a:p>
          <a:p>
            <a:pPr lvl="1"/>
            <a:r>
              <a:rPr lang="en-US" sz="1200" b="1" i="0" kern="1200" dirty="0">
                <a:solidFill>
                  <a:schemeClr val="tx1"/>
                </a:solidFill>
                <a:effectLst/>
                <a:latin typeface="+mn-lt"/>
                <a:ea typeface="+mn-ea"/>
                <a:cs typeface="+mn-cs"/>
              </a:rPr>
              <a:t>Logic nodes</a:t>
            </a:r>
            <a:r>
              <a:rPr lang="en-US" sz="1200" b="0" i="0" kern="1200" dirty="0">
                <a:solidFill>
                  <a:schemeClr val="tx1"/>
                </a:solidFill>
                <a:effectLst/>
                <a:latin typeface="+mn-lt"/>
                <a:ea typeface="+mn-ea"/>
                <a:cs typeface="+mn-cs"/>
              </a:rPr>
              <a:t> handle control flow — if/else branching, go-to jumps, and for-each loops.</a:t>
            </a:r>
          </a:p>
          <a:p>
            <a:pPr lvl="1"/>
            <a:r>
              <a:rPr lang="en-US" sz="1200" b="1" i="0" kern="1200" dirty="0">
                <a:solidFill>
                  <a:schemeClr val="tx1"/>
                </a:solidFill>
                <a:effectLst/>
                <a:latin typeface="+mn-lt"/>
                <a:ea typeface="+mn-ea"/>
                <a:cs typeface="+mn-cs"/>
              </a:rPr>
              <a:t>Data nodes</a:t>
            </a:r>
            <a:r>
              <a:rPr lang="en-US" sz="1200" b="0" i="0" kern="1200" dirty="0">
                <a:solidFill>
                  <a:schemeClr val="tx1"/>
                </a:solidFill>
                <a:effectLst/>
                <a:latin typeface="+mn-lt"/>
                <a:ea typeface="+mn-ea"/>
                <a:cs typeface="+mn-cs"/>
              </a:rPr>
              <a:t> manage variables, parsing, and transformations between steps.</a:t>
            </a:r>
          </a:p>
          <a:p>
            <a:pPr lvl="1"/>
            <a:r>
              <a:rPr lang="en-US" sz="1200" b="1" i="0" kern="1200" dirty="0">
                <a:solidFill>
                  <a:schemeClr val="tx1"/>
                </a:solidFill>
                <a:effectLst/>
                <a:latin typeface="+mn-lt"/>
                <a:ea typeface="+mn-ea"/>
                <a:cs typeface="+mn-cs"/>
              </a:rPr>
              <a:t>Basic Chat nodes</a:t>
            </a:r>
            <a:r>
              <a:rPr lang="en-US" sz="1200" b="0" i="0" kern="1200" dirty="0">
                <a:solidFill>
                  <a:schemeClr val="tx1"/>
                </a:solidFill>
                <a:effectLst/>
                <a:latin typeface="+mn-lt"/>
                <a:ea typeface="+mn-ea"/>
                <a:cs typeface="+mn-cs"/>
              </a:rPr>
              <a:t> handle direct messages and user questions within the flow.</a:t>
            </a:r>
          </a:p>
          <a:p>
            <a:r>
              <a:rPr lang="en-US" sz="1200" b="0" i="0" kern="1200" dirty="0">
                <a:solidFill>
                  <a:schemeClr val="tx1"/>
                </a:solidFill>
                <a:effectLst/>
                <a:latin typeface="+mn-lt"/>
                <a:ea typeface="+mn-ea"/>
                <a:cs typeface="+mn-cs"/>
              </a:rPr>
              <a:t>All conditions and variable logic use </a:t>
            </a:r>
            <a:r>
              <a:rPr lang="en-US" sz="1200" b="1" i="0" kern="1200" dirty="0">
                <a:solidFill>
                  <a:schemeClr val="tx1"/>
                </a:solidFill>
                <a:effectLst/>
                <a:latin typeface="+mn-lt"/>
                <a:ea typeface="+mn-ea"/>
                <a:cs typeface="+mn-cs"/>
              </a:rPr>
              <a:t>Power </a:t>
            </a:r>
            <a:r>
              <a:rPr lang="en-US" sz="1200" b="1" i="0" kern="1200" dirty="0" err="1">
                <a:solidFill>
                  <a:schemeClr val="tx1"/>
                </a:solidFill>
                <a:effectLst/>
                <a:latin typeface="+mn-lt"/>
                <a:ea typeface="+mn-ea"/>
                <a:cs typeface="+mn-cs"/>
              </a:rPr>
              <a:t>Fx</a:t>
            </a:r>
            <a:r>
              <a:rPr lang="en-US" sz="1200" b="0" i="0" kern="1200" dirty="0">
                <a:solidFill>
                  <a:schemeClr val="tx1"/>
                </a:solidFill>
                <a:effectLst/>
                <a:latin typeface="+mn-lt"/>
                <a:ea typeface="+mn-ea"/>
                <a:cs typeface="+mn-cs"/>
              </a:rPr>
              <a:t> — the same Excel-like formula language used in Power Platform. This lowers the barrier for non-developers who are already familiar with Excel formulas.</a:t>
            </a:r>
          </a:p>
          <a:p>
            <a:r>
              <a:rPr lang="en-US" sz="1200" b="0" i="0" kern="1200" dirty="0">
                <a:solidFill>
                  <a:schemeClr val="tx1"/>
                </a:solidFill>
                <a:effectLst/>
                <a:latin typeface="+mn-lt"/>
                <a:ea typeface="+mn-ea"/>
                <a:cs typeface="+mn-cs"/>
              </a:rPr>
              <a:t>Today there are three built-in templates: Sequential (linear agent chains), Group Chat (multiple agents collaborating in a shared thread), and Human-in-the-Loop (pause for human review/approval).</a:t>
            </a:r>
          </a:p>
          <a:p>
            <a:r>
              <a:rPr lang="en-US" sz="1200" b="0" i="0" kern="1200" dirty="0">
                <a:solidFill>
                  <a:schemeClr val="tx1"/>
                </a:solidFill>
                <a:effectLst/>
                <a:latin typeface="+mn-lt"/>
                <a:ea typeface="+mn-ea"/>
                <a:cs typeface="+mn-cs"/>
              </a:rPr>
              <a:t>A key cost advantage: Workflow Agents use </a:t>
            </a:r>
            <a:r>
              <a:rPr lang="en-US" sz="1200" b="1" i="0" kern="1200" dirty="0">
                <a:solidFill>
                  <a:schemeClr val="tx1"/>
                </a:solidFill>
                <a:effectLst/>
                <a:latin typeface="+mn-lt"/>
                <a:ea typeface="+mn-ea"/>
                <a:cs typeface="+mn-cs"/>
              </a:rPr>
              <a:t>token-only pricing</a:t>
            </a:r>
            <a:r>
              <a:rPr lang="en-US" sz="1200" b="0" i="0" kern="1200" dirty="0">
                <a:solidFill>
                  <a:schemeClr val="tx1"/>
                </a:solidFill>
                <a:effectLst/>
                <a:latin typeface="+mn-lt"/>
                <a:ea typeface="+mn-ea"/>
                <a:cs typeface="+mn-cs"/>
              </a:rPr>
              <a:t> — there are no separate compute charges. You only pay for the model inference tokens consumed.</a:t>
            </a:r>
          </a:p>
          <a:p>
            <a:r>
              <a:rPr lang="en-US" sz="1200" b="0" i="0" kern="1200" dirty="0">
                <a:solidFill>
                  <a:schemeClr val="tx1"/>
                </a:solidFill>
                <a:effectLst/>
                <a:latin typeface="+mn-lt"/>
                <a:ea typeface="+mn-ea"/>
                <a:cs typeface="+mn-cs"/>
              </a:rPr>
              <a:t>For teams that outgrow the no-code approach, the VS Code "Generate Code" button converts your Foundry YAML workflow into Agent Framework code (Python or C#) using GitHub Copilot — so nothing is throwaway work.</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12</a:t>
            </a:fld>
            <a:endParaRPr lang="en-US"/>
          </a:p>
        </p:txBody>
      </p:sp>
    </p:spTree>
    <p:extLst>
      <p:ext uri="{BB962C8B-B14F-4D97-AF65-F5344CB8AC3E}">
        <p14:creationId xmlns:p14="http://schemas.microsoft.com/office/powerpoint/2010/main" val="20923079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Agent Framework — Workflow API</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Microsoft Agent Framework is the next-generation SDK that unifies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and Semantic Kernel's agent capabilities. It's created by the same teams and is currently in public preview, available for both Python and C#.</a:t>
            </a:r>
          </a:p>
          <a:p>
            <a:r>
              <a:rPr lang="en-US" sz="1200" b="0" i="0" kern="1200" dirty="0">
                <a:solidFill>
                  <a:schemeClr val="tx1"/>
                </a:solidFill>
                <a:effectLst/>
                <a:latin typeface="+mn-lt"/>
                <a:ea typeface="+mn-ea"/>
                <a:cs typeface="+mn-cs"/>
              </a:rPr>
              <a:t>The key architectural innovation is a </a:t>
            </a:r>
            <a:r>
              <a:rPr lang="en-US" sz="1200" b="1" i="0" kern="1200" dirty="0">
                <a:solidFill>
                  <a:schemeClr val="tx1"/>
                </a:solidFill>
                <a:effectLst/>
                <a:latin typeface="+mn-lt"/>
                <a:ea typeface="+mn-ea"/>
                <a:cs typeface="+mn-cs"/>
              </a:rPr>
              <a:t>data-flow graph model</a:t>
            </a:r>
            <a:r>
              <a:rPr lang="en-US" sz="1200" b="0" i="0" kern="1200" dirty="0">
                <a:solidFill>
                  <a:schemeClr val="tx1"/>
                </a:solidFill>
                <a:effectLst/>
                <a:latin typeface="+mn-lt"/>
                <a:ea typeface="+mn-ea"/>
                <a:cs typeface="+mn-cs"/>
              </a:rPr>
              <a:t>. Unlike </a:t>
            </a:r>
            <a:r>
              <a:rPr lang="en-US" sz="1200" b="0" i="0" kern="1200" dirty="0" err="1">
                <a:solidFill>
                  <a:schemeClr val="tx1"/>
                </a:solidFill>
                <a:effectLst/>
                <a:latin typeface="+mn-lt"/>
                <a:ea typeface="+mn-ea"/>
                <a:cs typeface="+mn-cs"/>
              </a:rPr>
              <a:t>AutoGen's</a:t>
            </a:r>
            <a:r>
              <a:rPr lang="en-US" sz="1200" b="0" i="0" kern="1200" dirty="0">
                <a:solidFill>
                  <a:schemeClr val="tx1"/>
                </a:solidFill>
                <a:effectLst/>
                <a:latin typeface="+mn-lt"/>
                <a:ea typeface="+mn-ea"/>
                <a:cs typeface="+mn-cs"/>
              </a:rPr>
              <a:t> control-flow approach where edges are transitions, the Agent Framework uses typed edges that route messages between executors. This is a fundamental shift — edges carry data, not just control signals.</a:t>
            </a:r>
          </a:p>
          <a:p>
            <a:r>
              <a:rPr lang="en-US" sz="1200" b="0" i="0" kern="1200" dirty="0">
                <a:solidFill>
                  <a:schemeClr val="tx1"/>
                </a:solidFill>
                <a:effectLst/>
                <a:latin typeface="+mn-lt"/>
                <a:ea typeface="+mn-ea"/>
                <a:cs typeface="+mn-cs"/>
              </a:rPr>
              <a:t>The Workflow API uses a </a:t>
            </a:r>
            <a:r>
              <a:rPr lang="en-US" sz="1200" b="1" i="0" kern="1200" dirty="0">
                <a:solidFill>
                  <a:schemeClr val="tx1"/>
                </a:solidFill>
                <a:effectLst/>
                <a:latin typeface="+mn-lt"/>
                <a:ea typeface="+mn-ea"/>
                <a:cs typeface="+mn-cs"/>
              </a:rPr>
              <a:t>modified Pregel (Bulk Synchronous Parallel) </a:t>
            </a:r>
            <a:r>
              <a:rPr lang="en-US" sz="1200" b="1" i="0" kern="1200" dirty="0" err="1">
                <a:solidFill>
                  <a:schemeClr val="tx1"/>
                </a:solidFill>
                <a:effectLst/>
                <a:latin typeface="+mn-lt"/>
                <a:ea typeface="+mn-ea"/>
                <a:cs typeface="+mn-cs"/>
              </a:rPr>
              <a:t>superstep</a:t>
            </a:r>
            <a:r>
              <a:rPr lang="en-US" sz="1200" b="1" i="0" kern="1200" dirty="0">
                <a:solidFill>
                  <a:schemeClr val="tx1"/>
                </a:solidFill>
                <a:effectLst/>
                <a:latin typeface="+mn-lt"/>
                <a:ea typeface="+mn-ea"/>
                <a:cs typeface="+mn-cs"/>
              </a:rPr>
              <a:t> execution model</a:t>
            </a:r>
            <a:r>
              <a:rPr lang="en-US" sz="1200" b="0" i="0" kern="1200" dirty="0">
                <a:solidFill>
                  <a:schemeClr val="tx1"/>
                </a:solidFill>
                <a:effectLst/>
                <a:latin typeface="+mn-lt"/>
                <a:ea typeface="+mn-ea"/>
                <a:cs typeface="+mn-cs"/>
              </a:rPr>
              <a:t> with four phases that repeat:</a:t>
            </a:r>
          </a:p>
          <a:p>
            <a:pPr lvl="1"/>
            <a:r>
              <a:rPr lang="en-US" sz="1200" b="1" i="0" kern="1200" dirty="0">
                <a:solidFill>
                  <a:schemeClr val="tx1"/>
                </a:solidFill>
                <a:effectLst/>
                <a:latin typeface="+mn-lt"/>
                <a:ea typeface="+mn-ea"/>
                <a:cs typeface="+mn-cs"/>
              </a:rPr>
              <a:t>Collect</a:t>
            </a:r>
            <a:r>
              <a:rPr lang="en-US" sz="1200" b="0" i="0" kern="1200" dirty="0">
                <a:solidFill>
                  <a:schemeClr val="tx1"/>
                </a:solidFill>
                <a:effectLst/>
                <a:latin typeface="+mn-lt"/>
                <a:ea typeface="+mn-ea"/>
                <a:cs typeface="+mn-cs"/>
              </a:rPr>
              <a:t> all pending messages from the previous </a:t>
            </a:r>
            <a:r>
              <a:rPr lang="en-US" sz="1200" b="0" i="0" kern="1200" dirty="0" err="1">
                <a:solidFill>
                  <a:schemeClr val="tx1"/>
                </a:solidFill>
                <a:effectLst/>
                <a:latin typeface="+mn-lt"/>
                <a:ea typeface="+mn-ea"/>
                <a:cs typeface="+mn-cs"/>
              </a:rPr>
              <a:t>superstep</a:t>
            </a:r>
            <a:r>
              <a:rPr lang="en-US" sz="1200" b="0" i="0" kern="1200" dirty="0">
                <a:solidFill>
                  <a:schemeClr val="tx1"/>
                </a:solidFill>
                <a:effectLst/>
                <a:latin typeface="+mn-lt"/>
                <a:ea typeface="+mn-ea"/>
                <a:cs typeface="+mn-cs"/>
              </a:rPr>
              <a:t>.</a:t>
            </a:r>
          </a:p>
          <a:p>
            <a:pPr lvl="1"/>
            <a:r>
              <a:rPr lang="en-US" sz="1200" b="1" i="0" kern="1200" dirty="0">
                <a:solidFill>
                  <a:schemeClr val="tx1"/>
                </a:solidFill>
                <a:effectLst/>
                <a:latin typeface="+mn-lt"/>
                <a:ea typeface="+mn-ea"/>
                <a:cs typeface="+mn-cs"/>
              </a:rPr>
              <a:t>Route</a:t>
            </a:r>
            <a:r>
              <a:rPr lang="en-US" sz="1200" b="0" i="0" kern="1200" dirty="0">
                <a:solidFill>
                  <a:schemeClr val="tx1"/>
                </a:solidFill>
                <a:effectLst/>
                <a:latin typeface="+mn-lt"/>
                <a:ea typeface="+mn-ea"/>
                <a:cs typeface="+mn-cs"/>
              </a:rPr>
              <a:t> them to target executors based on typed edge definitions.</a:t>
            </a:r>
          </a:p>
          <a:p>
            <a:pPr lvl="1"/>
            <a:r>
              <a:rPr lang="en-US" sz="1200" b="1" i="0" kern="1200" dirty="0">
                <a:solidFill>
                  <a:schemeClr val="tx1"/>
                </a:solidFill>
                <a:effectLst/>
                <a:latin typeface="+mn-lt"/>
                <a:ea typeface="+mn-ea"/>
                <a:cs typeface="+mn-cs"/>
              </a:rPr>
              <a:t>Run</a:t>
            </a:r>
            <a:r>
              <a:rPr lang="en-US" sz="1200" b="0" i="0" kern="1200" dirty="0">
                <a:solidFill>
                  <a:schemeClr val="tx1"/>
                </a:solidFill>
                <a:effectLst/>
                <a:latin typeface="+mn-lt"/>
                <a:ea typeface="+mn-ea"/>
                <a:cs typeface="+mn-cs"/>
              </a:rPr>
              <a:t> all target executors concurrently within a synchronization barrier.</a:t>
            </a:r>
          </a:p>
          <a:p>
            <a:pPr lvl="1"/>
            <a:r>
              <a:rPr lang="en-US" sz="1200" b="1" i="0" kern="1200" dirty="0">
                <a:solidFill>
                  <a:schemeClr val="tx1"/>
                </a:solidFill>
                <a:effectLst/>
                <a:latin typeface="+mn-lt"/>
                <a:ea typeface="+mn-ea"/>
                <a:cs typeface="+mn-cs"/>
              </a:rPr>
              <a:t>Queue</a:t>
            </a:r>
            <a:r>
              <a:rPr lang="en-US" sz="1200" b="0" i="0" kern="1200" dirty="0">
                <a:solidFill>
                  <a:schemeClr val="tx1"/>
                </a:solidFill>
                <a:effectLst/>
                <a:latin typeface="+mn-lt"/>
                <a:ea typeface="+mn-ea"/>
                <a:cs typeface="+mn-cs"/>
              </a:rPr>
              <a:t> any new messages for the next </a:t>
            </a:r>
            <a:r>
              <a:rPr lang="en-US" sz="1200" b="0" i="0" kern="1200" dirty="0" err="1">
                <a:solidFill>
                  <a:schemeClr val="tx1"/>
                </a:solidFill>
                <a:effectLst/>
                <a:latin typeface="+mn-lt"/>
                <a:ea typeface="+mn-ea"/>
                <a:cs typeface="+mn-cs"/>
              </a:rPr>
              <a:t>superstep</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This </a:t>
            </a:r>
            <a:r>
              <a:rPr lang="en-US" sz="1200" b="0" i="0" kern="1200" dirty="0" err="1">
                <a:solidFill>
                  <a:schemeClr val="tx1"/>
                </a:solidFill>
                <a:effectLst/>
                <a:latin typeface="+mn-lt"/>
                <a:ea typeface="+mn-ea"/>
                <a:cs typeface="+mn-cs"/>
              </a:rPr>
              <a:t>superstep</a:t>
            </a:r>
            <a:r>
              <a:rPr lang="en-US" sz="1200" b="0" i="0" kern="1200" dirty="0">
                <a:solidFill>
                  <a:schemeClr val="tx1"/>
                </a:solidFill>
                <a:effectLst/>
                <a:latin typeface="+mn-lt"/>
                <a:ea typeface="+mn-ea"/>
                <a:cs typeface="+mn-cs"/>
              </a:rPr>
              <a:t> model gives you deterministic execution with no race conditions — all executors within a </a:t>
            </a:r>
            <a:r>
              <a:rPr lang="en-US" sz="1200" b="0" i="0" kern="1200" dirty="0" err="1">
                <a:solidFill>
                  <a:schemeClr val="tx1"/>
                </a:solidFill>
                <a:effectLst/>
                <a:latin typeface="+mn-lt"/>
                <a:ea typeface="+mn-ea"/>
                <a:cs typeface="+mn-cs"/>
              </a:rPr>
              <a:t>superstep</a:t>
            </a:r>
            <a:r>
              <a:rPr lang="en-US" sz="1200" b="0" i="0" kern="1200" dirty="0">
                <a:solidFill>
                  <a:schemeClr val="tx1"/>
                </a:solidFill>
                <a:effectLst/>
                <a:latin typeface="+mn-lt"/>
                <a:ea typeface="+mn-ea"/>
                <a:cs typeface="+mn-cs"/>
              </a:rPr>
              <a:t> run in parallel, but there's a hard synchronization barrier between </a:t>
            </a:r>
            <a:r>
              <a:rPr lang="en-US" sz="1200" b="0" i="0" kern="1200" dirty="0" err="1">
                <a:solidFill>
                  <a:schemeClr val="tx1"/>
                </a:solidFill>
                <a:effectLst/>
                <a:latin typeface="+mn-lt"/>
                <a:ea typeface="+mn-ea"/>
                <a:cs typeface="+mn-cs"/>
              </a:rPr>
              <a:t>supersteps</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Checkpointing is built in</a:t>
            </a:r>
            <a:r>
              <a:rPr lang="en-US" sz="1200" b="0" i="0" kern="1200" dirty="0">
                <a:solidFill>
                  <a:schemeClr val="tx1"/>
                </a:solidFill>
                <a:effectLst/>
                <a:latin typeface="+mn-lt"/>
                <a:ea typeface="+mn-ea"/>
                <a:cs typeface="+mn-cs"/>
              </a:rPr>
              <a:t> at each </a:t>
            </a:r>
            <a:r>
              <a:rPr lang="en-US" sz="1200" b="0" i="0" kern="1200" dirty="0" err="1">
                <a:solidFill>
                  <a:schemeClr val="tx1"/>
                </a:solidFill>
                <a:effectLst/>
                <a:latin typeface="+mn-lt"/>
                <a:ea typeface="+mn-ea"/>
                <a:cs typeface="+mn-cs"/>
              </a:rPr>
              <a:t>superstep</a:t>
            </a:r>
            <a:r>
              <a:rPr lang="en-US" sz="1200" b="0" i="0" kern="1200" dirty="0">
                <a:solidFill>
                  <a:schemeClr val="tx1"/>
                </a:solidFill>
                <a:effectLst/>
                <a:latin typeface="+mn-lt"/>
                <a:ea typeface="+mn-ea"/>
                <a:cs typeface="+mn-cs"/>
              </a:rPr>
              <a:t> boundary. This means you get reliable state persistence, fault recovery, and the ability to resume workflows after failures — something you had to build yourself in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There are </a:t>
            </a:r>
            <a:r>
              <a:rPr lang="en-US" sz="1200" b="1" i="0" kern="1200" dirty="0">
                <a:solidFill>
                  <a:schemeClr val="tx1"/>
                </a:solidFill>
                <a:effectLst/>
                <a:latin typeface="+mn-lt"/>
                <a:ea typeface="+mn-ea"/>
                <a:cs typeface="+mn-cs"/>
              </a:rPr>
              <a:t>three executor types</a:t>
            </a:r>
            <a:r>
              <a:rPr lang="en-US" sz="1200" b="0" i="0" kern="1200" dirty="0">
                <a:solidFill>
                  <a:schemeClr val="tx1"/>
                </a:solidFill>
                <a:effectLst/>
                <a:latin typeface="+mn-lt"/>
                <a:ea typeface="+mn-ea"/>
                <a:cs typeface="+mn-cs"/>
              </a:rPr>
              <a:t> — your graph nodes aren't limited to just agents. You can use custom logic functions, AI agents (which are auto-wrapped as executors), or nested sub-workflows for composability.</a:t>
            </a:r>
          </a:p>
          <a:p>
            <a:r>
              <a:rPr lang="en-US" sz="1200" b="1" i="0" kern="1200" dirty="0">
                <a:solidFill>
                  <a:schemeClr val="tx1"/>
                </a:solidFill>
                <a:effectLst/>
                <a:latin typeface="+mn-lt"/>
                <a:ea typeface="+mn-ea"/>
                <a:cs typeface="+mn-cs"/>
              </a:rPr>
              <a:t>Five edge types</a:t>
            </a:r>
            <a:r>
              <a:rPr lang="en-US" sz="1200" b="0" i="0" kern="1200" dirty="0">
                <a:solidFill>
                  <a:schemeClr val="tx1"/>
                </a:solidFill>
                <a:effectLst/>
                <a:latin typeface="+mn-lt"/>
                <a:ea typeface="+mn-ea"/>
                <a:cs typeface="+mn-cs"/>
              </a:rPr>
              <a:t> give you flexible routing: direct one-to-one connections, conditional edges with predicate functions, switch-case for multi-branch routing, fan-out to dispatch to multiple executors in parallel, and fan-in barriers that wait for all sources before aggregating.</a:t>
            </a:r>
          </a:p>
          <a:p>
            <a:r>
              <a:rPr lang="en-US" sz="1200" b="0" i="0" kern="1200" dirty="0">
                <a:solidFill>
                  <a:schemeClr val="tx1"/>
                </a:solidFill>
                <a:effectLst/>
                <a:latin typeface="+mn-lt"/>
                <a:ea typeface="+mn-ea"/>
                <a:cs typeface="+mn-cs"/>
              </a:rPr>
              <a:t>The framework ships with </a:t>
            </a:r>
            <a:r>
              <a:rPr lang="en-US" sz="1200" b="1" i="0" kern="1200" dirty="0">
                <a:solidFill>
                  <a:schemeClr val="tx1"/>
                </a:solidFill>
                <a:effectLst/>
                <a:latin typeface="+mn-lt"/>
                <a:ea typeface="+mn-ea"/>
                <a:cs typeface="+mn-cs"/>
              </a:rPr>
              <a:t>five pre-built orchestration pattern builders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SequentialBuilder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ConcurrentBuilder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HandoffBuilder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GroupChatBuilder</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MagenticBuilder</a:t>
            </a:r>
            <a:r>
              <a:rPr lang="en-US" sz="1200" b="0" i="0" kern="1200" dirty="0">
                <a:solidFill>
                  <a:schemeClr val="tx1"/>
                </a:solidFill>
                <a:effectLst/>
                <a:latin typeface="+mn-lt"/>
                <a:ea typeface="+mn-ea"/>
                <a:cs typeface="+mn-cs"/>
              </a:rPr>
              <a:t>. These internally construct </a:t>
            </a:r>
            <a:r>
              <a:rPr lang="en-US" sz="1200" b="0" i="0" kern="1200" dirty="0" err="1">
                <a:solidFill>
                  <a:schemeClr val="tx1"/>
                </a:solidFill>
                <a:effectLst/>
                <a:latin typeface="+mn-lt"/>
                <a:ea typeface="+mn-ea"/>
                <a:cs typeface="+mn-cs"/>
              </a:rPr>
              <a:t>WorkflowBuilder</a:t>
            </a:r>
            <a:r>
              <a:rPr lang="en-US" sz="1200" b="0" i="0" kern="1200" dirty="0">
                <a:solidFill>
                  <a:schemeClr val="tx1"/>
                </a:solidFill>
                <a:effectLst/>
                <a:latin typeface="+mn-lt"/>
                <a:ea typeface="+mn-ea"/>
                <a:cs typeface="+mn-cs"/>
              </a:rPr>
              <a:t> graphs, so you get the convenience of high-level patterns with the flexibility to drop down to the raw graph API when needed.</a:t>
            </a:r>
          </a:p>
          <a:p>
            <a:r>
              <a:rPr lang="en-US" sz="1200" b="1" i="0" kern="1200" dirty="0">
                <a:solidFill>
                  <a:schemeClr val="tx1"/>
                </a:solidFill>
                <a:effectLst/>
                <a:latin typeface="+mn-lt"/>
                <a:ea typeface="+mn-ea"/>
                <a:cs typeface="+mn-cs"/>
              </a:rPr>
              <a:t>Human-in-the-loop is a first-class concept</a:t>
            </a:r>
            <a:r>
              <a:rPr lang="en-US" sz="1200" b="0" i="0" kern="1200" dirty="0">
                <a:solidFill>
                  <a:schemeClr val="tx1"/>
                </a:solidFill>
                <a:effectLst/>
                <a:latin typeface="+mn-lt"/>
                <a:ea typeface="+mn-ea"/>
                <a:cs typeface="+mn-cs"/>
              </a:rPr>
              <a:t>, not an afterthought. You call </a:t>
            </a:r>
            <a:r>
              <a:rPr lang="en-US" sz="1200" b="0" i="0" kern="1200" dirty="0" err="1">
                <a:solidFill>
                  <a:schemeClr val="tx1"/>
                </a:solidFill>
                <a:effectLst/>
                <a:latin typeface="+mn-lt"/>
                <a:ea typeface="+mn-ea"/>
                <a:cs typeface="+mn-cs"/>
              </a:rPr>
              <a:t>ctx.request_info</a:t>
            </a:r>
            <a:r>
              <a:rPr lang="en-US" sz="1200" b="0" i="0" kern="1200" dirty="0">
                <a:solidFill>
                  <a:schemeClr val="tx1"/>
                </a:solidFill>
                <a:effectLst/>
                <a:latin typeface="+mn-lt"/>
                <a:ea typeface="+mn-ea"/>
                <a:cs typeface="+mn-cs"/>
              </a:rPr>
              <a:t>() to pause the workflow, and checkpoint persistence means the workflow survives server restarts while waiting for human input — zero compute cost during the wait.</a:t>
            </a:r>
          </a:p>
          <a:p>
            <a:r>
              <a:rPr lang="en-US" sz="1200" b="0" i="0" kern="1200" dirty="0">
                <a:solidFill>
                  <a:schemeClr val="tx1"/>
                </a:solidFill>
                <a:effectLst/>
                <a:latin typeface="+mn-lt"/>
                <a:ea typeface="+mn-ea"/>
                <a:cs typeface="+mn-cs"/>
              </a:rPr>
              <a:t>If you're coming from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there are official migration guides. The main things to know: agents become executors, message broadcast becomes edge-based activation, and you get strong typing throughout.</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13</a:t>
            </a:fld>
            <a:endParaRPr lang="en-US"/>
          </a:p>
        </p:txBody>
      </p:sp>
    </p:spTree>
    <p:extLst>
      <p:ext uri="{BB962C8B-B14F-4D97-AF65-F5344CB8AC3E}">
        <p14:creationId xmlns:p14="http://schemas.microsoft.com/office/powerpoint/2010/main" val="7550534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Agent2Agent (A2A) Protocol</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What is A2A:</a:t>
            </a:r>
            <a:r>
              <a:rPr lang="en-US" sz="1200" b="0" i="0" kern="1200" dirty="0">
                <a:solidFill>
                  <a:schemeClr val="tx1"/>
                </a:solidFill>
                <a:effectLst/>
                <a:latin typeface="+mn-lt"/>
                <a:ea typeface="+mn-ea"/>
                <a:cs typeface="+mn-cs"/>
              </a:rPr>
              <a:t> The Agent2Agent protocol is an open standard — version 1.0.0 — for agent-to-agent communication. It was originally developed by Google and is now governed by the Linux Foundation. Think of it as HTTP for agents — a common language that lets agents built in different frameworks, different languages, by different teams, discover each other and collaborate.</a:t>
            </a:r>
          </a:p>
          <a:p>
            <a:r>
              <a:rPr lang="en-US" sz="1200" b="1" i="0" kern="1200" dirty="0">
                <a:solidFill>
                  <a:schemeClr val="tx1"/>
                </a:solidFill>
                <a:effectLst/>
                <a:latin typeface="+mn-lt"/>
                <a:ea typeface="+mn-ea"/>
                <a:cs typeface="+mn-cs"/>
              </a:rPr>
              <a:t>The A2A vs MCP distinction — this is the most important concept on this slide:</a:t>
            </a:r>
            <a:r>
              <a:rPr lang="en-US" sz="1200" b="0" i="0" kern="1200" dirty="0">
                <a:solidFill>
                  <a:schemeClr val="tx1"/>
                </a:solidFill>
                <a:effectLst/>
                <a:latin typeface="+mn-lt"/>
                <a:ea typeface="+mn-ea"/>
                <a:cs typeface="+mn-cs"/>
              </a:rPr>
              <a:t> These are two complementary protocols, not competitors. A2A is outward-facing — it defines how agents talk to other agents. MCP is inward-facing — it defines how an agent talks to its own tools and resources. The analogy on the slide captures it well: A2A is the "public internet" between agents, while MCP is the "how-to" for using a specific tool. In a real system, an A2A Client sends a task to an A2A Server agent, and that Server agent may internally use MCP to invoke tools to complete the work.</a:t>
            </a:r>
          </a:p>
          <a:p>
            <a:r>
              <a:rPr lang="en-US" sz="1200" b="1" i="0" kern="1200" dirty="0">
                <a:solidFill>
                  <a:schemeClr val="tx1"/>
                </a:solidFill>
                <a:effectLst/>
                <a:latin typeface="+mn-lt"/>
                <a:ea typeface="+mn-ea"/>
                <a:cs typeface="+mn-cs"/>
              </a:rPr>
              <a:t>Why A2A matters for enterprise:</a:t>
            </a:r>
            <a:r>
              <a:rPr lang="en-US" sz="1200" b="0" i="0" kern="1200" dirty="0">
                <a:solidFill>
                  <a:schemeClr val="tx1"/>
                </a:solidFill>
                <a:effectLst/>
                <a:latin typeface="+mn-lt"/>
                <a:ea typeface="+mn-ea"/>
                <a:cs typeface="+mn-cs"/>
              </a:rPr>
              <a:t> Without A2A, agents can only collaborate if they're in the same process, using the same framework, deployed by the same team. That's fine for simple systems but breaks down in enterprise environments where you have .NET services, Python services, vendor agents, and teams with different tech stacks. A2A provides the interoperability layer — any agent that speaks A2A can work with any other, regardless of implementation.</a:t>
            </a:r>
          </a:p>
          <a:p>
            <a:r>
              <a:rPr lang="en-US" sz="1200" b="1" i="0" kern="1200" dirty="0">
                <a:solidFill>
                  <a:schemeClr val="tx1"/>
                </a:solidFill>
                <a:effectLst/>
                <a:latin typeface="+mn-lt"/>
                <a:ea typeface="+mn-ea"/>
                <a:cs typeface="+mn-cs"/>
              </a:rPr>
              <a:t>The interaction model — task-based, not function-call:</a:t>
            </a:r>
            <a:r>
              <a:rPr lang="en-US" sz="1200" b="0" i="0" kern="1200" dirty="0">
                <a:solidFill>
                  <a:schemeClr val="tx1"/>
                </a:solidFill>
                <a:effectLst/>
                <a:latin typeface="+mn-lt"/>
                <a:ea typeface="+mn-ea"/>
                <a:cs typeface="+mn-cs"/>
              </a:rPr>
              <a:t> This is a key difference from MCP. MCP is request/response, function-call style — "call this tool, get a result." A2A is task-based and multi-turn — you submit a task, the agent works on it (potentially over multiple exchanges), and it may take minutes or hours. The task lifecycle goes from submitted to working to completed, failed, or canceled. This makes A2A suitable for long-running, complex work — not just quick lookups.</a:t>
            </a:r>
          </a:p>
          <a:p>
            <a:r>
              <a:rPr lang="en-US" sz="1200" b="1" i="0" kern="1200" dirty="0">
                <a:solidFill>
                  <a:schemeClr val="tx1"/>
                </a:solidFill>
                <a:effectLst/>
                <a:latin typeface="+mn-lt"/>
                <a:ea typeface="+mn-ea"/>
                <a:cs typeface="+mn-cs"/>
              </a:rPr>
              <a:t>Walking through the Core Concepts:</a:t>
            </a:r>
            <a:r>
              <a:rPr lang="en-US" sz="1200" b="0" i="0" kern="1200" dirty="0">
                <a:solidFill>
                  <a:schemeClr val="tx1"/>
                </a:solidFill>
                <a:effectLst/>
                <a:latin typeface="+mn-lt"/>
                <a:ea typeface="+mn-ea"/>
                <a:cs typeface="+mn-cs"/>
              </a:rPr>
              <a:t> The Agent Card is a JSON metadata document hosted at a well-known URL (/.well-known/agent-</a:t>
            </a:r>
            <a:r>
              <a:rPr lang="en-US" sz="1200" b="0" i="0" kern="1200" dirty="0" err="1">
                <a:solidFill>
                  <a:schemeClr val="tx1"/>
                </a:solidFill>
                <a:effectLst/>
                <a:latin typeface="+mn-lt"/>
                <a:ea typeface="+mn-ea"/>
                <a:cs typeface="+mn-cs"/>
              </a:rPr>
              <a:t>card.json</a:t>
            </a:r>
            <a:r>
              <a:rPr lang="en-US" sz="1200" b="0" i="0" kern="1200" dirty="0">
                <a:solidFill>
                  <a:schemeClr val="tx1"/>
                </a:solidFill>
                <a:effectLst/>
                <a:latin typeface="+mn-lt"/>
                <a:ea typeface="+mn-ea"/>
                <a:cs typeface="+mn-cs"/>
              </a:rPr>
              <a:t>) that describes what an agent can do — its identity, capabilities, and skills. This is how agents discover each other. A Task is the fundamental work unit with its lifecycle. Messages are communication turns between the client and the agent. Artifacts are the outputs — documents, images, structured data that the agent produces. And Streaming via SSE or </a:t>
            </a:r>
            <a:r>
              <a:rPr lang="en-US" sz="1200" b="0" i="0" kern="1200" dirty="0" err="1">
                <a:solidFill>
                  <a:schemeClr val="tx1"/>
                </a:solidFill>
                <a:effectLst/>
                <a:latin typeface="+mn-lt"/>
                <a:ea typeface="+mn-ea"/>
                <a:cs typeface="+mn-cs"/>
              </a:rPr>
              <a:t>gRPC</a:t>
            </a:r>
            <a:r>
              <a:rPr lang="en-US" sz="1200" b="0" i="0" kern="1200" dirty="0">
                <a:solidFill>
                  <a:schemeClr val="tx1"/>
                </a:solidFill>
                <a:effectLst/>
                <a:latin typeface="+mn-lt"/>
                <a:ea typeface="+mn-ea"/>
                <a:cs typeface="+mn-cs"/>
              </a:rPr>
              <a:t> allows real-time progress updates while a task is running.</a:t>
            </a:r>
          </a:p>
          <a:p>
            <a:r>
              <a:rPr lang="en-US" sz="1200" b="1" i="0" kern="1200" dirty="0">
                <a:solidFill>
                  <a:schemeClr val="tx1"/>
                </a:solidFill>
                <a:effectLst/>
                <a:latin typeface="+mn-lt"/>
                <a:ea typeface="+mn-ea"/>
                <a:cs typeface="+mn-cs"/>
              </a:rPr>
              <a:t>Protocol Bindings — three options:</a:t>
            </a:r>
            <a:r>
              <a:rPr lang="en-US" sz="1200" b="0" i="0" kern="1200" dirty="0">
                <a:solidFill>
                  <a:schemeClr val="tx1"/>
                </a:solidFill>
                <a:effectLst/>
                <a:latin typeface="+mn-lt"/>
                <a:ea typeface="+mn-ea"/>
                <a:cs typeface="+mn-cs"/>
              </a:rPr>
              <a:t> A2A supports JSON-RPC 2.0, </a:t>
            </a:r>
            <a:r>
              <a:rPr lang="en-US" sz="1200" b="0" i="0" kern="1200" dirty="0" err="1">
                <a:solidFill>
                  <a:schemeClr val="tx1"/>
                </a:solidFill>
                <a:effectLst/>
                <a:latin typeface="+mn-lt"/>
                <a:ea typeface="+mn-ea"/>
                <a:cs typeface="+mn-cs"/>
              </a:rPr>
              <a:t>gRPC</a:t>
            </a:r>
            <a:r>
              <a:rPr lang="en-US" sz="1200" b="0" i="0" kern="1200" dirty="0">
                <a:solidFill>
                  <a:schemeClr val="tx1"/>
                </a:solidFill>
                <a:effectLst/>
                <a:latin typeface="+mn-lt"/>
                <a:ea typeface="+mn-ea"/>
                <a:cs typeface="+mn-cs"/>
              </a:rPr>
              <a:t>, and HTTP+JSON/REST. This flexibility means it fits into virtually any infrastructure. Most implementations start with HTTP+JSON for simplicity, but </a:t>
            </a:r>
            <a:r>
              <a:rPr lang="en-US" sz="1200" b="0" i="0" kern="1200" dirty="0" err="1">
                <a:solidFill>
                  <a:schemeClr val="tx1"/>
                </a:solidFill>
                <a:effectLst/>
                <a:latin typeface="+mn-lt"/>
                <a:ea typeface="+mn-ea"/>
                <a:cs typeface="+mn-cs"/>
              </a:rPr>
              <a:t>gRPC</a:t>
            </a:r>
            <a:r>
              <a:rPr lang="en-US" sz="1200" b="0" i="0" kern="1200" dirty="0">
                <a:solidFill>
                  <a:schemeClr val="tx1"/>
                </a:solidFill>
                <a:effectLst/>
                <a:latin typeface="+mn-lt"/>
                <a:ea typeface="+mn-ea"/>
                <a:cs typeface="+mn-cs"/>
              </a:rPr>
              <a:t> is available for high-throughput, low-latency scenarios. JSON-RPC 2.0 provides structured request/response semantics.</a:t>
            </a:r>
          </a:p>
          <a:p>
            <a:r>
              <a:rPr lang="en-US" sz="1200" b="1" i="0" kern="1200" dirty="0">
                <a:solidFill>
                  <a:schemeClr val="tx1"/>
                </a:solidFill>
                <a:effectLst/>
                <a:latin typeface="+mn-lt"/>
                <a:ea typeface="+mn-ea"/>
                <a:cs typeface="+mn-cs"/>
              </a:rPr>
              <a:t>How this connects to what we've discussed:</a:t>
            </a:r>
            <a:r>
              <a:rPr lang="en-US" sz="1200" b="0" i="0" kern="1200" dirty="0">
                <a:solidFill>
                  <a:schemeClr val="tx1"/>
                </a:solidFill>
                <a:effectLst/>
                <a:latin typeface="+mn-lt"/>
                <a:ea typeface="+mn-ea"/>
                <a:cs typeface="+mn-cs"/>
              </a:rPr>
              <a:t> The orchestration patterns we covered — Sequential, Concurrent, Handoff, Group Chat,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 are all about how agents work together within a single system. A2A is about how those systems connect to agents outside their boundary. You orchestrate in-process with your framework of choice, then expose the result as an A2A endpoint for other teams and services to consume.</a:t>
            </a:r>
          </a:p>
          <a:p>
            <a:r>
              <a:rPr lang="en-US" sz="1200" b="1" i="0" kern="1200" dirty="0">
                <a:solidFill>
                  <a:schemeClr val="tx1"/>
                </a:solidFill>
                <a:effectLst/>
                <a:latin typeface="+mn-lt"/>
                <a:ea typeface="+mn-ea"/>
                <a:cs typeface="+mn-cs"/>
              </a:rPr>
              <a:t>Microsoft's investment in A2A is significant:</a:t>
            </a:r>
            <a:r>
              <a:rPr lang="en-US" sz="1200" b="0" i="0" kern="1200" dirty="0">
                <a:solidFill>
                  <a:schemeClr val="tx1"/>
                </a:solidFill>
                <a:effectLst/>
                <a:latin typeface="+mn-lt"/>
                <a:ea typeface="+mn-ea"/>
                <a:cs typeface="+mn-cs"/>
              </a:rPr>
              <a:t> Microsoft provides first-class A2A support through the Agent Framework's ASP.NET hosting libraries. Copilot Studio can connect to external A2A agents. Azure Foundry supports A2A as a tool type. This isn't a theoretical standard — it has production-grade tooling in the Microsoft ecosystem today.</a:t>
            </a:r>
          </a:p>
          <a:p>
            <a:r>
              <a:rPr lang="en-US" sz="1200" b="1" i="0" kern="1200" dirty="0">
                <a:solidFill>
                  <a:schemeClr val="tx1"/>
                </a:solidFill>
                <a:effectLst/>
                <a:latin typeface="+mn-lt"/>
                <a:ea typeface="+mn-ea"/>
                <a:cs typeface="+mn-cs"/>
              </a:rPr>
              <a:t>The practical implication for polyglot enterprises:</a:t>
            </a:r>
            <a:r>
              <a:rPr lang="en-US" sz="1200" b="0" i="0" kern="1200" dirty="0">
                <a:solidFill>
                  <a:schemeClr val="tx1"/>
                </a:solidFill>
                <a:effectLst/>
                <a:latin typeface="+mn-lt"/>
                <a:ea typeface="+mn-ea"/>
                <a:cs typeface="+mn-cs"/>
              </a:rPr>
              <a:t> If your organization has a .NET team building agents with Semantic Kernel and a Python team building with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A2A is the bridge. Each team uses whatever framework makes sense for their domain. The agents communicate over A2A, and neither team needs to know or care about the other's implementation. That's the real value proposition — technology-agnostic interoperability at the agent level.</a:t>
            </a:r>
          </a:p>
          <a:p>
            <a:r>
              <a:rPr lang="en-US" sz="1200" b="1" i="0" kern="1200" dirty="0">
                <a:solidFill>
                  <a:schemeClr val="tx1"/>
                </a:solidFill>
                <a:effectLst/>
                <a:latin typeface="+mn-lt"/>
                <a:ea typeface="+mn-ea"/>
                <a:cs typeface="+mn-cs"/>
              </a:rPr>
              <a:t>Preview status caveat:</a:t>
            </a:r>
            <a:r>
              <a:rPr lang="en-US" sz="1200" b="0" i="0" kern="1200" dirty="0">
                <a:solidFill>
                  <a:schemeClr val="tx1"/>
                </a:solidFill>
                <a:effectLst/>
                <a:latin typeface="+mn-lt"/>
                <a:ea typeface="+mn-ea"/>
                <a:cs typeface="+mn-cs"/>
              </a:rPr>
              <a:t> While the A2A protocol itself is v1.0.0, Microsoft's ASP.NET hosting packages for A2A are still prerelease. The protocol is stable; the tooling is maturing. Plan for minor API changes in the hosting libraries, but the protocol-level contracts are solid.</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14</a:t>
            </a:fld>
            <a:endParaRPr lang="en-US"/>
          </a:p>
        </p:txBody>
      </p:sp>
    </p:spTree>
    <p:extLst>
      <p:ext uri="{BB962C8B-B14F-4D97-AF65-F5344CB8AC3E}">
        <p14:creationId xmlns:p14="http://schemas.microsoft.com/office/powerpoint/2010/main" val="28017148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 In-Process vs A2A Communication</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Purpose of this slide:</a:t>
            </a:r>
            <a:r>
              <a:rPr lang="en-US" sz="1200" b="0" i="0" kern="1200" dirty="0">
                <a:solidFill>
                  <a:schemeClr val="tx1"/>
                </a:solidFill>
                <a:effectLst/>
                <a:latin typeface="+mn-lt"/>
                <a:ea typeface="+mn-ea"/>
                <a:cs typeface="+mn-cs"/>
              </a:rPr>
              <a:t> This is the architectural decision framework. You've seen the orchestration patterns and the A2A protocol — now the question is: when do your agents talk in-process (direct function calls within a single application) versus over A2A (network calls between separate services)? This table walks through the seven dimensions that drive that decision.</a:t>
            </a:r>
          </a:p>
          <a:p>
            <a:r>
              <a:rPr lang="en-US" sz="1200" b="1" i="0" kern="1200" dirty="0">
                <a:solidFill>
                  <a:schemeClr val="tx1"/>
                </a:solidFill>
                <a:effectLst/>
                <a:latin typeface="+mn-lt"/>
                <a:ea typeface="+mn-ea"/>
                <a:cs typeface="+mn-cs"/>
              </a:rPr>
              <a:t>Latency — the most dramatic difference:</a:t>
            </a:r>
            <a:r>
              <a:rPr lang="en-US" sz="1200" b="0" i="0" kern="1200" dirty="0">
                <a:solidFill>
                  <a:schemeClr val="tx1"/>
                </a:solidFill>
                <a:effectLst/>
                <a:latin typeface="+mn-lt"/>
                <a:ea typeface="+mn-ea"/>
                <a:cs typeface="+mn-cs"/>
              </a:rPr>
              <a:t> In-process communication is nanoseconds — it's a direct method call in shared memory. A2A is milliseconds to seconds — you're going over HTTP or </a:t>
            </a:r>
            <a:r>
              <a:rPr lang="en-US" sz="1200" b="0" i="0" kern="1200" dirty="0" err="1">
                <a:solidFill>
                  <a:schemeClr val="tx1"/>
                </a:solidFill>
                <a:effectLst/>
                <a:latin typeface="+mn-lt"/>
                <a:ea typeface="+mn-ea"/>
                <a:cs typeface="+mn-cs"/>
              </a:rPr>
              <a:t>gRPC</a:t>
            </a:r>
            <a:r>
              <a:rPr lang="en-US" sz="1200" b="0" i="0" kern="1200" dirty="0">
                <a:solidFill>
                  <a:schemeClr val="tx1"/>
                </a:solidFill>
                <a:effectLst/>
                <a:latin typeface="+mn-lt"/>
                <a:ea typeface="+mn-ea"/>
                <a:cs typeface="+mn-cs"/>
              </a:rPr>
              <a:t>, with serialization, network hops, and potentially authentication. For tight inner loops where agents exchange messages rapidly (like a Group Chat with many turns), this difference matters enormously. For a Handoff that happens once per request, it's negligible.</a:t>
            </a:r>
          </a:p>
          <a:p>
            <a:r>
              <a:rPr lang="en-US" sz="1200" b="1" i="0" kern="1200" dirty="0">
                <a:solidFill>
                  <a:schemeClr val="tx1"/>
                </a:solidFill>
                <a:effectLst/>
                <a:latin typeface="+mn-lt"/>
                <a:ea typeface="+mn-ea"/>
                <a:cs typeface="+mn-cs"/>
              </a:rPr>
              <a:t>Reliability — the classic distributed systems trade-off:</a:t>
            </a:r>
            <a:r>
              <a:rPr lang="en-US" sz="1200" b="0" i="0" kern="1200" dirty="0">
                <a:solidFill>
                  <a:schemeClr val="tx1"/>
                </a:solidFill>
                <a:effectLst/>
                <a:latin typeface="+mn-lt"/>
                <a:ea typeface="+mn-ea"/>
                <a:cs typeface="+mn-cs"/>
              </a:rPr>
              <a:t> In-process means a single process failure takes down all your agents at once. A2A gives you independent failure domains — if the Python sentiment analysis agent crashes, your .NET orchestrator and other agents keep running. This is the same monolith-vs-microservices argument your team already knows. The right answer depends on your fault tolerance requirements.</a:t>
            </a:r>
          </a:p>
          <a:p>
            <a:r>
              <a:rPr lang="en-US" sz="1200" b="1" i="0" kern="1200" dirty="0">
                <a:solidFill>
                  <a:schemeClr val="tx1"/>
                </a:solidFill>
                <a:effectLst/>
                <a:latin typeface="+mn-lt"/>
                <a:ea typeface="+mn-ea"/>
                <a:cs typeface="+mn-cs"/>
              </a:rPr>
              <a:t>Scalability — independent scaling is A2A's superpower:</a:t>
            </a:r>
            <a:r>
              <a:rPr lang="en-US" sz="1200" b="0" i="0" kern="1200" dirty="0">
                <a:solidFill>
                  <a:schemeClr val="tx1"/>
                </a:solidFill>
                <a:effectLst/>
                <a:latin typeface="+mn-lt"/>
                <a:ea typeface="+mn-ea"/>
                <a:cs typeface="+mn-cs"/>
              </a:rPr>
              <a:t> In-process agents scale as one unit — if your Diagnostics Agent needs 10x resources but your Communication Agent needs 1x, you're scaling everything together. A2A lets you scale each agent independently. In an enterprise with variable workloads across different agent domains, this can be a significant cost optimization.</a:t>
            </a:r>
          </a:p>
          <a:p>
            <a:r>
              <a:rPr lang="en-US" sz="1200" b="1" i="0" kern="1200" dirty="0">
                <a:solidFill>
                  <a:schemeClr val="tx1"/>
                </a:solidFill>
                <a:effectLst/>
                <a:latin typeface="+mn-lt"/>
                <a:ea typeface="+mn-ea"/>
                <a:cs typeface="+mn-cs"/>
              </a:rPr>
              <a:t>Framework flexibility — A2A breaks the language lock-in:</a:t>
            </a:r>
            <a:r>
              <a:rPr lang="en-US" sz="1200" b="0" i="0" kern="1200" dirty="0">
                <a:solidFill>
                  <a:schemeClr val="tx1"/>
                </a:solidFill>
                <a:effectLst/>
                <a:latin typeface="+mn-lt"/>
                <a:ea typeface="+mn-ea"/>
                <a:cs typeface="+mn-cs"/>
              </a:rPr>
              <a:t> In-process requires the same language and framework for all agents. A2A is framework-agnostic — your .NET team can build with Semantic Kernel, your Python team with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and a vendor can supply a Java agent. They all communicate through A2A without anyone needing to change their stack. For polyglot enterprises, this is often the deciding factor.</a:t>
            </a:r>
          </a:p>
          <a:p>
            <a:r>
              <a:rPr lang="en-US" sz="1200" b="1" i="0" kern="1200" dirty="0">
                <a:solidFill>
                  <a:schemeClr val="tx1"/>
                </a:solidFill>
                <a:effectLst/>
                <a:latin typeface="+mn-lt"/>
                <a:ea typeface="+mn-ea"/>
                <a:cs typeface="+mn-cs"/>
              </a:rPr>
              <a:t>Deployment independence — A2A enables independent release cycles:</a:t>
            </a:r>
            <a:r>
              <a:rPr lang="en-US" sz="1200" b="0" i="0" kern="1200" dirty="0">
                <a:solidFill>
                  <a:schemeClr val="tx1"/>
                </a:solidFill>
                <a:effectLst/>
                <a:latin typeface="+mn-lt"/>
                <a:ea typeface="+mn-ea"/>
                <a:cs typeface="+mn-cs"/>
              </a:rPr>
              <a:t> In-process means a single deployment unit — changing one agent means redeploying the whole application. A2A lets each agent deploy independently. Different teams can iterate at different speeds, run separate CI/CD pipelines, and release without coordinating. This maps directly to organizational structure — Conway's Law in action.</a:t>
            </a:r>
          </a:p>
          <a:p>
            <a:r>
              <a:rPr lang="en-US" sz="1200" b="1" i="0" kern="1200" dirty="0">
                <a:solidFill>
                  <a:schemeClr val="tx1"/>
                </a:solidFill>
                <a:effectLst/>
                <a:latin typeface="+mn-lt"/>
                <a:ea typeface="+mn-ea"/>
                <a:cs typeface="+mn-cs"/>
              </a:rPr>
              <a:t>Security — different trust models:</a:t>
            </a:r>
            <a:r>
              <a:rPr lang="en-US" sz="1200" b="0" i="0" kern="1200" dirty="0">
                <a:solidFill>
                  <a:schemeClr val="tx1"/>
                </a:solidFill>
                <a:effectLst/>
                <a:latin typeface="+mn-lt"/>
                <a:ea typeface="+mn-ea"/>
                <a:cs typeface="+mn-cs"/>
              </a:rPr>
              <a:t> In-process agents share a trust boundary — if you trust the process, you trust all agents in it. A2A requires explicit network-level authentication — OAuth, </a:t>
            </a:r>
            <a:r>
              <a:rPr lang="en-US" sz="1200" b="0" i="0" kern="1200" dirty="0" err="1">
                <a:solidFill>
                  <a:schemeClr val="tx1"/>
                </a:solidFill>
                <a:effectLst/>
                <a:latin typeface="+mn-lt"/>
                <a:ea typeface="+mn-ea"/>
                <a:cs typeface="+mn-cs"/>
              </a:rPr>
              <a:t>mTLS</a:t>
            </a:r>
            <a:r>
              <a:rPr lang="en-US" sz="1200" b="0" i="0" kern="1200" dirty="0">
                <a:solidFill>
                  <a:schemeClr val="tx1"/>
                </a:solidFill>
                <a:effectLst/>
                <a:latin typeface="+mn-lt"/>
                <a:ea typeface="+mn-ea"/>
                <a:cs typeface="+mn-cs"/>
              </a:rPr>
              <a:t>, API keys. This is more complex to set up, but it gives you real security boundaries between agents. For scenarios where different agents handle data at different classification levels, or where third-party agents are involved, A2A's explicit security model is essential.</a:t>
            </a:r>
          </a:p>
          <a:p>
            <a:r>
              <a:rPr lang="en-US" sz="1200" b="1" i="0" kern="1200" dirty="0">
                <a:solidFill>
                  <a:schemeClr val="tx1"/>
                </a:solidFill>
                <a:effectLst/>
                <a:latin typeface="+mn-lt"/>
                <a:ea typeface="+mn-ea"/>
                <a:cs typeface="+mn-cs"/>
              </a:rPr>
              <a:t>Team ownership — the organizational dimension:</a:t>
            </a:r>
            <a:r>
              <a:rPr lang="en-US" sz="1200" b="0" i="0" kern="1200" dirty="0">
                <a:solidFill>
                  <a:schemeClr val="tx1"/>
                </a:solidFill>
                <a:effectLst/>
                <a:latin typeface="+mn-lt"/>
                <a:ea typeface="+mn-ea"/>
                <a:cs typeface="+mn-cs"/>
              </a:rPr>
              <a:t> This is often the real deciding factor. If one team owns all the agents, in-process is simpler and they can coordinate easily. If different teams or different organizations own different agents — which is the reality in most enterprises — A2A provides the contract boundary that lets teams work independently. The protocol becomes the API contract between teams.</a:t>
            </a:r>
          </a:p>
          <a:p>
            <a:r>
              <a:rPr lang="en-US" sz="1200" b="1" i="0" kern="1200" dirty="0">
                <a:solidFill>
                  <a:schemeClr val="tx1"/>
                </a:solidFill>
                <a:effectLst/>
                <a:latin typeface="+mn-lt"/>
                <a:ea typeface="+mn-ea"/>
                <a:cs typeface="+mn-cs"/>
              </a:rPr>
              <a:t>The "Use In-Process When" callout:</a:t>
            </a:r>
            <a:r>
              <a:rPr lang="en-US" sz="1200" b="0" i="0" kern="1200" dirty="0">
                <a:solidFill>
                  <a:schemeClr val="tx1"/>
                </a:solidFill>
                <a:effectLst/>
                <a:latin typeface="+mn-lt"/>
                <a:ea typeface="+mn-ea"/>
                <a:cs typeface="+mn-cs"/>
              </a:rPr>
              <a:t> Same team, same technology stack, low-latency requirements, simple deployment needs, shared state is essential, and prototyping. This covers the majority of early-stage development and single-team projects. Start here and graduate to A2A when the organizational or technical requirements demand it.</a:t>
            </a:r>
          </a:p>
          <a:p>
            <a:r>
              <a:rPr lang="en-US" sz="1200" b="1" i="0" kern="1200" dirty="0">
                <a:solidFill>
                  <a:schemeClr val="tx1"/>
                </a:solidFill>
                <a:effectLst/>
                <a:latin typeface="+mn-lt"/>
                <a:ea typeface="+mn-ea"/>
                <a:cs typeface="+mn-cs"/>
              </a:rPr>
              <a:t>The "Use A2A When" callout:</a:t>
            </a:r>
            <a:r>
              <a:rPr lang="en-US" sz="1200" b="0" i="0" kern="1200" dirty="0">
                <a:solidFill>
                  <a:schemeClr val="tx1"/>
                </a:solidFill>
                <a:effectLst/>
                <a:latin typeface="+mn-lt"/>
                <a:ea typeface="+mn-ea"/>
                <a:cs typeface="+mn-cs"/>
              </a:rPr>
              <a:t> Different teams or organizations own the agents, polyglot systems where .NET and Python coexist, independent deployment and scaling needs, security boundaries between agents, and long-running async tasks. These are the enterprise scenarios where the overhead of A2A pays for itself.</a:t>
            </a:r>
          </a:p>
          <a:p>
            <a:r>
              <a:rPr lang="en-US" sz="1200" b="1" i="0" kern="1200" dirty="0">
                <a:solidFill>
                  <a:schemeClr val="tx1"/>
                </a:solidFill>
                <a:effectLst/>
                <a:latin typeface="+mn-lt"/>
                <a:ea typeface="+mn-ea"/>
                <a:cs typeface="+mn-cs"/>
              </a:rPr>
              <a:t>The hybrid architecture — the real recommendation:</a:t>
            </a:r>
            <a:r>
              <a:rPr lang="en-US" sz="1200" b="0" i="0" kern="1200" dirty="0">
                <a:solidFill>
                  <a:schemeClr val="tx1"/>
                </a:solidFill>
                <a:effectLst/>
                <a:latin typeface="+mn-lt"/>
                <a:ea typeface="+mn-ea"/>
                <a:cs typeface="+mn-cs"/>
              </a:rPr>
              <a:t> These aren't mutually exclusive. The recommended enterprise pattern is to use in-process orchestration within each service — your .NET service runs a Sequential or Handoff pattern using Semantic Kernel or Agent Framework internally — and then expose the entire workflow as a single A2A endpoint. Other teams consume it via A2A without knowing or caring about the internal orchestration. In-process for speed and simplicity inside the boundary, A2A for interoperability across boundaries.</a:t>
            </a:r>
          </a:p>
          <a:p>
            <a:r>
              <a:rPr lang="en-US" sz="1200" b="1" i="0" kern="1200" dirty="0">
                <a:solidFill>
                  <a:schemeClr val="tx1"/>
                </a:solidFill>
                <a:effectLst/>
                <a:latin typeface="+mn-lt"/>
                <a:ea typeface="+mn-ea"/>
                <a:cs typeface="+mn-cs"/>
              </a:rPr>
              <a:t>Connecting it forward:</a:t>
            </a:r>
            <a:r>
              <a:rPr lang="en-US" sz="1200" b="0" i="0" kern="1200" dirty="0">
                <a:solidFill>
                  <a:schemeClr val="tx1"/>
                </a:solidFill>
                <a:effectLst/>
                <a:latin typeface="+mn-lt"/>
                <a:ea typeface="+mn-ea"/>
                <a:cs typeface="+mn-cs"/>
              </a:rPr>
              <a:t> The next slides will show how this plays out in implementation — ASP.NET hosting for A2A endpoints, and how the hybrid architecture looks in practice. The key takeaway here is that the decision isn't "in-process or A2A" — it's "where do you draw the boundary between the two?"</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15</a:t>
            </a:fld>
            <a:endParaRPr lang="en-US"/>
          </a:p>
        </p:txBody>
      </p:sp>
    </p:spTree>
    <p:extLst>
      <p:ext uri="{BB962C8B-B14F-4D97-AF65-F5344CB8AC3E}">
        <p14:creationId xmlns:p14="http://schemas.microsoft.com/office/powerpoint/2010/main" val="23950283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Hybrid Architecture</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This is the recommended enterprise architecture.</a:t>
            </a:r>
            <a:r>
              <a:rPr lang="en-US" sz="1200" b="0" i="0" kern="1200" dirty="0">
                <a:solidFill>
                  <a:schemeClr val="tx1"/>
                </a:solidFill>
                <a:effectLst/>
                <a:latin typeface="+mn-lt"/>
                <a:ea typeface="+mn-ea"/>
                <a:cs typeface="+mn-cs"/>
              </a:rPr>
              <a:t> Everything we've discussed — the five orchestration patterns, the library ecosystem, A2A versus in-process — converges here. This diagram shows how it all fits together in practice. In-process orchestration for speed and simplicity inside your service boundary, A2A protocol for interoperability across boundaries.</a:t>
            </a:r>
          </a:p>
          <a:p>
            <a:r>
              <a:rPr lang="en-US" sz="1200" b="1" i="0" kern="1200" dirty="0">
                <a:solidFill>
                  <a:schemeClr val="tx1"/>
                </a:solidFill>
                <a:effectLst/>
                <a:latin typeface="+mn-lt"/>
                <a:ea typeface="+mn-ea"/>
                <a:cs typeface="+mn-cs"/>
              </a:rPr>
              <a:t>Walking through the diagram — left to right:</a:t>
            </a:r>
            <a:r>
              <a:rPr lang="en-US" sz="1200" b="0" i="0" kern="1200" dirty="0">
                <a:solidFill>
                  <a:schemeClr val="tx1"/>
                </a:solidFill>
                <a:effectLst/>
                <a:latin typeface="+mn-lt"/>
                <a:ea typeface="+mn-ea"/>
                <a:cs typeface="+mn-cs"/>
              </a:rPr>
              <a:t> A User or Frontend application sends a request to the Orchestrator Agent, which is an ASP.NET service. Inside that service, three agents run in-process using Semantic Kernel or the Agent Framework — they share memory, communicate at nanosecond speed, and can use any of the five orchestration patterns we covered. When the orchestrator needs capabilities outside its boundary, it reaches out via the A2A protocol to external agents.</a:t>
            </a:r>
          </a:p>
          <a:p>
            <a:r>
              <a:rPr lang="en-US" sz="1200" b="1" i="0" kern="1200" dirty="0">
                <a:solidFill>
                  <a:schemeClr val="tx1"/>
                </a:solidFill>
                <a:effectLst/>
                <a:latin typeface="+mn-lt"/>
                <a:ea typeface="+mn-ea"/>
                <a:cs typeface="+mn-cs"/>
              </a:rPr>
              <a:t>The in-process side — the green zone:</a:t>
            </a:r>
            <a:r>
              <a:rPr lang="en-US" sz="1200" b="0" i="0" kern="1200" dirty="0">
                <a:solidFill>
                  <a:schemeClr val="tx1"/>
                </a:solidFill>
                <a:effectLst/>
                <a:latin typeface="+mn-lt"/>
                <a:ea typeface="+mn-ea"/>
                <a:cs typeface="+mn-cs"/>
              </a:rPr>
              <a:t> The three In-Process Agents on the left side of the box represent your team's agents — same codebase, same deployment, same tech stack. They might be running a Sequential pipeline, a Handoff pattern, or a Group Chat internally. The key is they're fast, they share state directly, and they deploy as a single unit. This is where most of your core business logic lives.</a:t>
            </a:r>
          </a:p>
          <a:p>
            <a:r>
              <a:rPr lang="en-US" sz="1200" b="1" i="0" kern="1200" dirty="0">
                <a:solidFill>
                  <a:schemeClr val="tx1"/>
                </a:solidFill>
                <a:effectLst/>
                <a:latin typeface="+mn-lt"/>
                <a:ea typeface="+mn-ea"/>
                <a:cs typeface="+mn-cs"/>
              </a:rPr>
              <a:t>The A2A side — the blue arrows crossing the boundary:</a:t>
            </a:r>
            <a:r>
              <a:rPr lang="en-US" sz="1200" b="0" i="0" kern="1200" dirty="0">
                <a:solidFill>
                  <a:schemeClr val="tx1"/>
                </a:solidFill>
                <a:effectLst/>
                <a:latin typeface="+mn-lt"/>
                <a:ea typeface="+mn-ea"/>
                <a:cs typeface="+mn-cs"/>
              </a:rPr>
              <a:t> When the orchestrator needs something outside its domain, it sends a task via A2A to an external agent. Notice the three external agents are deliberately diverse: External Agent A is Python running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 maybe a data science team's ML pipeline. External Agent B is a Java service — perhaps a legacy system with domain expertise. Vendor Agent C could be any framework — a third-party compliance agent, a partner's API. None of them need to know about each other's implementation.</a:t>
            </a:r>
          </a:p>
          <a:p>
            <a:r>
              <a:rPr lang="en-US" sz="1200" b="1" i="0" kern="1200" dirty="0">
                <a:solidFill>
                  <a:schemeClr val="tx1"/>
                </a:solidFill>
                <a:effectLst/>
                <a:latin typeface="+mn-lt"/>
                <a:ea typeface="+mn-ea"/>
                <a:cs typeface="+mn-cs"/>
              </a:rPr>
              <a:t>This mirrors real organizational structure:</a:t>
            </a:r>
            <a:r>
              <a:rPr lang="en-US" sz="1200" b="0" i="0" kern="1200" dirty="0">
                <a:solidFill>
                  <a:schemeClr val="tx1"/>
                </a:solidFill>
                <a:effectLst/>
                <a:latin typeface="+mn-lt"/>
                <a:ea typeface="+mn-ea"/>
                <a:cs typeface="+mn-cs"/>
              </a:rPr>
              <a:t> In an enterprise, you don't have one team building everything. The .NET platform team builds the orchestrator and core agents. The data science team builds Python agents. A third-party vendor provides a specialized agent. A2A is the contract that lets these teams work independently while their agents collaborate seamlessly. This is Conway's Law working in your favor — the architecture matches the organization.</a:t>
            </a:r>
          </a:p>
          <a:p>
            <a:r>
              <a:rPr lang="en-US" sz="1200" b="1" i="0" kern="1200" dirty="0">
                <a:solidFill>
                  <a:schemeClr val="tx1"/>
                </a:solidFill>
                <a:effectLst/>
                <a:latin typeface="+mn-lt"/>
                <a:ea typeface="+mn-ea"/>
                <a:cs typeface="+mn-cs"/>
              </a:rPr>
              <a:t>The Orchestrator Agent is the key integration point:</a:t>
            </a:r>
            <a:r>
              <a:rPr lang="en-US" sz="1200" b="0" i="0" kern="1200" dirty="0">
                <a:solidFill>
                  <a:schemeClr val="tx1"/>
                </a:solidFill>
                <a:effectLst/>
                <a:latin typeface="+mn-lt"/>
                <a:ea typeface="+mn-ea"/>
                <a:cs typeface="+mn-cs"/>
              </a:rPr>
              <a:t> It serves dual roles. Internally, it orchestrates in-process agents for the core workflow. Externally, it acts as an A2A client, sending tasks to remote agents. And importantly, the entire orchestrator can itself be exposed as an A2A server — so another team's system can consume your multi-agent workflow as a single A2A endpoint without knowing about the internal agents.</a:t>
            </a:r>
          </a:p>
          <a:p>
            <a:r>
              <a:rPr lang="en-US" sz="1200" b="1" i="0" kern="1200" dirty="0">
                <a:solidFill>
                  <a:schemeClr val="tx1"/>
                </a:solidFill>
                <a:effectLst/>
                <a:latin typeface="+mn-lt"/>
                <a:ea typeface="+mn-ea"/>
                <a:cs typeface="+mn-cs"/>
              </a:rPr>
              <a:t>ASP.NET hosting makes this concrete:</a:t>
            </a:r>
            <a:r>
              <a:rPr lang="en-US" sz="1200" b="0" i="0" kern="1200" dirty="0">
                <a:solidFill>
                  <a:schemeClr val="tx1"/>
                </a:solidFill>
                <a:effectLst/>
                <a:latin typeface="+mn-lt"/>
                <a:ea typeface="+mn-ea"/>
                <a:cs typeface="+mn-cs"/>
              </a:rPr>
              <a:t> Microsoft's Agent Framework provides </a:t>
            </a:r>
            <a:r>
              <a:rPr lang="en-US" sz="1200" b="0" i="0" kern="1200" dirty="0" err="1">
                <a:solidFill>
                  <a:schemeClr val="tx1"/>
                </a:solidFill>
                <a:effectLst/>
                <a:latin typeface="+mn-lt"/>
                <a:ea typeface="+mn-ea"/>
                <a:cs typeface="+mn-cs"/>
              </a:rPr>
              <a:t>builder.AddAIAgent</a:t>
            </a:r>
            <a:r>
              <a:rPr lang="en-US" sz="1200" b="0" i="0" kern="1200" dirty="0">
                <a:solidFill>
                  <a:schemeClr val="tx1"/>
                </a:solidFill>
                <a:effectLst/>
                <a:latin typeface="+mn-lt"/>
                <a:ea typeface="+mn-ea"/>
                <a:cs typeface="+mn-cs"/>
              </a:rPr>
              <a:t>() to register agents and app.MapA2AServer() to expose them as A2A endpoints. You can also wrap an entire internal workflow — say a three-agent Sequential pipeline — as a single A2A-exposed agent using </a:t>
            </a:r>
            <a:r>
              <a:rPr lang="en-US" sz="1200" b="0" i="0" kern="1200" dirty="0" err="1">
                <a:solidFill>
                  <a:schemeClr val="tx1"/>
                </a:solidFill>
                <a:effectLst/>
                <a:latin typeface="+mn-lt"/>
                <a:ea typeface="+mn-ea"/>
                <a:cs typeface="+mn-cs"/>
              </a:rPr>
              <a:t>AddWorkflow</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AddAsAIAgent</a:t>
            </a:r>
            <a:r>
              <a:rPr lang="en-US" sz="1200" b="0" i="0" kern="1200" dirty="0">
                <a:solidFill>
                  <a:schemeClr val="tx1"/>
                </a:solidFill>
                <a:effectLst/>
                <a:latin typeface="+mn-lt"/>
                <a:ea typeface="+mn-ea"/>
                <a:cs typeface="+mn-cs"/>
              </a:rPr>
              <a:t>() followed by MapA2A(). The code is minimal — a few lines to bridge in-process orchestration to A2A.</a:t>
            </a:r>
          </a:p>
          <a:p>
            <a:r>
              <a:rPr lang="en-US" sz="1200" b="1" i="0" kern="1200" dirty="0">
                <a:solidFill>
                  <a:schemeClr val="tx1"/>
                </a:solidFill>
                <a:effectLst/>
                <a:latin typeface="+mn-lt"/>
                <a:ea typeface="+mn-ea"/>
                <a:cs typeface="+mn-cs"/>
              </a:rPr>
              <a:t>Integration with broader Microsoft ecosystem:</a:t>
            </a:r>
            <a:r>
              <a:rPr lang="en-US" sz="1200" b="0" i="0" kern="1200" dirty="0">
                <a:solidFill>
                  <a:schemeClr val="tx1"/>
                </a:solidFill>
                <a:effectLst/>
                <a:latin typeface="+mn-lt"/>
                <a:ea typeface="+mn-ea"/>
                <a:cs typeface="+mn-cs"/>
              </a:rPr>
              <a:t> Copilot Studio can connect to external A2A agents — so your custom agents become available in Teams, M365, and other Copilot surfaces. Azure Foundry supports A2A as a tool type (A2APreviewTool), meaning Foundry-hosted agents can invoke your A2A agents directly. This hybrid architecture isn't isolated — it plugs into Microsoft's broader AI platform.</a:t>
            </a:r>
          </a:p>
          <a:p>
            <a:r>
              <a:rPr lang="en-US" sz="1200" b="1" i="0" kern="1200" dirty="0">
                <a:solidFill>
                  <a:schemeClr val="tx1"/>
                </a:solidFill>
                <a:effectLst/>
                <a:latin typeface="+mn-lt"/>
                <a:ea typeface="+mn-ea"/>
                <a:cs typeface="+mn-cs"/>
              </a:rPr>
              <a:t>The Enterprise Pattern callout at the bottom — the two-sentence summary:</a:t>
            </a:r>
            <a:r>
              <a:rPr lang="en-US" sz="1200" b="0" i="0" kern="1200" dirty="0">
                <a:solidFill>
                  <a:schemeClr val="tx1"/>
                </a:solidFill>
                <a:effectLst/>
                <a:latin typeface="+mn-lt"/>
                <a:ea typeface="+mn-ea"/>
                <a:cs typeface="+mn-cs"/>
              </a:rPr>
              <a:t> First: use in-process orchestration within each service for low latency — this is your SK or Agent Framework code running locally. Second: use A2A protocol for cross-team, cross-language, cross-organization communication — this is the interoperability layer. Simple, clear, actionable.</a:t>
            </a:r>
          </a:p>
          <a:p>
            <a:r>
              <a:rPr lang="en-US" sz="1200" b="1" i="0" kern="1200" dirty="0">
                <a:solidFill>
                  <a:schemeClr val="tx1"/>
                </a:solidFill>
                <a:effectLst/>
                <a:latin typeface="+mn-lt"/>
                <a:ea typeface="+mn-ea"/>
                <a:cs typeface="+mn-cs"/>
              </a:rPr>
              <a:t>A practical starting path:</a:t>
            </a:r>
            <a:r>
              <a:rPr lang="en-US" sz="1200" b="0" i="0" kern="1200" dirty="0">
                <a:solidFill>
                  <a:schemeClr val="tx1"/>
                </a:solidFill>
                <a:effectLst/>
                <a:latin typeface="+mn-lt"/>
                <a:ea typeface="+mn-ea"/>
                <a:cs typeface="+mn-cs"/>
              </a:rPr>
              <a:t> Don't try to build this entire architecture on day one. Start with a single ASP.NET service running in-process agents — get the orchestration patterns working. Then, when a second team or a Python service needs to participate, add A2A for that specific integration. Let the architecture grow organically based on actual organizational boundaries rather than designing it all upfront.</a:t>
            </a:r>
          </a:p>
          <a:p>
            <a:r>
              <a:rPr lang="en-US" sz="1200" b="1" i="0" kern="1200" dirty="0">
                <a:solidFill>
                  <a:schemeClr val="tx1"/>
                </a:solidFill>
                <a:effectLst/>
                <a:latin typeface="+mn-lt"/>
                <a:ea typeface="+mn-ea"/>
                <a:cs typeface="+mn-cs"/>
              </a:rPr>
              <a:t>One caveat — Durable Agents and A2A are currently separate paths:</a:t>
            </a:r>
            <a:r>
              <a:rPr lang="en-US" sz="1200" b="0" i="0" kern="1200" dirty="0">
                <a:solidFill>
                  <a:schemeClr val="tx1"/>
                </a:solidFill>
                <a:effectLst/>
                <a:latin typeface="+mn-lt"/>
                <a:ea typeface="+mn-ea"/>
                <a:cs typeface="+mn-cs"/>
              </a:rPr>
              <a:t> If you need serverless hosting via Azure Functions Durable Agents, those don't natively serve the A2A protocol today. Durable Agents use their own HTTP endpoint pattern. They can consume A2A agents as tools, but they can't natively expose themselves as A2A servers. For A2A interop, use ASP.NET Core hosting. This may converge in the future, but it's a design constraint to be aware of today.</a:t>
            </a:r>
          </a:p>
          <a:p>
            <a:r>
              <a:rPr lang="en-US" sz="1200" b="1" i="0" kern="1200" dirty="0">
                <a:solidFill>
                  <a:schemeClr val="tx1"/>
                </a:solidFill>
                <a:effectLst/>
                <a:latin typeface="+mn-lt"/>
                <a:ea typeface="+mn-ea"/>
                <a:cs typeface="+mn-cs"/>
              </a:rPr>
              <a:t>The bottom line:</a:t>
            </a:r>
            <a:r>
              <a:rPr lang="en-US" sz="1200" b="0" i="0" kern="1200" dirty="0">
                <a:solidFill>
                  <a:schemeClr val="tx1"/>
                </a:solidFill>
                <a:effectLst/>
                <a:latin typeface="+mn-lt"/>
                <a:ea typeface="+mn-ea"/>
                <a:cs typeface="+mn-cs"/>
              </a:rPr>
              <a:t> This hybrid pattern gives you the best of both worlds — the performance and simplicity of in-process orchestration where you control the stack, and the interoperability and independence of A2A where you need to cross organizational or technology boundaries. It's the architecture Microsoft recommends, and it's what the tooling is built to support.</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16</a:t>
            </a:fld>
            <a:endParaRPr lang="en-US"/>
          </a:p>
        </p:txBody>
      </p:sp>
    </p:spTree>
    <p:extLst>
      <p:ext uri="{BB962C8B-B14F-4D97-AF65-F5344CB8AC3E}">
        <p14:creationId xmlns:p14="http://schemas.microsoft.com/office/powerpoint/2010/main" val="3158768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Key Takeaways &amp; Recommendations</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This slide is your executive summary.</a:t>
            </a:r>
            <a:r>
              <a:rPr lang="en-US" sz="1200" b="0" i="0" kern="1200" dirty="0">
                <a:solidFill>
                  <a:schemeClr val="tx1"/>
                </a:solidFill>
                <a:effectLst/>
                <a:latin typeface="+mn-lt"/>
                <a:ea typeface="+mn-ea"/>
                <a:cs typeface="+mn-cs"/>
              </a:rPr>
              <a:t> If someone missed the entire presentation and only sees one slide, this is it. Six takeaways that capture the strategic picture for an enterprise adopting multi-agent systems on Azure.</a:t>
            </a:r>
          </a:p>
          <a:p>
            <a:r>
              <a:rPr lang="en-US" sz="1200" b="1" i="0" kern="1200" dirty="0">
                <a:solidFill>
                  <a:schemeClr val="tx1"/>
                </a:solidFill>
                <a:effectLst/>
                <a:latin typeface="+mn-lt"/>
                <a:ea typeface="+mn-ea"/>
                <a:cs typeface="+mn-cs"/>
              </a:rPr>
              <a:t>Takeaway 1 — Microsoft Is Consolidating:</a:t>
            </a:r>
            <a:r>
              <a:rPr lang="en-US" sz="1200" b="0" i="0" kern="1200" dirty="0">
                <a:solidFill>
                  <a:schemeClr val="tx1"/>
                </a:solidFill>
                <a:effectLst/>
                <a:latin typeface="+mn-lt"/>
                <a:ea typeface="+mn-ea"/>
                <a:cs typeface="+mn-cs"/>
              </a:rPr>
              <a:t> This is the single most important strategic signal. The Agent Framework is the direct successor to both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(the research project) and Semantic Kernel's agent capabilities — built by the same teams. Microsoft isn't maintaining three competing frameworks — they're converging to one. For new projects, this is your target. For existing SK or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code, migration guides already exist. Don't invest heavily in </a:t>
            </a:r>
            <a:r>
              <a:rPr lang="en-US" sz="1200" b="0" i="0" kern="1200" dirty="0" err="1">
                <a:solidFill>
                  <a:schemeClr val="tx1"/>
                </a:solidFill>
                <a:effectLst/>
                <a:latin typeface="+mn-lt"/>
                <a:ea typeface="+mn-ea"/>
                <a:cs typeface="+mn-cs"/>
              </a:rPr>
              <a:t>AutoGen</a:t>
            </a:r>
            <a:r>
              <a:rPr lang="en-US" sz="1200" b="0" i="0" kern="1200" dirty="0">
                <a:solidFill>
                  <a:schemeClr val="tx1"/>
                </a:solidFill>
                <a:effectLst/>
                <a:latin typeface="+mn-lt"/>
                <a:ea typeface="+mn-ea"/>
                <a:cs typeface="+mn-cs"/>
              </a:rPr>
              <a:t> directly — invest in the Agent Framework, which carries its DNA forward.</a:t>
            </a:r>
          </a:p>
          <a:p>
            <a:r>
              <a:rPr lang="en-US" sz="1200" b="1" i="0" kern="1200" dirty="0">
                <a:solidFill>
                  <a:schemeClr val="tx1"/>
                </a:solidFill>
                <a:effectLst/>
                <a:latin typeface="+mn-lt"/>
                <a:ea typeface="+mn-ea"/>
                <a:cs typeface="+mn-cs"/>
              </a:rPr>
              <a:t>Takeaway 2 — Five Standardized Patterns:</a:t>
            </a:r>
            <a:r>
              <a:rPr lang="en-US" sz="1200" b="0" i="0" kern="1200" dirty="0">
                <a:solidFill>
                  <a:schemeClr val="tx1"/>
                </a:solidFill>
                <a:effectLst/>
                <a:latin typeface="+mn-lt"/>
                <a:ea typeface="+mn-ea"/>
                <a:cs typeface="+mn-cs"/>
              </a:rPr>
              <a:t> This matters because it gives the industry a shared vocabulary. Sequential, Concurrent, Handoff, Group Chat, and </a:t>
            </a:r>
            <a:r>
              <a:rPr lang="en-US" sz="1200" b="0" i="0" kern="1200" dirty="0" err="1">
                <a:solidFill>
                  <a:schemeClr val="tx1"/>
                </a:solidFill>
                <a:effectLst/>
                <a:latin typeface="+mn-lt"/>
                <a:ea typeface="+mn-ea"/>
                <a:cs typeface="+mn-cs"/>
              </a:rPr>
              <a:t>Magentic</a:t>
            </a:r>
            <a:r>
              <a:rPr lang="en-US" sz="1200" b="0" i="0" kern="1200" dirty="0">
                <a:solidFill>
                  <a:schemeClr val="tx1"/>
                </a:solidFill>
                <a:effectLst/>
                <a:latin typeface="+mn-lt"/>
                <a:ea typeface="+mn-ea"/>
                <a:cs typeface="+mn-cs"/>
              </a:rPr>
              <a:t> aren't just Microsoft terminology — they're codified in the Azure Architecture Center as technology-agnostic patterns. When your team discusses multi-agent design, use these names. When evaluating a framework, check it against these five. When scoping a project, pick the simplest pattern that works. This is the common language that replaces ad-hoc, framework-specific approaches.</a:t>
            </a:r>
          </a:p>
          <a:p>
            <a:r>
              <a:rPr lang="en-US" sz="1200" b="1" i="0" kern="1200" dirty="0">
                <a:solidFill>
                  <a:schemeClr val="tx1"/>
                </a:solidFill>
                <a:effectLst/>
                <a:latin typeface="+mn-lt"/>
                <a:ea typeface="+mn-ea"/>
                <a:cs typeface="+mn-cs"/>
              </a:rPr>
              <a:t>Takeaway 3 — Strong Foundry Compatibility:</a:t>
            </a:r>
            <a:r>
              <a:rPr lang="en-US" sz="1200" b="0" i="0" kern="1200" dirty="0">
                <a:solidFill>
                  <a:schemeClr val="tx1"/>
                </a:solidFill>
                <a:effectLst/>
                <a:latin typeface="+mn-lt"/>
                <a:ea typeface="+mn-ea"/>
                <a:cs typeface="+mn-cs"/>
              </a:rPr>
              <a:t> For this audience — already on Azure AI Foundry — this is the reassuring news. All three primary frameworks (Semantic Kernel, Agent Framework, </a:t>
            </a:r>
            <a:r>
              <a:rPr lang="en-US" sz="1200" b="0" i="0" kern="1200" dirty="0" err="1">
                <a:solidFill>
                  <a:schemeClr val="tx1"/>
                </a:solidFill>
                <a:effectLst/>
                <a:latin typeface="+mn-lt"/>
                <a:ea typeface="+mn-ea"/>
                <a:cs typeface="+mn-cs"/>
              </a:rPr>
              <a:t>LangChain</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have first-class Foundry integration. The OpenAI-compatible API surface means models just work. There's no vendor lock-in concern — you can switch frameworks without switching infrastructure. Your choice of framework should be driven by language preference and pattern needs, not by Foundry compatibility.</a:t>
            </a:r>
          </a:p>
          <a:p>
            <a:r>
              <a:rPr lang="en-US" sz="1200" b="1" i="0" kern="1200" dirty="0">
                <a:solidFill>
                  <a:schemeClr val="tx1"/>
                </a:solidFill>
                <a:effectLst/>
                <a:latin typeface="+mn-lt"/>
                <a:ea typeface="+mn-ea"/>
                <a:cs typeface="+mn-cs"/>
              </a:rPr>
              <a:t>Takeaway 4 — A2A Is the Standard:</a:t>
            </a:r>
            <a:r>
              <a:rPr lang="en-US" sz="1200" b="0" i="0" kern="1200" dirty="0">
                <a:solidFill>
                  <a:schemeClr val="tx1"/>
                </a:solidFill>
                <a:effectLst/>
                <a:latin typeface="+mn-lt"/>
                <a:ea typeface="+mn-ea"/>
                <a:cs typeface="+mn-cs"/>
              </a:rPr>
              <a:t> The Agent2Agent protocol is what makes multi-team, multi-language agent systems possible. It's an open standard under the Linux Foundation — not a proprietary Microsoft protocol. Microsoft has first-class ASP.NET support for both serving and consuming A2A agents. Copilot Studio and Foundry both integrate with A2A. If you're going to invest in one interoperability standard for agent communication, A2A is the bet.</a:t>
            </a:r>
          </a:p>
          <a:p>
            <a:r>
              <a:rPr lang="en-US" sz="1200" b="1" i="0" kern="1200" dirty="0">
                <a:solidFill>
                  <a:schemeClr val="tx1"/>
                </a:solidFill>
                <a:effectLst/>
                <a:latin typeface="+mn-lt"/>
                <a:ea typeface="+mn-ea"/>
                <a:cs typeface="+mn-cs"/>
              </a:rPr>
              <a:t>Takeaway 5 — Hybrid Is Recommended:</a:t>
            </a:r>
            <a:r>
              <a:rPr lang="en-US" sz="1200" b="0" i="0" kern="1200" dirty="0">
                <a:solidFill>
                  <a:schemeClr val="tx1"/>
                </a:solidFill>
                <a:effectLst/>
                <a:latin typeface="+mn-lt"/>
                <a:ea typeface="+mn-ea"/>
                <a:cs typeface="+mn-cs"/>
              </a:rPr>
              <a:t> This is the architectural recommendation we just walked through on the previous slide. Use in-process orchestration — SK or Agent Framework — within each service for low latency, shared state, and simplicity. Use A2A to connect services across team, language, and organizational boundaries. Don't force everything into one model — match the communication pattern to the boundary. In-process inside, A2A outside.</a:t>
            </a:r>
          </a:p>
          <a:p>
            <a:r>
              <a:rPr lang="en-US" sz="1200" b="1" i="0" kern="1200" dirty="0">
                <a:solidFill>
                  <a:schemeClr val="tx1"/>
                </a:solidFill>
                <a:effectLst/>
                <a:latin typeface="+mn-lt"/>
                <a:ea typeface="+mn-ea"/>
                <a:cs typeface="+mn-cs"/>
              </a:rPr>
              <a:t>Takeaway 6 — Everything Is in Preview:</a:t>
            </a:r>
            <a:r>
              <a:rPr lang="en-US" sz="1200" b="0" i="0" kern="1200" dirty="0">
                <a:solidFill>
                  <a:schemeClr val="tx1"/>
                </a:solidFill>
                <a:effectLst/>
                <a:latin typeface="+mn-lt"/>
                <a:ea typeface="+mn-ea"/>
                <a:cs typeface="+mn-cs"/>
              </a:rPr>
              <a:t> This is the honest caveat, and it's important to set expectations. The Agent Framework is in public preview. SK's agent orchestration classes are marked experimental. The A2A ASP.NET packages are prerelease. Only </a:t>
            </a:r>
            <a:r>
              <a:rPr lang="en-US" sz="1200" b="0" i="0" kern="1200" dirty="0" err="1">
                <a:solidFill>
                  <a:schemeClr val="tx1"/>
                </a:solidFill>
                <a:effectLst/>
                <a:latin typeface="+mn-lt"/>
                <a:ea typeface="+mn-ea"/>
                <a:cs typeface="+mn-cs"/>
              </a:rPr>
              <a:t>LangGraph's</a:t>
            </a:r>
            <a:r>
              <a:rPr lang="en-US" sz="1200" b="0" i="0" kern="1200" dirty="0">
                <a:solidFill>
                  <a:schemeClr val="tx1"/>
                </a:solidFill>
                <a:effectLst/>
                <a:latin typeface="+mn-lt"/>
                <a:ea typeface="+mn-ea"/>
                <a:cs typeface="+mn-cs"/>
              </a:rPr>
              <a:t> core is GA. This doesn't mean "don't use them" — it means pin your package versions, plan for API changes, and build abstraction layers so you're not tightly coupled to APIs that may shift. The patterns and architecture are stable; the specific APIs are still maturing.</a:t>
            </a:r>
          </a:p>
          <a:p>
            <a:r>
              <a:rPr lang="en-US" sz="1200" b="1" i="0" kern="1200" dirty="0">
                <a:solidFill>
                  <a:schemeClr val="tx1"/>
                </a:solidFill>
                <a:effectLst/>
                <a:latin typeface="+mn-lt"/>
                <a:ea typeface="+mn-ea"/>
                <a:cs typeface="+mn-cs"/>
              </a:rPr>
              <a:t>The recommended action plan for this organization:</a:t>
            </a:r>
            <a:endParaRPr lang="en-US" sz="1200" b="0" i="0" kern="1200" dirty="0">
              <a:solidFill>
                <a:schemeClr val="tx1"/>
              </a:solidFill>
              <a:effectLst/>
              <a:latin typeface="+mn-lt"/>
              <a:ea typeface="+mn-ea"/>
              <a:cs typeface="+mn-cs"/>
            </a:endParaRPr>
          </a:p>
          <a:p>
            <a:pPr lvl="1"/>
            <a:r>
              <a:rPr lang="en-US" sz="1200" b="1" i="0" kern="1200" dirty="0">
                <a:solidFill>
                  <a:schemeClr val="tx1"/>
                </a:solidFill>
                <a:effectLst/>
                <a:latin typeface="+mn-lt"/>
                <a:ea typeface="+mn-ea"/>
                <a:cs typeface="+mn-cs"/>
              </a:rPr>
              <a:t>Immediate:</a:t>
            </a:r>
            <a:r>
              <a:rPr lang="en-US" sz="1200" b="0" i="0" kern="1200" dirty="0">
                <a:solidFill>
                  <a:schemeClr val="tx1"/>
                </a:solidFill>
                <a:effectLst/>
                <a:latin typeface="+mn-lt"/>
                <a:ea typeface="+mn-ea"/>
                <a:cs typeface="+mn-cs"/>
              </a:rPr>
              <a:t> Start experimenting with Foundry Prompt Agents and Workflow Agents for quick wins — no code required.</a:t>
            </a:r>
          </a:p>
          <a:p>
            <a:pPr lvl="1"/>
            <a:r>
              <a:rPr lang="en-US" sz="1200" b="1" i="0" kern="1200" dirty="0">
                <a:solidFill>
                  <a:schemeClr val="tx1"/>
                </a:solidFill>
                <a:effectLst/>
                <a:latin typeface="+mn-lt"/>
                <a:ea typeface="+mn-ea"/>
                <a:cs typeface="+mn-cs"/>
              </a:rPr>
              <a:t>Near-term:</a:t>
            </a:r>
            <a:r>
              <a:rPr lang="en-US" sz="1200" b="0" i="0" kern="1200" dirty="0">
                <a:solidFill>
                  <a:schemeClr val="tx1"/>
                </a:solidFill>
                <a:effectLst/>
                <a:latin typeface="+mn-lt"/>
                <a:ea typeface="+mn-ea"/>
                <a:cs typeface="+mn-cs"/>
              </a:rPr>
              <a:t> Build a proof-of-concept using Agent Framework (or SK for production stability) with one or two orchestration patterns that match your highest-value use case.</a:t>
            </a:r>
          </a:p>
          <a:p>
            <a:pPr lvl="1"/>
            <a:r>
              <a:rPr lang="en-US" sz="1200" b="1" i="0" kern="1200" dirty="0">
                <a:solidFill>
                  <a:schemeClr val="tx1"/>
                </a:solidFill>
                <a:effectLst/>
                <a:latin typeface="+mn-lt"/>
                <a:ea typeface="+mn-ea"/>
                <a:cs typeface="+mn-cs"/>
              </a:rPr>
              <a:t>Medium-term:</a:t>
            </a:r>
            <a:r>
              <a:rPr lang="en-US" sz="1200" b="0" i="0" kern="1200" dirty="0">
                <a:solidFill>
                  <a:schemeClr val="tx1"/>
                </a:solidFill>
                <a:effectLst/>
                <a:latin typeface="+mn-lt"/>
                <a:ea typeface="+mn-ea"/>
                <a:cs typeface="+mn-cs"/>
              </a:rPr>
              <a:t> Add A2A when a second team or a Python service needs to participate. Let the hybrid architecture emerge from real organizational needs.</a:t>
            </a:r>
          </a:p>
          <a:p>
            <a:pPr lvl="1"/>
            <a:r>
              <a:rPr lang="en-US" sz="1200" b="1" i="0" kern="1200" dirty="0">
                <a:solidFill>
                  <a:schemeClr val="tx1"/>
                </a:solidFill>
                <a:effectLst/>
                <a:latin typeface="+mn-lt"/>
                <a:ea typeface="+mn-ea"/>
                <a:cs typeface="+mn-cs"/>
              </a:rPr>
              <a:t>Ongoing:</a:t>
            </a:r>
            <a:r>
              <a:rPr lang="en-US" sz="1200" b="0" i="0" kern="1200" dirty="0">
                <a:solidFill>
                  <a:schemeClr val="tx1"/>
                </a:solidFill>
                <a:effectLst/>
                <a:latin typeface="+mn-lt"/>
                <a:ea typeface="+mn-ea"/>
                <a:cs typeface="+mn-cs"/>
              </a:rPr>
              <a:t> Track the Agent Framework's path to GA. As it stabilizes, migrate from SK if you haven't already.</a:t>
            </a:r>
          </a:p>
          <a:p>
            <a:r>
              <a:rPr lang="en-US" sz="1200" b="1" i="0" kern="1200" dirty="0">
                <a:solidFill>
                  <a:schemeClr val="tx1"/>
                </a:solidFill>
                <a:effectLst/>
                <a:latin typeface="+mn-lt"/>
                <a:ea typeface="+mn-ea"/>
                <a:cs typeface="+mn-cs"/>
              </a:rPr>
              <a:t>Closing thought for Q&amp;A:</a:t>
            </a:r>
            <a:r>
              <a:rPr lang="en-US" sz="1200" b="0" i="0" kern="1200" dirty="0">
                <a:solidFill>
                  <a:schemeClr val="tx1"/>
                </a:solidFill>
                <a:effectLst/>
                <a:latin typeface="+mn-lt"/>
                <a:ea typeface="+mn-ea"/>
                <a:cs typeface="+mn-cs"/>
              </a:rPr>
              <a:t> The multi-agent space is moving fast — these six takeaways represent the state as of early 2026. The patterns are stable and worth learning. The strategic direction — Agent Framework plus A2A — is clear. The specific tooling will continue to mature. The best time to start building is now, with the understanding that you're investing in patterns and architecture, not betting on a specific preview API surface.</a:t>
            </a:r>
          </a:p>
          <a:p>
            <a:endParaRPr lang="en-US" dirty="0"/>
          </a:p>
        </p:txBody>
      </p:sp>
      <p:sp>
        <p:nvSpPr>
          <p:cNvPr id="4" name="Slide Number Placeholder 3"/>
          <p:cNvSpPr>
            <a:spLocks noGrp="1"/>
          </p:cNvSpPr>
          <p:nvPr>
            <p:ph type="sldNum" sz="quarter" idx="5"/>
          </p:nvPr>
        </p:nvSpPr>
        <p:spPr/>
        <p:txBody>
          <a:bodyPr/>
          <a:lstStyle/>
          <a:p>
            <a:fld id="{DB73E670-C469-43C0-98EC-08E4C325C97F}" type="slidenum">
              <a:rPr lang="en-US" smtClean="0"/>
              <a:t>17</a:t>
            </a:fld>
            <a:endParaRPr lang="en-US"/>
          </a:p>
        </p:txBody>
      </p:sp>
    </p:spTree>
    <p:extLst>
      <p:ext uri="{BB962C8B-B14F-4D97-AF65-F5344CB8AC3E}">
        <p14:creationId xmlns:p14="http://schemas.microsoft.com/office/powerpoint/2010/main" val="2634863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3/20/2026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151746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3/20/2026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3/20/2026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3/20/2026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3/20/2026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3/20/2026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3/20/2026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3/20/2026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3/20/2026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3/20/2026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3/20/2026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F1923"/>
            </a:gs>
            <a:gs pos="100000">
              <a:srgbClr val="162231"/>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3/20/2026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
        <p:nvSpPr>
          <p:cNvPr id="1001" name="AccentBar"/>
          <p:cNvSpPr/>
          <p:nvPr/>
        </p:nvSpPr>
        <p:spPr>
          <a:xfrm>
            <a:off x="0" y="0"/>
            <a:ext cx="12192000" cy="57150"/>
          </a:xfrm>
          <a:prstGeom prst="rect">
            <a:avLst/>
          </a:prstGeom>
          <a:gradFill>
            <a:gsLst>
              <a:gs pos="0">
                <a:srgbClr val="4FC3F7"/>
              </a:gs>
              <a:gs pos="50000">
                <a:srgbClr val="CE93D8"/>
              </a:gs>
              <a:gs pos="100000">
                <a:srgbClr val="4DD0E1"/>
              </a:gs>
            </a:gsLst>
            <a:lin ang="0" scaled="1"/>
          </a:gradFill>
          <a:ln w="0">
            <a:noFill/>
          </a:ln>
        </p:spPr>
        <p:txBody>
          <a:bodyPr/>
          <a:lstStyle/>
          <a:p>
            <a:endParaRPr lang="en-US"/>
          </a:p>
        </p:txBody>
      </p:sp>
      <p:sp>
        <p:nvSpPr>
          <p:cNvPr id="1002" name="CornerAccent"/>
          <p:cNvSpPr/>
          <p:nvPr/>
        </p:nvSpPr>
        <p:spPr>
          <a:xfrm>
            <a:off x="10972800" y="6400800"/>
            <a:ext cx="1219200" cy="457200"/>
          </a:xfrm>
          <a:prstGeom prst="rect">
            <a:avLst/>
          </a:prstGeom>
          <a:gradFill>
            <a:gsLst>
              <a:gs pos="0">
                <a:srgbClr val="4FC3F7">
                  <a:alpha val="0"/>
                </a:srgbClr>
              </a:gs>
              <a:gs pos="100000">
                <a:srgbClr val="4FC3F7">
                  <a:alpha val="15000"/>
                </a:srgbClr>
              </a:gs>
            </a:gsLst>
            <a:lin ang="0" scaled="1"/>
          </a:gradFill>
          <a:ln w="0">
            <a:noFill/>
          </a:ln>
        </p:spPr>
        <p:txBody>
          <a:bodyPr/>
          <a:lstStyle/>
          <a:p>
            <a:endParaRPr lang="en-US"/>
          </a:p>
        </p:txBody>
      </p:sp>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E8ECF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B0BEC5"/>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B0BEC5"/>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B0BEC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B0BEC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B0BEC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B0BEC5"/>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B0BEC5"/>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B0BEC5"/>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B0BEC5"/>
          </a:solidFill>
          <a:latin typeface="+mn-lt"/>
          <a:ea typeface="+mn-ea"/>
          <a:cs typeface="+mn-cs"/>
        </a:defRPr>
      </a:lvl9pPr>
    </p:bodyStyle>
    <p:otherStyle>
      <a:defPPr>
        <a:defRPr lang="en-US">
          <a:solidFill>
            <a:srgbClr val="B0BEC5"/>
          </a:solidFill>
        </a:defRPr>
      </a:defPPr>
      <a:lvl1pPr marL="0" algn="l" defTabSz="914400" rtl="0" eaLnBrk="1" latinLnBrk="0" hangingPunct="1">
        <a:defRPr sz="1800" kern="1200">
          <a:solidFill>
            <a:srgbClr val="B0BEC5"/>
          </a:solidFill>
          <a:latin typeface="+mn-lt"/>
          <a:ea typeface="+mn-ea"/>
          <a:cs typeface="+mn-cs"/>
        </a:defRPr>
      </a:lvl1pPr>
      <a:lvl2pPr marL="457200" algn="l" defTabSz="914400" rtl="0" eaLnBrk="1" latinLnBrk="0" hangingPunct="1">
        <a:defRPr sz="1800" kern="1200">
          <a:solidFill>
            <a:srgbClr val="B0BEC5"/>
          </a:solidFill>
          <a:latin typeface="+mn-lt"/>
          <a:ea typeface="+mn-ea"/>
          <a:cs typeface="+mn-cs"/>
        </a:defRPr>
      </a:lvl2pPr>
      <a:lvl3pPr marL="914400" algn="l" defTabSz="914400" rtl="0" eaLnBrk="1" latinLnBrk="0" hangingPunct="1">
        <a:defRPr sz="1800" kern="1200">
          <a:solidFill>
            <a:srgbClr val="B0BEC5"/>
          </a:solidFill>
          <a:latin typeface="+mn-lt"/>
          <a:ea typeface="+mn-ea"/>
          <a:cs typeface="+mn-cs"/>
        </a:defRPr>
      </a:lvl3pPr>
      <a:lvl4pPr marL="1371600" algn="l" defTabSz="914400" rtl="0" eaLnBrk="1" latinLnBrk="0" hangingPunct="1">
        <a:defRPr sz="1800" kern="1200">
          <a:solidFill>
            <a:srgbClr val="B0BEC5"/>
          </a:solidFill>
          <a:latin typeface="+mn-lt"/>
          <a:ea typeface="+mn-ea"/>
          <a:cs typeface="+mn-cs"/>
        </a:defRPr>
      </a:lvl4pPr>
      <a:lvl5pPr marL="1828800" algn="l" defTabSz="914400" rtl="0" eaLnBrk="1" latinLnBrk="0" hangingPunct="1">
        <a:defRPr sz="1800" kern="1200">
          <a:solidFill>
            <a:srgbClr val="B0BEC5"/>
          </a:solidFill>
          <a:latin typeface="+mn-lt"/>
          <a:ea typeface="+mn-ea"/>
          <a:cs typeface="+mn-cs"/>
        </a:defRPr>
      </a:lvl5pPr>
      <a:lvl6pPr marL="2286000" algn="l" defTabSz="914400" rtl="0" eaLnBrk="1" latinLnBrk="0" hangingPunct="1">
        <a:defRPr sz="1800" kern="1200">
          <a:solidFill>
            <a:srgbClr val="B0BEC5"/>
          </a:solidFill>
          <a:latin typeface="+mn-lt"/>
          <a:ea typeface="+mn-ea"/>
          <a:cs typeface="+mn-cs"/>
        </a:defRPr>
      </a:lvl6pPr>
      <a:lvl7pPr marL="2743200" algn="l" defTabSz="914400" rtl="0" eaLnBrk="1" latinLnBrk="0" hangingPunct="1">
        <a:defRPr sz="1800" kern="1200">
          <a:solidFill>
            <a:srgbClr val="B0BEC5"/>
          </a:solidFill>
          <a:latin typeface="+mn-lt"/>
          <a:ea typeface="+mn-ea"/>
          <a:cs typeface="+mn-cs"/>
        </a:defRPr>
      </a:lvl7pPr>
      <a:lvl8pPr marL="3200400" algn="l" defTabSz="914400" rtl="0" eaLnBrk="1" latinLnBrk="0" hangingPunct="1">
        <a:defRPr sz="1800" kern="1200">
          <a:solidFill>
            <a:srgbClr val="B0BEC5"/>
          </a:solidFill>
          <a:latin typeface="+mn-lt"/>
          <a:ea typeface="+mn-ea"/>
          <a:cs typeface="+mn-cs"/>
        </a:defRPr>
      </a:lvl8pPr>
      <a:lvl9pPr marL="3657600" algn="l" defTabSz="914400" rtl="0" eaLnBrk="1" latinLnBrk="0" hangingPunct="1">
        <a:defRPr sz="1800" kern="1200">
          <a:solidFill>
            <a:srgbClr val="B0BEC5"/>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4.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6.sv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FAFEE-90DB-2992-3ACD-E0046B8989A2}"/>
              </a:ext>
            </a:extLst>
          </p:cNvPr>
          <p:cNvSpPr>
            <a:spLocks noGrp="1"/>
          </p:cNvSpPr>
          <p:nvPr>
            <p:ph type="ctrTitle"/>
          </p:nvPr>
        </p:nvSpPr>
        <p:spPr/>
        <p:txBody>
          <a:bodyPr>
            <a:normAutofit/>
          </a:bodyPr>
          <a:lstStyle/>
          <a:p>
            <a:r>
              <a:rPr lang="en-US" sz="3600"/>
              <a:t>Multi-Agent Enterprise Architecture</a:t>
            </a:r>
          </a:p>
        </p:txBody>
      </p:sp>
      <p:sp>
        <p:nvSpPr>
          <p:cNvPr id="3" name="Subtitle 2">
            <a:extLst>
              <a:ext uri="{FF2B5EF4-FFF2-40B4-BE49-F238E27FC236}">
                <a16:creationId xmlns:a16="http://schemas.microsoft.com/office/drawing/2014/main" id="{B46E4E80-76A4-C9A9-3466-C18F5DFF3199}"/>
              </a:ext>
            </a:extLst>
          </p:cNvPr>
          <p:cNvSpPr>
            <a:spLocks noGrp="1"/>
          </p:cNvSpPr>
          <p:nvPr>
            <p:ph type="subTitle" idx="1"/>
          </p:nvPr>
        </p:nvSpPr>
        <p:spPr/>
        <p:txBody>
          <a:bodyPr>
            <a:normAutofit/>
          </a:bodyPr>
          <a:lstStyle/>
          <a:p>
            <a:r>
              <a:rPr lang="en-US" sz="1800"/>
              <a:t>Orchestration Patterns, Library Ecosystem, Azure AI Foundry &amp; A2A Communication</a:t>
            </a:r>
          </a:p>
        </p:txBody>
      </p:sp>
      <p:pic>
        <p:nvPicPr>
          <p:cNvPr id="4" name="Graphic 4" descr="AI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61000" y="4714875"/>
            <a:ext cx="1270000" cy="1270000"/>
          </a:xfrm>
          <a:prstGeom prst="rect">
            <a:avLst/>
          </a:prstGeom>
        </p:spPr>
      </p:pic>
    </p:spTree>
    <p:extLst>
      <p:ext uri="{BB962C8B-B14F-4D97-AF65-F5344CB8AC3E}">
        <p14:creationId xmlns:p14="http://schemas.microsoft.com/office/powerpoint/2010/main" val="3795453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3A755-D30B-C182-762A-424F6556874B}"/>
              </a:ext>
            </a:extLst>
          </p:cNvPr>
          <p:cNvSpPr>
            <a:spLocks noGrp="1"/>
          </p:cNvSpPr>
          <p:nvPr>
            <p:ph type="title"/>
          </p:nvPr>
        </p:nvSpPr>
        <p:spPr/>
        <p:txBody>
          <a:bodyPr>
            <a:normAutofit/>
          </a:bodyPr>
          <a:lstStyle/>
          <a:p>
            <a:r>
              <a:rPr lang="en-US" sz="3200"/>
              <a:t>Agenda</a:t>
            </a:r>
          </a:p>
        </p:txBody>
      </p:sp>
      <p:sp>
        <p:nvSpPr>
          <p:cNvPr id="3" name="Rectangle: Rounded Corners 2">
            <a:extLst>
              <a:ext uri="{FF2B5EF4-FFF2-40B4-BE49-F238E27FC236}">
                <a16:creationId xmlns:a16="http://schemas.microsoft.com/office/drawing/2014/main" id="{F99DD336-E747-4D6B-B499-FDF93824353F}"/>
              </a:ext>
            </a:extLst>
          </p:cNvPr>
          <p:cNvSpPr/>
          <p:nvPr/>
        </p:nvSpPr>
        <p:spPr>
          <a:xfrm>
            <a:off x="609600" y="1778000"/>
            <a:ext cx="2438400" cy="2540000"/>
          </a:xfrm>
          <a:prstGeom prst="roundRect">
            <a:avLst/>
          </a:prstGeom>
          <a:solidFill>
            <a:srgbClr val="1A2736"/>
          </a:solidFill>
          <a:ln w="25400" cap="flat" cmpd="sng" algn="ctr">
            <a:solidFill>
              <a:srgbClr val="4FC3F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1411BBA6-0555-46DB-8E63-3703A5001A59}"/>
              </a:ext>
            </a:extLst>
          </p:cNvPr>
          <p:cNvSpPr/>
          <p:nvPr/>
        </p:nvSpPr>
        <p:spPr>
          <a:xfrm>
            <a:off x="609600" y="1778000"/>
            <a:ext cx="2438400" cy="76200"/>
          </a:xfrm>
          <a:prstGeom prst="rect">
            <a:avLst/>
          </a:prstGeom>
          <a:solidFill>
            <a:srgbClr val="4FC3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2F968AAC-3EAC-4F29-952E-B87099C48651}"/>
              </a:ext>
            </a:extLst>
          </p:cNvPr>
          <p:cNvSpPr txBox="1"/>
          <p:nvPr/>
        </p:nvSpPr>
        <p:spPr>
          <a:xfrm>
            <a:off x="762000" y="2095500"/>
            <a:ext cx="2133600" cy="762000"/>
          </a:xfrm>
          <a:prstGeom prst="rect">
            <a:avLst/>
          </a:prstGeom>
          <a:noFill/>
        </p:spPr>
        <p:txBody>
          <a:bodyPr vertOverflow="overflow" vert="horz" wrap="square" rtlCol="0" anchor="t">
            <a:spAutoFit/>
          </a:bodyPr>
          <a:lstStyle/>
          <a:p>
            <a:pPr algn="l"/>
            <a:r>
              <a:rPr lang="en-US" b="1">
                <a:solidFill>
                  <a:srgbClr val="4FC3F7"/>
                </a:solidFill>
              </a:rPr>
              <a:t>Orchestration
Patterns</a:t>
            </a:r>
          </a:p>
        </p:txBody>
      </p:sp>
      <p:sp>
        <p:nvSpPr>
          <p:cNvPr id="6" name="TextBox 5">
            <a:extLst>
              <a:ext uri="{FF2B5EF4-FFF2-40B4-BE49-F238E27FC236}">
                <a16:creationId xmlns:a16="http://schemas.microsoft.com/office/drawing/2014/main" id="{32CBF2BB-C9CE-447C-9B12-CD6B96D6AA41}"/>
              </a:ext>
            </a:extLst>
          </p:cNvPr>
          <p:cNvSpPr txBox="1"/>
          <p:nvPr/>
        </p:nvSpPr>
        <p:spPr>
          <a:xfrm>
            <a:off x="762000" y="3048000"/>
            <a:ext cx="2133600" cy="1016000"/>
          </a:xfrm>
          <a:prstGeom prst="rect">
            <a:avLst/>
          </a:prstGeom>
          <a:noFill/>
        </p:spPr>
        <p:txBody>
          <a:bodyPr vertOverflow="overflow" vert="horz" wrap="square" rtlCol="0" anchor="t">
            <a:spAutoFit/>
          </a:bodyPr>
          <a:lstStyle/>
          <a:p>
            <a:pPr algn="l"/>
            <a:r>
              <a:rPr lang="en-US" sz="1400">
                <a:solidFill>
                  <a:srgbClr val="B0BEC5"/>
                </a:solidFill>
              </a:rPr>
              <a:t>5 standardized patterns
from Azure Architecture</a:t>
            </a:r>
          </a:p>
        </p:txBody>
      </p:sp>
      <p:sp>
        <p:nvSpPr>
          <p:cNvPr id="7" name="Rectangle: Rounded Corners 6">
            <a:extLst>
              <a:ext uri="{FF2B5EF4-FFF2-40B4-BE49-F238E27FC236}">
                <a16:creationId xmlns:a16="http://schemas.microsoft.com/office/drawing/2014/main" id="{D8760F10-EBCC-4118-8F40-EF2A1050801D}"/>
              </a:ext>
            </a:extLst>
          </p:cNvPr>
          <p:cNvSpPr/>
          <p:nvPr/>
        </p:nvSpPr>
        <p:spPr>
          <a:xfrm>
            <a:off x="3505200" y="1778000"/>
            <a:ext cx="2438400" cy="2540000"/>
          </a:xfrm>
          <a:prstGeom prst="roundRect">
            <a:avLst/>
          </a:prstGeom>
          <a:solidFill>
            <a:srgbClr val="1A2736"/>
          </a:solidFill>
          <a:ln w="25400" cap="flat" cmpd="sng" algn="ctr">
            <a:solidFill>
              <a:srgbClr val="81C78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ctangle 7">
            <a:extLst>
              <a:ext uri="{FF2B5EF4-FFF2-40B4-BE49-F238E27FC236}">
                <a16:creationId xmlns:a16="http://schemas.microsoft.com/office/drawing/2014/main" id="{17E46344-96C7-4E04-8062-3AFB7135DC98}"/>
              </a:ext>
            </a:extLst>
          </p:cNvPr>
          <p:cNvSpPr/>
          <p:nvPr/>
        </p:nvSpPr>
        <p:spPr>
          <a:xfrm>
            <a:off x="3505200" y="1778000"/>
            <a:ext cx="2438400" cy="76200"/>
          </a:xfrm>
          <a:prstGeom prst="rect">
            <a:avLst/>
          </a:prstGeom>
          <a:solidFill>
            <a:srgbClr val="81C78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F3764985-85ED-4B5A-8C84-6E31D27F54C5}"/>
              </a:ext>
            </a:extLst>
          </p:cNvPr>
          <p:cNvSpPr txBox="1"/>
          <p:nvPr/>
        </p:nvSpPr>
        <p:spPr>
          <a:xfrm>
            <a:off x="3657600" y="2095500"/>
            <a:ext cx="2133600" cy="762000"/>
          </a:xfrm>
          <a:prstGeom prst="rect">
            <a:avLst/>
          </a:prstGeom>
          <a:noFill/>
        </p:spPr>
        <p:txBody>
          <a:bodyPr vertOverflow="overflow" vert="horz" wrap="square" rtlCol="0" anchor="t">
            <a:spAutoFit/>
          </a:bodyPr>
          <a:lstStyle/>
          <a:p>
            <a:pPr algn="l"/>
            <a:r>
              <a:rPr lang="en-US" b="1">
                <a:solidFill>
                  <a:srgbClr val="81C784"/>
                </a:solidFill>
              </a:rPr>
              <a:t>Library
Ecosystem</a:t>
            </a:r>
          </a:p>
        </p:txBody>
      </p:sp>
      <p:sp>
        <p:nvSpPr>
          <p:cNvPr id="10" name="TextBox 9">
            <a:extLst>
              <a:ext uri="{FF2B5EF4-FFF2-40B4-BE49-F238E27FC236}">
                <a16:creationId xmlns:a16="http://schemas.microsoft.com/office/drawing/2014/main" id="{8D40AC2C-AA4F-45DD-8460-BE0DCA89FAF4}"/>
              </a:ext>
            </a:extLst>
          </p:cNvPr>
          <p:cNvSpPr txBox="1"/>
          <p:nvPr/>
        </p:nvSpPr>
        <p:spPr>
          <a:xfrm>
            <a:off x="3657600" y="3048000"/>
            <a:ext cx="2133600" cy="1016000"/>
          </a:xfrm>
          <a:prstGeom prst="rect">
            <a:avLst/>
          </a:prstGeom>
          <a:noFill/>
        </p:spPr>
        <p:txBody>
          <a:bodyPr vertOverflow="overflow" vert="horz" wrap="square" rtlCol="0" anchor="t">
            <a:spAutoFit/>
          </a:bodyPr>
          <a:lstStyle/>
          <a:p>
            <a:pPr algn="l"/>
            <a:r>
              <a:rPr lang="en-US" sz="1400">
                <a:solidFill>
                  <a:srgbClr val="B0BEC5"/>
                </a:solidFill>
              </a:rPr>
              <a:t>LangGraph, Semantic Kernel,
Agent Framework &amp; more</a:t>
            </a:r>
          </a:p>
        </p:txBody>
      </p:sp>
      <p:sp>
        <p:nvSpPr>
          <p:cNvPr id="11" name="Rectangle: Rounded Corners 10">
            <a:extLst>
              <a:ext uri="{FF2B5EF4-FFF2-40B4-BE49-F238E27FC236}">
                <a16:creationId xmlns:a16="http://schemas.microsoft.com/office/drawing/2014/main" id="{1A3D6ECB-4C0A-4047-BDFD-7B666372423A}"/>
              </a:ext>
            </a:extLst>
          </p:cNvPr>
          <p:cNvSpPr/>
          <p:nvPr/>
        </p:nvSpPr>
        <p:spPr>
          <a:xfrm>
            <a:off x="6400800" y="1778000"/>
            <a:ext cx="2438400" cy="2540000"/>
          </a:xfrm>
          <a:prstGeom prst="roundRect">
            <a:avLst/>
          </a:prstGeom>
          <a:solidFill>
            <a:srgbClr val="1A2736"/>
          </a:solidFill>
          <a:ln w="25400" cap="flat" cmpd="sng" algn="ctr">
            <a:solidFill>
              <a:srgbClr val="FFB7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39922543-0C21-4DB6-A423-5AA069114256}"/>
              </a:ext>
            </a:extLst>
          </p:cNvPr>
          <p:cNvSpPr/>
          <p:nvPr/>
        </p:nvSpPr>
        <p:spPr>
          <a:xfrm>
            <a:off x="6400800" y="1778000"/>
            <a:ext cx="2438400" cy="76200"/>
          </a:xfrm>
          <a:prstGeom prst="rect">
            <a:avLst/>
          </a:prstGeom>
          <a:solidFill>
            <a:srgbClr val="FFB7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1B7B18EC-0324-464B-B607-A8D5B312CB33}"/>
              </a:ext>
            </a:extLst>
          </p:cNvPr>
          <p:cNvSpPr txBox="1"/>
          <p:nvPr/>
        </p:nvSpPr>
        <p:spPr>
          <a:xfrm>
            <a:off x="6553200" y="2095500"/>
            <a:ext cx="2133600" cy="762000"/>
          </a:xfrm>
          <a:prstGeom prst="rect">
            <a:avLst/>
          </a:prstGeom>
          <a:noFill/>
        </p:spPr>
        <p:txBody>
          <a:bodyPr vertOverflow="overflow" vert="horz" wrap="square" rtlCol="0" anchor="t">
            <a:spAutoFit/>
          </a:bodyPr>
          <a:lstStyle/>
          <a:p>
            <a:pPr algn="l"/>
            <a:r>
              <a:rPr lang="en-US" b="1">
                <a:solidFill>
                  <a:srgbClr val="FFB74D"/>
                </a:solidFill>
              </a:rPr>
              <a:t>Azure AI
Foundry</a:t>
            </a:r>
          </a:p>
        </p:txBody>
      </p:sp>
      <p:sp>
        <p:nvSpPr>
          <p:cNvPr id="14" name="TextBox 13">
            <a:extLst>
              <a:ext uri="{FF2B5EF4-FFF2-40B4-BE49-F238E27FC236}">
                <a16:creationId xmlns:a16="http://schemas.microsoft.com/office/drawing/2014/main" id="{6B0C376A-C389-45F1-BBBA-56A49BC42395}"/>
              </a:ext>
            </a:extLst>
          </p:cNvPr>
          <p:cNvSpPr txBox="1"/>
          <p:nvPr/>
        </p:nvSpPr>
        <p:spPr>
          <a:xfrm>
            <a:off x="6553200" y="3048000"/>
            <a:ext cx="2133600" cy="1016000"/>
          </a:xfrm>
          <a:prstGeom prst="rect">
            <a:avLst/>
          </a:prstGeom>
          <a:noFill/>
        </p:spPr>
        <p:txBody>
          <a:bodyPr vertOverflow="overflow" vert="horz" wrap="square" rtlCol="0" anchor="t">
            <a:spAutoFit/>
          </a:bodyPr>
          <a:lstStyle/>
          <a:p>
            <a:pPr algn="l"/>
            <a:r>
              <a:rPr lang="en-US" sz="1400">
                <a:solidFill>
                  <a:srgbClr val="B0BEC5"/>
                </a:solidFill>
              </a:rPr>
              <a:t>Compatibility matrix
&amp; integration paths</a:t>
            </a:r>
          </a:p>
        </p:txBody>
      </p:sp>
      <p:sp>
        <p:nvSpPr>
          <p:cNvPr id="15" name="Rectangle: Rounded Corners 14">
            <a:extLst>
              <a:ext uri="{FF2B5EF4-FFF2-40B4-BE49-F238E27FC236}">
                <a16:creationId xmlns:a16="http://schemas.microsoft.com/office/drawing/2014/main" id="{554D6320-2C70-4C89-8B89-71A84365E227}"/>
              </a:ext>
            </a:extLst>
          </p:cNvPr>
          <p:cNvSpPr/>
          <p:nvPr/>
        </p:nvSpPr>
        <p:spPr>
          <a:xfrm>
            <a:off x="9296400" y="1778000"/>
            <a:ext cx="2438400" cy="2540000"/>
          </a:xfrm>
          <a:prstGeom prst="roundRect">
            <a:avLst/>
          </a:prstGeom>
          <a:solidFill>
            <a:srgbClr val="1A2736"/>
          </a:solidFill>
          <a:ln w="25400" cap="flat" cmpd="sng" algn="ctr">
            <a:solidFill>
              <a:srgbClr val="CE93D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9E7A11B4-9FEB-41B2-A256-D243A8358385}"/>
              </a:ext>
            </a:extLst>
          </p:cNvPr>
          <p:cNvSpPr/>
          <p:nvPr/>
        </p:nvSpPr>
        <p:spPr>
          <a:xfrm>
            <a:off x="9296400" y="1778000"/>
            <a:ext cx="2438400" cy="76200"/>
          </a:xfrm>
          <a:prstGeom prst="rect">
            <a:avLst/>
          </a:prstGeom>
          <a:solidFill>
            <a:srgbClr val="CE93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88928785-0629-4865-992F-C578740E4509}"/>
              </a:ext>
            </a:extLst>
          </p:cNvPr>
          <p:cNvSpPr txBox="1"/>
          <p:nvPr/>
        </p:nvSpPr>
        <p:spPr>
          <a:xfrm>
            <a:off x="9448800" y="2095500"/>
            <a:ext cx="2133600" cy="762000"/>
          </a:xfrm>
          <a:prstGeom prst="rect">
            <a:avLst/>
          </a:prstGeom>
          <a:noFill/>
        </p:spPr>
        <p:txBody>
          <a:bodyPr vertOverflow="overflow" vert="horz" wrap="square" rtlCol="0" anchor="t">
            <a:spAutoFit/>
          </a:bodyPr>
          <a:lstStyle/>
          <a:p>
            <a:pPr algn="l"/>
            <a:r>
              <a:rPr lang="en-US" b="1">
                <a:solidFill>
                  <a:srgbClr val="CE93D8"/>
                </a:solidFill>
              </a:rPr>
              <a:t>A2A
Communication</a:t>
            </a:r>
          </a:p>
        </p:txBody>
      </p:sp>
      <p:sp>
        <p:nvSpPr>
          <p:cNvPr id="18" name="TextBox 17">
            <a:extLst>
              <a:ext uri="{FF2B5EF4-FFF2-40B4-BE49-F238E27FC236}">
                <a16:creationId xmlns:a16="http://schemas.microsoft.com/office/drawing/2014/main" id="{B8154ED8-2BF3-4AA1-9FF4-F10578FD762B}"/>
              </a:ext>
            </a:extLst>
          </p:cNvPr>
          <p:cNvSpPr txBox="1"/>
          <p:nvPr/>
        </p:nvSpPr>
        <p:spPr>
          <a:xfrm>
            <a:off x="9448800" y="3048000"/>
            <a:ext cx="2133600" cy="1016000"/>
          </a:xfrm>
          <a:prstGeom prst="rect">
            <a:avLst/>
          </a:prstGeom>
          <a:noFill/>
        </p:spPr>
        <p:txBody>
          <a:bodyPr vertOverflow="overflow" vert="horz" wrap="square" rtlCol="0" anchor="t">
            <a:spAutoFit/>
          </a:bodyPr>
          <a:lstStyle/>
          <a:p>
            <a:pPr algn="l"/>
            <a:r>
              <a:rPr lang="en-US" sz="1400">
                <a:solidFill>
                  <a:srgbClr val="B0BEC5"/>
                </a:solidFill>
              </a:rPr>
              <a:t>Protocol, ASP.NET,
hybrid architecture</a:t>
            </a:r>
          </a:p>
        </p:txBody>
      </p:sp>
    </p:spTree>
    <p:extLst>
      <p:ext uri="{BB962C8B-B14F-4D97-AF65-F5344CB8AC3E}">
        <p14:creationId xmlns:p14="http://schemas.microsoft.com/office/powerpoint/2010/main" val="664462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63562-5D69-DC5F-B3F6-455FB63B50CF}"/>
              </a:ext>
            </a:extLst>
          </p:cNvPr>
          <p:cNvSpPr>
            <a:spLocks noGrp="1"/>
          </p:cNvSpPr>
          <p:nvPr>
            <p:ph type="title"/>
          </p:nvPr>
        </p:nvSpPr>
        <p:spPr/>
        <p:txBody>
          <a:bodyPr>
            <a:normAutofit/>
          </a:bodyPr>
          <a:lstStyle/>
          <a:p>
            <a:r>
              <a:rPr lang="en-US" sz="2800"/>
              <a:t>Start Simple: The Complexity Spectrum</a:t>
            </a:r>
          </a:p>
        </p:txBody>
      </p:sp>
      <p:sp>
        <p:nvSpPr>
          <p:cNvPr id="3" name="Rectangle: Rounded Corners 2">
            <a:extLst>
              <a:ext uri="{FF2B5EF4-FFF2-40B4-BE49-F238E27FC236}">
                <a16:creationId xmlns:a16="http://schemas.microsoft.com/office/drawing/2014/main" id="{D4465F0A-1286-48CC-A745-EAB6F723E67E}"/>
              </a:ext>
            </a:extLst>
          </p:cNvPr>
          <p:cNvSpPr/>
          <p:nvPr/>
        </p:nvSpPr>
        <p:spPr>
          <a:xfrm>
            <a:off x="762000" y="4064000"/>
            <a:ext cx="3302000" cy="2032000"/>
          </a:xfrm>
          <a:prstGeom prst="roundRect">
            <a:avLst/>
          </a:prstGeom>
          <a:solidFill>
            <a:srgbClr val="1A2736"/>
          </a:solidFill>
          <a:ln w="25400" cap="flat" cmpd="sng" algn="ctr">
            <a:solidFill>
              <a:srgbClr val="81C78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ECBDC114-A050-4463-8EA5-85C4AB10B750}"/>
              </a:ext>
            </a:extLst>
          </p:cNvPr>
          <p:cNvSpPr txBox="1"/>
          <p:nvPr/>
        </p:nvSpPr>
        <p:spPr>
          <a:xfrm>
            <a:off x="952500" y="4216400"/>
            <a:ext cx="2921000" cy="381000"/>
          </a:xfrm>
          <a:prstGeom prst="rect">
            <a:avLst/>
          </a:prstGeom>
          <a:noFill/>
        </p:spPr>
        <p:txBody>
          <a:bodyPr vertOverflow="overflow" vert="horz" wrap="square" rtlCol="0" anchor="t">
            <a:spAutoFit/>
          </a:bodyPr>
          <a:lstStyle/>
          <a:p>
            <a:pPr algn="l"/>
            <a:r>
              <a:rPr lang="en-US" b="1">
                <a:solidFill>
                  <a:srgbClr val="81C784"/>
                </a:solidFill>
              </a:rPr>
              <a:t>Direct Model Call</a:t>
            </a:r>
          </a:p>
        </p:txBody>
      </p:sp>
      <p:sp>
        <p:nvSpPr>
          <p:cNvPr id="5" name="TextBox 4">
            <a:extLst>
              <a:ext uri="{FF2B5EF4-FFF2-40B4-BE49-F238E27FC236}">
                <a16:creationId xmlns:a16="http://schemas.microsoft.com/office/drawing/2014/main" id="{4471D210-6FF4-4E65-B6D6-704A8EA2E420}"/>
              </a:ext>
            </a:extLst>
          </p:cNvPr>
          <p:cNvSpPr txBox="1"/>
          <p:nvPr/>
        </p:nvSpPr>
        <p:spPr>
          <a:xfrm>
            <a:off x="952500" y="4673600"/>
            <a:ext cx="2921000" cy="584200"/>
          </a:xfrm>
          <a:prstGeom prst="rect">
            <a:avLst/>
          </a:prstGeom>
          <a:noFill/>
        </p:spPr>
        <p:txBody>
          <a:bodyPr vertOverflow="overflow" vert="horz" wrap="square" rtlCol="0" anchor="t">
            <a:spAutoFit/>
          </a:bodyPr>
          <a:lstStyle/>
          <a:p>
            <a:pPr algn="l"/>
            <a:r>
              <a:rPr lang="en-US" sz="1400">
                <a:solidFill>
                  <a:srgbClr val="E8ECF1"/>
                </a:solidFill>
              </a:rPr>
              <a:t>Single LLM call with
a well-crafted prompt</a:t>
            </a:r>
          </a:p>
        </p:txBody>
      </p:sp>
      <p:sp>
        <p:nvSpPr>
          <p:cNvPr id="6" name="TextBox 5">
            <a:extLst>
              <a:ext uri="{FF2B5EF4-FFF2-40B4-BE49-F238E27FC236}">
                <a16:creationId xmlns:a16="http://schemas.microsoft.com/office/drawing/2014/main" id="{6FAD39A6-B01A-47A1-9569-DC683860FD45}"/>
              </a:ext>
            </a:extLst>
          </p:cNvPr>
          <p:cNvSpPr txBox="1"/>
          <p:nvPr/>
        </p:nvSpPr>
        <p:spPr>
          <a:xfrm>
            <a:off x="952500" y="5334000"/>
            <a:ext cx="2921000" cy="584200"/>
          </a:xfrm>
          <a:prstGeom prst="rect">
            <a:avLst/>
          </a:prstGeom>
          <a:noFill/>
        </p:spPr>
        <p:txBody>
          <a:bodyPr vertOverflow="overflow" vert="horz" wrap="square" rtlCol="0" anchor="t">
            <a:spAutoFit/>
          </a:bodyPr>
          <a:lstStyle/>
          <a:p>
            <a:pPr algn="l"/>
            <a:r>
              <a:rPr lang="en-US" sz="1400">
                <a:solidFill>
                  <a:srgbClr val="78909C"/>
                </a:solidFill>
              </a:rPr>
              <a:t>Classification, summarization,
translation</a:t>
            </a:r>
          </a:p>
        </p:txBody>
      </p:sp>
      <p:sp>
        <p:nvSpPr>
          <p:cNvPr id="7" name="Rectangle: Rounded Corners 6">
            <a:extLst>
              <a:ext uri="{FF2B5EF4-FFF2-40B4-BE49-F238E27FC236}">
                <a16:creationId xmlns:a16="http://schemas.microsoft.com/office/drawing/2014/main" id="{CCDBACF6-2E59-4660-BD08-9A1788BFB4BD}"/>
              </a:ext>
            </a:extLst>
          </p:cNvPr>
          <p:cNvSpPr/>
          <p:nvPr/>
        </p:nvSpPr>
        <p:spPr>
          <a:xfrm>
            <a:off x="4445000" y="2921000"/>
            <a:ext cx="3302000" cy="3175000"/>
          </a:xfrm>
          <a:prstGeom prst="roundRect">
            <a:avLst/>
          </a:prstGeom>
          <a:solidFill>
            <a:srgbClr val="1A2736"/>
          </a:solidFill>
          <a:ln w="25400" cap="flat" cmpd="sng" algn="ctr">
            <a:solidFill>
              <a:srgbClr val="FFB7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4D264A10-9221-4EEF-A51C-23CBFDF82851}"/>
              </a:ext>
            </a:extLst>
          </p:cNvPr>
          <p:cNvSpPr txBox="1"/>
          <p:nvPr/>
        </p:nvSpPr>
        <p:spPr>
          <a:xfrm>
            <a:off x="4635500" y="3073400"/>
            <a:ext cx="2921000" cy="381000"/>
          </a:xfrm>
          <a:prstGeom prst="rect">
            <a:avLst/>
          </a:prstGeom>
          <a:noFill/>
        </p:spPr>
        <p:txBody>
          <a:bodyPr vertOverflow="overflow" vert="horz" wrap="square" rtlCol="0" anchor="t">
            <a:spAutoFit/>
          </a:bodyPr>
          <a:lstStyle/>
          <a:p>
            <a:pPr algn="l"/>
            <a:r>
              <a:rPr lang="en-US" b="1">
                <a:solidFill>
                  <a:srgbClr val="FFB74D"/>
                </a:solidFill>
              </a:rPr>
              <a:t>Single Agent + Tools</a:t>
            </a:r>
          </a:p>
        </p:txBody>
      </p:sp>
      <p:sp>
        <p:nvSpPr>
          <p:cNvPr id="9" name="TextBox 8">
            <a:extLst>
              <a:ext uri="{FF2B5EF4-FFF2-40B4-BE49-F238E27FC236}">
                <a16:creationId xmlns:a16="http://schemas.microsoft.com/office/drawing/2014/main" id="{77C78C62-CF13-48CB-981A-E5B80008FD01}"/>
              </a:ext>
            </a:extLst>
          </p:cNvPr>
          <p:cNvSpPr txBox="1"/>
          <p:nvPr/>
        </p:nvSpPr>
        <p:spPr>
          <a:xfrm>
            <a:off x="4635500" y="3530600"/>
            <a:ext cx="2921000" cy="584200"/>
          </a:xfrm>
          <a:prstGeom prst="rect">
            <a:avLst/>
          </a:prstGeom>
          <a:noFill/>
        </p:spPr>
        <p:txBody>
          <a:bodyPr vertOverflow="overflow" vert="horz" wrap="square" rtlCol="0" anchor="t">
            <a:spAutoFit/>
          </a:bodyPr>
          <a:lstStyle/>
          <a:p>
            <a:pPr algn="l"/>
            <a:r>
              <a:rPr lang="en-US" sz="1400">
                <a:solidFill>
                  <a:srgbClr val="E8ECF1"/>
                </a:solidFill>
              </a:rPr>
              <a:t>One agent that reasons
and selects from tools</a:t>
            </a:r>
          </a:p>
        </p:txBody>
      </p:sp>
      <p:sp>
        <p:nvSpPr>
          <p:cNvPr id="10" name="TextBox 9">
            <a:extLst>
              <a:ext uri="{FF2B5EF4-FFF2-40B4-BE49-F238E27FC236}">
                <a16:creationId xmlns:a16="http://schemas.microsoft.com/office/drawing/2014/main" id="{F7E823CC-5844-4061-A4AF-FF77E0CB45EC}"/>
              </a:ext>
            </a:extLst>
          </p:cNvPr>
          <p:cNvSpPr txBox="1"/>
          <p:nvPr/>
        </p:nvSpPr>
        <p:spPr>
          <a:xfrm>
            <a:off x="4635500" y="4191000"/>
            <a:ext cx="2921000" cy="584200"/>
          </a:xfrm>
          <a:prstGeom prst="rect">
            <a:avLst/>
          </a:prstGeom>
          <a:noFill/>
        </p:spPr>
        <p:txBody>
          <a:bodyPr vertOverflow="overflow" vert="horz" wrap="square" rtlCol="0" anchor="t">
            <a:spAutoFit/>
          </a:bodyPr>
          <a:lstStyle/>
          <a:p>
            <a:pPr algn="l"/>
            <a:r>
              <a:rPr lang="en-US" sz="1400">
                <a:solidFill>
                  <a:srgbClr val="78909C"/>
                </a:solidFill>
              </a:rPr>
              <a:t>Dynamic tool use within
a single domain</a:t>
            </a:r>
          </a:p>
        </p:txBody>
      </p:sp>
      <p:sp>
        <p:nvSpPr>
          <p:cNvPr id="11" name="Rectangle: Rounded Corners 10">
            <a:extLst>
              <a:ext uri="{FF2B5EF4-FFF2-40B4-BE49-F238E27FC236}">
                <a16:creationId xmlns:a16="http://schemas.microsoft.com/office/drawing/2014/main" id="{73A55E12-D6F0-4E30-BB5C-113077753340}"/>
              </a:ext>
            </a:extLst>
          </p:cNvPr>
          <p:cNvSpPr/>
          <p:nvPr/>
        </p:nvSpPr>
        <p:spPr>
          <a:xfrm>
            <a:off x="8128000" y="1778000"/>
            <a:ext cx="3302000" cy="4318000"/>
          </a:xfrm>
          <a:prstGeom prst="roundRect">
            <a:avLst/>
          </a:prstGeom>
          <a:solidFill>
            <a:srgbClr val="1A2736"/>
          </a:solidFill>
          <a:ln w="25400" cap="flat" cmpd="sng" algn="ctr">
            <a:solidFill>
              <a:srgbClr val="4FC3F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61AAF7C6-B7B9-40C7-9437-76D2465CCF1A}"/>
              </a:ext>
            </a:extLst>
          </p:cNvPr>
          <p:cNvSpPr txBox="1"/>
          <p:nvPr/>
        </p:nvSpPr>
        <p:spPr>
          <a:xfrm>
            <a:off x="8318500" y="1930400"/>
            <a:ext cx="2921000" cy="381000"/>
          </a:xfrm>
          <a:prstGeom prst="rect">
            <a:avLst/>
          </a:prstGeom>
          <a:noFill/>
        </p:spPr>
        <p:txBody>
          <a:bodyPr vertOverflow="overflow" vert="horz" wrap="square" rtlCol="0" anchor="t">
            <a:spAutoFit/>
          </a:bodyPr>
          <a:lstStyle/>
          <a:p>
            <a:pPr algn="l"/>
            <a:r>
              <a:rPr lang="en-US" b="1">
                <a:solidFill>
                  <a:srgbClr val="4FC3F7"/>
                </a:solidFill>
              </a:rPr>
              <a:t>Multi-Agent</a:t>
            </a:r>
          </a:p>
        </p:txBody>
      </p:sp>
      <p:sp>
        <p:nvSpPr>
          <p:cNvPr id="13" name="TextBox 12">
            <a:extLst>
              <a:ext uri="{FF2B5EF4-FFF2-40B4-BE49-F238E27FC236}">
                <a16:creationId xmlns:a16="http://schemas.microsoft.com/office/drawing/2014/main" id="{AB2FA7C0-F792-4193-8687-45335AC5D49E}"/>
              </a:ext>
            </a:extLst>
          </p:cNvPr>
          <p:cNvSpPr txBox="1"/>
          <p:nvPr/>
        </p:nvSpPr>
        <p:spPr>
          <a:xfrm>
            <a:off x="8318500" y="2387600"/>
            <a:ext cx="2921000" cy="584200"/>
          </a:xfrm>
          <a:prstGeom prst="rect">
            <a:avLst/>
          </a:prstGeom>
          <a:noFill/>
        </p:spPr>
        <p:txBody>
          <a:bodyPr vertOverflow="overflow" vert="horz" wrap="square" rtlCol="0" anchor="t">
            <a:spAutoFit/>
          </a:bodyPr>
          <a:lstStyle/>
          <a:p>
            <a:pPr algn="l"/>
            <a:r>
              <a:rPr lang="en-US" sz="1400">
                <a:solidFill>
                  <a:srgbClr val="E8ECF1"/>
                </a:solidFill>
              </a:rPr>
              <a:t>Specialized agents
coordinate together</a:t>
            </a:r>
          </a:p>
        </p:txBody>
      </p:sp>
      <p:sp>
        <p:nvSpPr>
          <p:cNvPr id="14" name="TextBox 13">
            <a:extLst>
              <a:ext uri="{FF2B5EF4-FFF2-40B4-BE49-F238E27FC236}">
                <a16:creationId xmlns:a16="http://schemas.microsoft.com/office/drawing/2014/main" id="{49F377E0-42B0-4A61-9B1D-6C91B93D022B}"/>
              </a:ext>
            </a:extLst>
          </p:cNvPr>
          <p:cNvSpPr txBox="1"/>
          <p:nvPr/>
        </p:nvSpPr>
        <p:spPr>
          <a:xfrm>
            <a:off x="8318500" y="3048000"/>
            <a:ext cx="2921000" cy="584200"/>
          </a:xfrm>
          <a:prstGeom prst="rect">
            <a:avLst/>
          </a:prstGeom>
          <a:noFill/>
        </p:spPr>
        <p:txBody>
          <a:bodyPr vertOverflow="overflow" vert="horz" wrap="square" rtlCol="0" anchor="t">
            <a:spAutoFit/>
          </a:bodyPr>
          <a:lstStyle/>
          <a:p>
            <a:pPr algn="l"/>
            <a:r>
              <a:rPr lang="en-US" sz="1400">
                <a:solidFill>
                  <a:srgbClr val="78909C"/>
                </a:solidFill>
              </a:rPr>
              <a:t>Cross-functional problems,
parallel specialization</a:t>
            </a:r>
          </a:p>
        </p:txBody>
      </p:sp>
      <p:sp>
        <p:nvSpPr>
          <p:cNvPr id="15" name="Arrow: Right 14">
            <a:extLst>
              <a:ext uri="{FF2B5EF4-FFF2-40B4-BE49-F238E27FC236}">
                <a16:creationId xmlns:a16="http://schemas.microsoft.com/office/drawing/2014/main" id="{EEAA1E73-843B-4A24-9558-A68FF5278F83}"/>
              </a:ext>
            </a:extLst>
          </p:cNvPr>
          <p:cNvSpPr/>
          <p:nvPr/>
        </p:nvSpPr>
        <p:spPr>
          <a:xfrm>
            <a:off x="4089400" y="4699000"/>
            <a:ext cx="355600" cy="254000"/>
          </a:xfrm>
          <a:prstGeom prst="rightArrow">
            <a:avLst/>
          </a:prstGeom>
          <a:solidFill>
            <a:srgbClr val="4FC3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Arrow: Right 15">
            <a:extLst>
              <a:ext uri="{FF2B5EF4-FFF2-40B4-BE49-F238E27FC236}">
                <a16:creationId xmlns:a16="http://schemas.microsoft.com/office/drawing/2014/main" id="{F5B7F17A-C0F9-4DA5-943F-706B3A321BA7}"/>
              </a:ext>
            </a:extLst>
          </p:cNvPr>
          <p:cNvSpPr/>
          <p:nvPr/>
        </p:nvSpPr>
        <p:spPr>
          <a:xfrm>
            <a:off x="7772400" y="3937000"/>
            <a:ext cx="355600" cy="254000"/>
          </a:xfrm>
          <a:prstGeom prst="rightArrow">
            <a:avLst/>
          </a:prstGeom>
          <a:solidFill>
            <a:srgbClr val="4FC3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7E35F415-2722-4A34-9404-7E61A795DBB1}"/>
              </a:ext>
            </a:extLst>
          </p:cNvPr>
          <p:cNvSpPr txBox="1"/>
          <p:nvPr/>
        </p:nvSpPr>
        <p:spPr>
          <a:xfrm>
            <a:off x="762000" y="1651000"/>
            <a:ext cx="6604000" cy="355600"/>
          </a:xfrm>
          <a:prstGeom prst="rect">
            <a:avLst/>
          </a:prstGeom>
          <a:noFill/>
        </p:spPr>
        <p:txBody>
          <a:bodyPr vertOverflow="overflow" vert="horz" wrap="square" rtlCol="0" anchor="t">
            <a:spAutoFit/>
          </a:bodyPr>
          <a:lstStyle/>
          <a:p>
            <a:pPr algn="l"/>
            <a:r>
              <a:rPr lang="en-US" sz="1400" i="1">
                <a:solidFill>
                  <a:srgbClr val="FFB74D"/>
                </a:solidFill>
              </a:rPr>
              <a:t>Use the lowest level of complexity that reliably meets your requirements.</a:t>
            </a:r>
          </a:p>
        </p:txBody>
      </p:sp>
    </p:spTree>
    <p:extLst>
      <p:ext uri="{BB962C8B-B14F-4D97-AF65-F5344CB8AC3E}">
        <p14:creationId xmlns:p14="http://schemas.microsoft.com/office/powerpoint/2010/main" val="549010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5BB28-F9BE-1F5E-1760-8CA262C63D01}"/>
              </a:ext>
            </a:extLst>
          </p:cNvPr>
          <p:cNvSpPr>
            <a:spLocks noGrp="1"/>
          </p:cNvSpPr>
          <p:nvPr>
            <p:ph type="title"/>
          </p:nvPr>
        </p:nvSpPr>
        <p:spPr>
          <a:xfrm>
            <a:off x="457200" y="152400"/>
            <a:ext cx="10515600" cy="457200"/>
          </a:xfrm>
        </p:spPr>
        <p:txBody>
          <a:bodyPr/>
          <a:lstStyle/>
          <a:p>
            <a:pPr>
              <a:buNone/>
            </a:pPr>
            <a:r>
              <a:rPr lang="en-US" sz="2400" b="1" dirty="0"/>
              <a:t>Sequential Orchestration</a:t>
            </a:r>
          </a:p>
        </p:txBody>
      </p:sp>
      <p:sp>
        <p:nvSpPr>
          <p:cNvPr id="50" name="Sub"/>
          <p:cNvSpPr/>
          <p:nvPr/>
        </p:nvSpPr>
        <p:spPr>
          <a:xfrm>
            <a:off x="457200" y="609600"/>
            <a:ext cx="10515600" cy="304800"/>
          </a:xfrm>
          <a:prstGeom prst="rect">
            <a:avLst/>
          </a:prstGeom>
          <a:noFill/>
          <a:ln w="0">
            <a:noFill/>
          </a:ln>
        </p:spPr>
        <p:txBody>
          <a:bodyPr wrap="square" lIns="36000" tIns="36000" rIns="36000" bIns="36000" anchor="ctr"/>
          <a:lstStyle/>
          <a:p>
            <a:pPr algn="l"/>
            <a:r>
              <a:rPr lang="en-US" sz="1400" dirty="0">
                <a:solidFill>
                  <a:srgbClr val="78909C"/>
                </a:solidFill>
              </a:rPr>
              <a:t>Pipeline  |  Prompt Chaining  |  Linear Delegation</a:t>
            </a:r>
          </a:p>
        </p:txBody>
      </p:sp>
      <p:sp>
        <p:nvSpPr>
          <p:cNvPr id="60" name="Input"/>
          <p:cNvSpPr/>
          <p:nvPr/>
        </p:nvSpPr>
        <p:spPr>
          <a:xfrm>
            <a:off x="1431588" y="2324100"/>
            <a:ext cx="914400" cy="304800"/>
          </a:xfrm>
          <a:prstGeom prst="roundRect">
            <a:avLst/>
          </a:prstGeom>
          <a:solidFill>
            <a:srgbClr val="4FC3F7"/>
          </a:solidFill>
          <a:ln w="0">
            <a:noFill/>
          </a:ln>
        </p:spPr>
        <p:txBody>
          <a:bodyPr wrap="square" lIns="36000" tIns="36000" rIns="36000" bIns="36000" anchor="ctr"/>
          <a:lstStyle/>
          <a:p>
            <a:pPr algn="ctr"/>
            <a:r>
              <a:rPr lang="en-US" sz="1600" b="1" dirty="0">
                <a:solidFill>
                  <a:srgbClr val="0F1923"/>
                </a:solidFill>
              </a:rPr>
              <a:t>Input</a:t>
            </a:r>
          </a:p>
        </p:txBody>
      </p:sp>
      <p:sp>
        <p:nvSpPr>
          <p:cNvPr id="61" name="A1"/>
          <p:cNvSpPr/>
          <p:nvPr/>
        </p:nvSpPr>
        <p:spPr>
          <a:xfrm>
            <a:off x="2422188" y="2381250"/>
            <a:ext cx="304800" cy="190500"/>
          </a:xfrm>
          <a:prstGeom prst="rightArrow">
            <a:avLst/>
          </a:prstGeom>
          <a:solidFill>
            <a:srgbClr val="4FC3F7"/>
          </a:solidFill>
          <a:ln w="0">
            <a:noFill/>
          </a:ln>
        </p:spPr>
        <p:txBody>
          <a:bodyPr/>
          <a:lstStyle/>
          <a:p>
            <a:endParaRPr lang="en-US"/>
          </a:p>
        </p:txBody>
      </p:sp>
      <p:sp>
        <p:nvSpPr>
          <p:cNvPr id="70" name="Ag1"/>
          <p:cNvSpPr/>
          <p:nvPr/>
        </p:nvSpPr>
        <p:spPr>
          <a:xfrm>
            <a:off x="2803188" y="2133600"/>
            <a:ext cx="1524000" cy="685800"/>
          </a:xfrm>
          <a:prstGeom prst="roundRect">
            <a:avLst/>
          </a:prstGeom>
          <a:solidFill>
            <a:srgbClr val="1A2736"/>
          </a:solidFill>
          <a:ln w="19050">
            <a:solidFill>
              <a:srgbClr val="4FC3F7"/>
            </a:solidFill>
          </a:ln>
        </p:spPr>
        <p:txBody>
          <a:bodyPr wrap="square" lIns="36000" tIns="36000" rIns="36000" bIns="36000" anchor="ctr"/>
          <a:lstStyle/>
          <a:p>
            <a:pPr algn="ctr"/>
            <a:r>
              <a:rPr lang="en-US" sz="1400" b="1" dirty="0">
                <a:solidFill>
                  <a:srgbClr val="E8ECF1"/>
                </a:solidFill>
              </a:rPr>
              <a:t>Template
Selection</a:t>
            </a:r>
          </a:p>
        </p:txBody>
      </p:sp>
      <p:sp>
        <p:nvSpPr>
          <p:cNvPr id="80" name="Ar2"/>
          <p:cNvSpPr/>
          <p:nvPr/>
        </p:nvSpPr>
        <p:spPr>
          <a:xfrm>
            <a:off x="4365288" y="2381250"/>
            <a:ext cx="304800" cy="190500"/>
          </a:xfrm>
          <a:prstGeom prst="rightArrow">
            <a:avLst/>
          </a:prstGeom>
          <a:solidFill>
            <a:srgbClr val="4FC3F7"/>
          </a:solidFill>
          <a:ln w="0">
            <a:noFill/>
          </a:ln>
        </p:spPr>
        <p:txBody>
          <a:bodyPr/>
          <a:lstStyle/>
          <a:p>
            <a:endParaRPr lang="en-US"/>
          </a:p>
        </p:txBody>
      </p:sp>
      <p:sp>
        <p:nvSpPr>
          <p:cNvPr id="71" name="Ag2"/>
          <p:cNvSpPr/>
          <p:nvPr/>
        </p:nvSpPr>
        <p:spPr>
          <a:xfrm>
            <a:off x="4708188" y="2133600"/>
            <a:ext cx="1524000" cy="685800"/>
          </a:xfrm>
          <a:prstGeom prst="roundRect">
            <a:avLst/>
          </a:prstGeom>
          <a:solidFill>
            <a:srgbClr val="1A2736"/>
          </a:solidFill>
          <a:ln w="19050">
            <a:solidFill>
              <a:srgbClr val="4FC3F7"/>
            </a:solidFill>
          </a:ln>
        </p:spPr>
        <p:txBody>
          <a:bodyPr wrap="square" lIns="36000" tIns="36000" rIns="36000" bIns="36000" anchor="ctr"/>
          <a:lstStyle/>
          <a:p>
            <a:pPr algn="ctr"/>
            <a:r>
              <a:rPr lang="en-US" sz="1400" b="1" dirty="0">
                <a:solidFill>
                  <a:srgbClr val="E8ECF1"/>
                </a:solidFill>
              </a:rPr>
              <a:t>Clause
Customization</a:t>
            </a:r>
          </a:p>
        </p:txBody>
      </p:sp>
      <p:sp>
        <p:nvSpPr>
          <p:cNvPr id="81" name="Ar3"/>
          <p:cNvSpPr/>
          <p:nvPr/>
        </p:nvSpPr>
        <p:spPr>
          <a:xfrm>
            <a:off x="6270288" y="2381250"/>
            <a:ext cx="304800" cy="190500"/>
          </a:xfrm>
          <a:prstGeom prst="rightArrow">
            <a:avLst/>
          </a:prstGeom>
          <a:solidFill>
            <a:srgbClr val="4FC3F7"/>
          </a:solidFill>
          <a:ln w="0">
            <a:noFill/>
          </a:ln>
        </p:spPr>
        <p:txBody>
          <a:bodyPr/>
          <a:lstStyle/>
          <a:p>
            <a:endParaRPr lang="en-US"/>
          </a:p>
        </p:txBody>
      </p:sp>
      <p:sp>
        <p:nvSpPr>
          <p:cNvPr id="72" name="Ag3"/>
          <p:cNvSpPr/>
          <p:nvPr/>
        </p:nvSpPr>
        <p:spPr>
          <a:xfrm>
            <a:off x="6613188" y="2133600"/>
            <a:ext cx="1524000" cy="685800"/>
          </a:xfrm>
          <a:prstGeom prst="roundRect">
            <a:avLst/>
          </a:prstGeom>
          <a:solidFill>
            <a:srgbClr val="1A2736"/>
          </a:solidFill>
          <a:ln w="19050">
            <a:solidFill>
              <a:srgbClr val="4FC3F7"/>
            </a:solidFill>
          </a:ln>
        </p:spPr>
        <p:txBody>
          <a:bodyPr wrap="square" lIns="36000" tIns="36000" rIns="36000" bIns="36000" anchor="ctr"/>
          <a:lstStyle/>
          <a:p>
            <a:pPr algn="ctr"/>
            <a:r>
              <a:rPr lang="en-US" sz="1400" b="1" dirty="0">
                <a:solidFill>
                  <a:srgbClr val="E8ECF1"/>
                </a:solidFill>
              </a:rPr>
              <a:t>Regulatory
Compliance</a:t>
            </a:r>
          </a:p>
        </p:txBody>
      </p:sp>
      <p:sp>
        <p:nvSpPr>
          <p:cNvPr id="82" name="Ar4"/>
          <p:cNvSpPr/>
          <p:nvPr/>
        </p:nvSpPr>
        <p:spPr>
          <a:xfrm>
            <a:off x="8175288" y="2381250"/>
            <a:ext cx="304800" cy="190500"/>
          </a:xfrm>
          <a:prstGeom prst="rightArrow">
            <a:avLst/>
          </a:prstGeom>
          <a:solidFill>
            <a:srgbClr val="4FC3F7"/>
          </a:solidFill>
          <a:ln w="0">
            <a:noFill/>
          </a:ln>
        </p:spPr>
        <p:txBody>
          <a:bodyPr/>
          <a:lstStyle/>
          <a:p>
            <a:endParaRPr lang="en-US"/>
          </a:p>
        </p:txBody>
      </p:sp>
      <p:sp>
        <p:nvSpPr>
          <p:cNvPr id="73" name="Ag4"/>
          <p:cNvSpPr/>
          <p:nvPr/>
        </p:nvSpPr>
        <p:spPr>
          <a:xfrm>
            <a:off x="8518188" y="2133600"/>
            <a:ext cx="1524000" cy="685800"/>
          </a:xfrm>
          <a:prstGeom prst="roundRect">
            <a:avLst/>
          </a:prstGeom>
          <a:solidFill>
            <a:srgbClr val="1A2736"/>
          </a:solidFill>
          <a:ln w="19050">
            <a:solidFill>
              <a:srgbClr val="4FC3F7"/>
            </a:solidFill>
          </a:ln>
        </p:spPr>
        <p:txBody>
          <a:bodyPr wrap="square" lIns="36000" tIns="36000" rIns="36000" bIns="36000" anchor="ctr"/>
          <a:lstStyle/>
          <a:p>
            <a:pPr algn="ctr"/>
            <a:r>
              <a:rPr lang="en-US" sz="1400" b="1" dirty="0">
                <a:solidFill>
                  <a:srgbClr val="E8ECF1"/>
                </a:solidFill>
              </a:rPr>
              <a:t>Risk
Assessment</a:t>
            </a:r>
          </a:p>
        </p:txBody>
      </p:sp>
      <p:sp>
        <p:nvSpPr>
          <p:cNvPr id="84" name="ArF"/>
          <p:cNvSpPr/>
          <p:nvPr/>
        </p:nvSpPr>
        <p:spPr>
          <a:xfrm>
            <a:off x="10118388" y="2343150"/>
            <a:ext cx="304800" cy="190500"/>
          </a:xfrm>
          <a:prstGeom prst="rightArrow">
            <a:avLst/>
          </a:prstGeom>
          <a:solidFill>
            <a:srgbClr val="81C784"/>
          </a:solidFill>
          <a:ln w="0">
            <a:noFill/>
          </a:ln>
        </p:spPr>
        <p:txBody>
          <a:bodyPr/>
          <a:lstStyle/>
          <a:p>
            <a:endParaRPr lang="en-US"/>
          </a:p>
        </p:txBody>
      </p:sp>
      <p:sp>
        <p:nvSpPr>
          <p:cNvPr id="85" name="Result"/>
          <p:cNvSpPr/>
          <p:nvPr/>
        </p:nvSpPr>
        <p:spPr>
          <a:xfrm>
            <a:off x="10461288" y="2286000"/>
            <a:ext cx="914400" cy="304800"/>
          </a:xfrm>
          <a:prstGeom prst="roundRect">
            <a:avLst/>
          </a:prstGeom>
          <a:solidFill>
            <a:srgbClr val="81C784"/>
          </a:solidFill>
          <a:ln w="0">
            <a:noFill/>
          </a:ln>
        </p:spPr>
        <p:txBody>
          <a:bodyPr wrap="square" lIns="36000" tIns="36000" rIns="36000" bIns="36000" anchor="ctr"/>
          <a:lstStyle/>
          <a:p>
            <a:pPr algn="ctr"/>
            <a:r>
              <a:rPr lang="en-US" sz="1600" b="1" dirty="0">
                <a:solidFill>
                  <a:srgbClr val="0F1923"/>
                </a:solidFill>
              </a:rPr>
              <a:t>Result</a:t>
            </a:r>
          </a:p>
        </p:txBody>
      </p:sp>
      <p:sp>
        <p:nvSpPr>
          <p:cNvPr id="90" name="Benefits"/>
          <p:cNvSpPr/>
          <p:nvPr/>
        </p:nvSpPr>
        <p:spPr>
          <a:xfrm>
            <a:off x="593388" y="3390900"/>
            <a:ext cx="5334000" cy="762000"/>
          </a:xfrm>
          <a:prstGeom prst="roundRect">
            <a:avLst/>
          </a:prstGeom>
          <a:solidFill>
            <a:srgbClr val="1A2736"/>
          </a:solidFill>
          <a:ln w="0">
            <a:noFill/>
          </a:ln>
        </p:spPr>
        <p:txBody>
          <a:bodyPr wrap="square" lIns="91440" tIns="45720" rIns="91440" bIns="45720"/>
          <a:lstStyle/>
          <a:p>
            <a:pPr>
              <a:buNone/>
            </a:pPr>
            <a:r>
              <a:rPr lang="en-US" sz="1600" b="1" dirty="0">
                <a:solidFill>
                  <a:srgbClr val="81C784"/>
                </a:solidFill>
              </a:rPr>
              <a:t>Benefits</a:t>
            </a:r>
          </a:p>
          <a:p>
            <a:pPr>
              <a:buFont typeface="Arial"/>
              <a:buChar char="•"/>
            </a:pPr>
            <a:r>
              <a:rPr lang="en-US" sz="1400" dirty="0">
                <a:solidFill>
                  <a:srgbClr val="B0BEC5"/>
                </a:solidFill>
              </a:rPr>
              <a:t>Simple, predictable, easy to debug</a:t>
            </a:r>
          </a:p>
          <a:p>
            <a:pPr>
              <a:buFont typeface="Arial"/>
              <a:buChar char="•"/>
            </a:pPr>
            <a:r>
              <a:rPr lang="en-US" sz="1400" dirty="0">
                <a:solidFill>
                  <a:srgbClr val="B0BEC5"/>
                </a:solidFill>
              </a:rPr>
              <a:t>Clear data lineage between stages</a:t>
            </a:r>
          </a:p>
        </p:txBody>
      </p:sp>
      <p:sp>
        <p:nvSpPr>
          <p:cNvPr id="91" name="Tradeoffs"/>
          <p:cNvSpPr/>
          <p:nvPr/>
        </p:nvSpPr>
        <p:spPr>
          <a:xfrm>
            <a:off x="6155988" y="3390900"/>
            <a:ext cx="5334000" cy="762000"/>
          </a:xfrm>
          <a:prstGeom prst="roundRect">
            <a:avLst/>
          </a:prstGeom>
          <a:solidFill>
            <a:srgbClr val="1A2736"/>
          </a:solidFill>
          <a:ln w="0">
            <a:noFill/>
          </a:ln>
        </p:spPr>
        <p:txBody>
          <a:bodyPr wrap="square" lIns="91440" tIns="45720" rIns="91440" bIns="45720"/>
          <a:lstStyle/>
          <a:p>
            <a:pPr>
              <a:buNone/>
            </a:pPr>
            <a:r>
              <a:rPr lang="en-US" sz="1600" b="1" dirty="0">
                <a:solidFill>
                  <a:srgbClr val="EF5350"/>
                </a:solidFill>
              </a:rPr>
              <a:t>Trade-offs</a:t>
            </a:r>
          </a:p>
          <a:p>
            <a:pPr>
              <a:buFont typeface="Arial"/>
              <a:buChar char="•"/>
            </a:pPr>
            <a:r>
              <a:rPr lang="en-US" sz="1400" dirty="0">
                <a:solidFill>
                  <a:srgbClr val="B0BEC5"/>
                </a:solidFill>
              </a:rPr>
              <a:t>No parallelism — latency adds up</a:t>
            </a:r>
          </a:p>
          <a:p>
            <a:pPr>
              <a:buFont typeface="Arial"/>
              <a:buChar char="•"/>
            </a:pPr>
            <a:r>
              <a:rPr lang="en-US" sz="1400" dirty="0">
                <a:solidFill>
                  <a:srgbClr val="B0BEC5"/>
                </a:solidFill>
              </a:rPr>
              <a:t>Single point of failure cascades</a:t>
            </a:r>
          </a:p>
        </p:txBody>
      </p:sp>
      <p:sp>
        <p:nvSpPr>
          <p:cNvPr id="95" name="Example"/>
          <p:cNvSpPr/>
          <p:nvPr/>
        </p:nvSpPr>
        <p:spPr>
          <a:xfrm>
            <a:off x="593388" y="4305300"/>
            <a:ext cx="10896600" cy="381000"/>
          </a:xfrm>
          <a:prstGeom prst="rect">
            <a:avLst/>
          </a:prstGeom>
          <a:noFill/>
          <a:ln w="0">
            <a:noFill/>
          </a:ln>
        </p:spPr>
        <p:txBody>
          <a:bodyPr wrap="square" lIns="91440" tIns="45720" rIns="91440" bIns="45720"/>
          <a:lstStyle/>
          <a:p>
            <a:pPr>
              <a:buNone/>
            </a:pPr>
            <a:r>
              <a:rPr lang="en-US" sz="1400" dirty="0">
                <a:solidFill>
                  <a:srgbClr val="FFB74D"/>
                </a:solidFill>
              </a:rPr>
              <a:t>Example:  </a:t>
            </a:r>
            <a:r>
              <a:rPr lang="en-US" sz="1400" dirty="0">
                <a:solidFill>
                  <a:srgbClr val="78909C"/>
                </a:solidFill>
              </a:rPr>
              <a:t>Contract generation — Template → Clause Customization → Regulatory Compliance → Risk Assessment</a:t>
            </a:r>
          </a:p>
        </p:txBody>
      </p:sp>
    </p:spTree>
    <p:extLst>
      <p:ext uri="{BB962C8B-B14F-4D97-AF65-F5344CB8AC3E}">
        <p14:creationId xmlns:p14="http://schemas.microsoft.com/office/powerpoint/2010/main" val="3104111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47A09-0575-DDE6-F03C-39C0C88AB664}"/>
              </a:ext>
            </a:extLst>
          </p:cNvPr>
          <p:cNvSpPr>
            <a:spLocks noGrp="1"/>
          </p:cNvSpPr>
          <p:nvPr>
            <p:ph type="title"/>
          </p:nvPr>
        </p:nvSpPr>
        <p:spPr>
          <a:xfrm>
            <a:off x="457200" y="152400"/>
            <a:ext cx="10515600" cy="457200"/>
          </a:xfrm>
        </p:spPr>
        <p:txBody>
          <a:bodyPr/>
          <a:lstStyle/>
          <a:p>
            <a:pPr>
              <a:buNone/>
            </a:pPr>
            <a:r>
              <a:rPr lang="en-US" sz="2400" b="1" dirty="0"/>
              <a:t>Concurrent Orchestration</a:t>
            </a:r>
          </a:p>
        </p:txBody>
      </p:sp>
      <p:sp>
        <p:nvSpPr>
          <p:cNvPr id="50" name="Sub"/>
          <p:cNvSpPr/>
          <p:nvPr/>
        </p:nvSpPr>
        <p:spPr>
          <a:xfrm>
            <a:off x="457200" y="609600"/>
            <a:ext cx="10515600" cy="304800"/>
          </a:xfrm>
          <a:prstGeom prst="rect">
            <a:avLst/>
          </a:prstGeom>
          <a:noFill/>
          <a:ln w="0">
            <a:noFill/>
          </a:ln>
        </p:spPr>
        <p:txBody>
          <a:bodyPr wrap="square" lIns="36000" tIns="36000" rIns="36000" bIns="36000" anchor="ctr"/>
          <a:lstStyle/>
          <a:p>
            <a:pPr algn="l"/>
            <a:r>
              <a:rPr lang="en-US" sz="1400" dirty="0">
                <a:solidFill>
                  <a:srgbClr val="78909C"/>
                </a:solidFill>
              </a:rPr>
              <a:t>Parallel  |  Scatter-Gather  |  Map-Reduce</a:t>
            </a:r>
          </a:p>
        </p:txBody>
      </p:sp>
      <p:sp>
        <p:nvSpPr>
          <p:cNvPr id="60" name="Input"/>
          <p:cNvSpPr/>
          <p:nvPr/>
        </p:nvSpPr>
        <p:spPr>
          <a:xfrm>
            <a:off x="1866900" y="2539666"/>
            <a:ext cx="914400" cy="304800"/>
          </a:xfrm>
          <a:prstGeom prst="roundRect">
            <a:avLst/>
          </a:prstGeom>
          <a:solidFill>
            <a:srgbClr val="4FC3F7"/>
          </a:solidFill>
          <a:ln w="0">
            <a:noFill/>
          </a:ln>
        </p:spPr>
        <p:txBody>
          <a:bodyPr wrap="square" lIns="36000" tIns="36000" rIns="36000" bIns="36000" anchor="ctr"/>
          <a:lstStyle/>
          <a:p>
            <a:pPr algn="ctr"/>
            <a:r>
              <a:rPr lang="en-US" sz="1600" b="1" dirty="0">
                <a:solidFill>
                  <a:srgbClr val="0F1923"/>
                </a:solidFill>
              </a:rPr>
              <a:t>Input</a:t>
            </a:r>
          </a:p>
        </p:txBody>
      </p:sp>
      <p:sp>
        <p:nvSpPr>
          <p:cNvPr id="61" name="A1"/>
          <p:cNvSpPr/>
          <p:nvPr/>
        </p:nvSpPr>
        <p:spPr>
          <a:xfrm>
            <a:off x="2857500" y="2596816"/>
            <a:ext cx="228600" cy="190500"/>
          </a:xfrm>
          <a:prstGeom prst="rightArrow">
            <a:avLst/>
          </a:prstGeom>
          <a:solidFill>
            <a:srgbClr val="4FC3F7"/>
          </a:solidFill>
          <a:ln w="0">
            <a:noFill/>
          </a:ln>
        </p:spPr>
        <p:txBody>
          <a:bodyPr/>
          <a:lstStyle/>
          <a:p>
            <a:endParaRPr lang="en-US"/>
          </a:p>
        </p:txBody>
      </p:sp>
      <p:sp>
        <p:nvSpPr>
          <p:cNvPr id="62" name="Init"/>
          <p:cNvSpPr/>
          <p:nvPr/>
        </p:nvSpPr>
        <p:spPr>
          <a:xfrm>
            <a:off x="3162300" y="2463466"/>
            <a:ext cx="1219200" cy="457200"/>
          </a:xfrm>
          <a:prstGeom prst="roundRect">
            <a:avLst/>
          </a:prstGeom>
          <a:solidFill>
            <a:srgbClr val="1A2736"/>
          </a:solidFill>
          <a:ln w="19050">
            <a:solidFill>
              <a:srgbClr val="CE93D8"/>
            </a:solidFill>
          </a:ln>
        </p:spPr>
        <p:txBody>
          <a:bodyPr wrap="square" lIns="36000" tIns="36000" rIns="36000" bIns="36000" anchor="ctr"/>
          <a:lstStyle/>
          <a:p>
            <a:pPr algn="ctr"/>
            <a:r>
              <a:rPr lang="en-US" sz="1600" b="1" dirty="0">
                <a:solidFill>
                  <a:srgbClr val="CE93D8"/>
                </a:solidFill>
              </a:rPr>
              <a:t>Initiator</a:t>
            </a:r>
          </a:p>
        </p:txBody>
      </p:sp>
      <p:sp>
        <p:nvSpPr>
          <p:cNvPr id="70" name="Ag0"/>
          <p:cNvSpPr/>
          <p:nvPr/>
        </p:nvSpPr>
        <p:spPr>
          <a:xfrm>
            <a:off x="5143500" y="1472866"/>
            <a:ext cx="1752600" cy="381000"/>
          </a:xfrm>
          <a:prstGeom prst="roundRect">
            <a:avLst/>
          </a:prstGeom>
          <a:solidFill>
            <a:srgbClr val="1A2736"/>
          </a:solidFill>
          <a:ln w="19050">
            <a:solidFill>
              <a:srgbClr val="4FC3F7"/>
            </a:solidFill>
          </a:ln>
        </p:spPr>
        <p:txBody>
          <a:bodyPr wrap="square" lIns="36000" tIns="36000" rIns="36000" bIns="36000" anchor="ctr"/>
          <a:lstStyle/>
          <a:p>
            <a:pPr algn="ctr"/>
            <a:r>
              <a:rPr lang="en-US" sz="1400" b="1" dirty="0">
                <a:solidFill>
                  <a:srgbClr val="E8ECF1"/>
                </a:solidFill>
              </a:rPr>
              <a:t>Fundamental
Analysis</a:t>
            </a:r>
          </a:p>
        </p:txBody>
      </p:sp>
      <p:sp>
        <p:nvSpPr>
          <p:cNvPr id="71" name="Ag1"/>
          <p:cNvSpPr/>
          <p:nvPr/>
        </p:nvSpPr>
        <p:spPr>
          <a:xfrm>
            <a:off x="5143500" y="2006266"/>
            <a:ext cx="1752600" cy="381000"/>
          </a:xfrm>
          <a:prstGeom prst="roundRect">
            <a:avLst/>
          </a:prstGeom>
          <a:solidFill>
            <a:srgbClr val="1A2736"/>
          </a:solidFill>
          <a:ln w="19050">
            <a:solidFill>
              <a:srgbClr val="81C784"/>
            </a:solidFill>
          </a:ln>
        </p:spPr>
        <p:txBody>
          <a:bodyPr wrap="square" lIns="36000" tIns="36000" rIns="36000" bIns="36000" anchor="ctr"/>
          <a:lstStyle/>
          <a:p>
            <a:pPr algn="ctr"/>
            <a:r>
              <a:rPr lang="en-US" sz="1400" b="1" dirty="0">
                <a:solidFill>
                  <a:srgbClr val="E8ECF1"/>
                </a:solidFill>
              </a:rPr>
              <a:t>Technical
Analysis</a:t>
            </a:r>
          </a:p>
        </p:txBody>
      </p:sp>
      <p:sp>
        <p:nvSpPr>
          <p:cNvPr id="72" name="Ag2"/>
          <p:cNvSpPr/>
          <p:nvPr/>
        </p:nvSpPr>
        <p:spPr>
          <a:xfrm>
            <a:off x="5143500" y="2539666"/>
            <a:ext cx="1752600" cy="381000"/>
          </a:xfrm>
          <a:prstGeom prst="roundRect">
            <a:avLst/>
          </a:prstGeom>
          <a:solidFill>
            <a:srgbClr val="1A2736"/>
          </a:solidFill>
          <a:ln w="19050">
            <a:solidFill>
              <a:srgbClr val="FFB74D"/>
            </a:solidFill>
          </a:ln>
        </p:spPr>
        <p:txBody>
          <a:bodyPr wrap="square" lIns="36000" tIns="36000" rIns="36000" bIns="36000" anchor="ctr"/>
          <a:lstStyle/>
          <a:p>
            <a:pPr algn="ctr"/>
            <a:r>
              <a:rPr lang="en-US" sz="1400" b="1" dirty="0">
                <a:solidFill>
                  <a:srgbClr val="E8ECF1"/>
                </a:solidFill>
              </a:rPr>
              <a:t>Sentiment
Analysis</a:t>
            </a:r>
          </a:p>
        </p:txBody>
      </p:sp>
      <p:sp>
        <p:nvSpPr>
          <p:cNvPr id="73" name="Ag3"/>
          <p:cNvSpPr/>
          <p:nvPr/>
        </p:nvSpPr>
        <p:spPr>
          <a:xfrm>
            <a:off x="5143500" y="3073066"/>
            <a:ext cx="1752600" cy="381000"/>
          </a:xfrm>
          <a:prstGeom prst="roundRect">
            <a:avLst/>
          </a:prstGeom>
          <a:solidFill>
            <a:srgbClr val="1A2736"/>
          </a:solidFill>
          <a:ln w="19050">
            <a:solidFill>
              <a:srgbClr val="CE93D8"/>
            </a:solidFill>
          </a:ln>
        </p:spPr>
        <p:txBody>
          <a:bodyPr wrap="square" lIns="36000" tIns="36000" rIns="36000" bIns="36000" anchor="ctr"/>
          <a:lstStyle/>
          <a:p>
            <a:pPr algn="ctr"/>
            <a:r>
              <a:rPr lang="en-US" sz="1400" b="1" dirty="0">
                <a:solidFill>
                  <a:srgbClr val="E8ECF1"/>
                </a:solidFill>
              </a:rPr>
              <a:t>ESG
Analysis</a:t>
            </a:r>
          </a:p>
        </p:txBody>
      </p:sp>
      <p:sp>
        <p:nvSpPr>
          <p:cNvPr id="80" name="Line0"/>
          <p:cNvSpPr/>
          <p:nvPr/>
        </p:nvSpPr>
        <p:spPr>
          <a:xfrm>
            <a:off x="4381500" y="1663366"/>
            <a:ext cx="762000" cy="19050"/>
          </a:xfrm>
          <a:prstGeom prst="rect">
            <a:avLst/>
          </a:prstGeom>
          <a:solidFill>
            <a:srgbClr val="4FC3F7"/>
          </a:solidFill>
          <a:ln w="0">
            <a:noFill/>
          </a:ln>
        </p:spPr>
        <p:txBody>
          <a:bodyPr/>
          <a:lstStyle/>
          <a:p>
            <a:endParaRPr lang="en-US"/>
          </a:p>
        </p:txBody>
      </p:sp>
      <p:sp>
        <p:nvSpPr>
          <p:cNvPr id="81" name="Line1"/>
          <p:cNvSpPr/>
          <p:nvPr/>
        </p:nvSpPr>
        <p:spPr>
          <a:xfrm>
            <a:off x="4381500" y="2196766"/>
            <a:ext cx="762000" cy="19050"/>
          </a:xfrm>
          <a:prstGeom prst="rect">
            <a:avLst/>
          </a:prstGeom>
          <a:solidFill>
            <a:srgbClr val="4FC3F7"/>
          </a:solidFill>
          <a:ln w="0">
            <a:noFill/>
          </a:ln>
        </p:spPr>
        <p:txBody>
          <a:bodyPr/>
          <a:lstStyle/>
          <a:p>
            <a:endParaRPr lang="en-US"/>
          </a:p>
        </p:txBody>
      </p:sp>
      <p:sp>
        <p:nvSpPr>
          <p:cNvPr id="82" name="Line2"/>
          <p:cNvSpPr/>
          <p:nvPr/>
        </p:nvSpPr>
        <p:spPr>
          <a:xfrm>
            <a:off x="4381500" y="2730166"/>
            <a:ext cx="762000" cy="19050"/>
          </a:xfrm>
          <a:prstGeom prst="rect">
            <a:avLst/>
          </a:prstGeom>
          <a:solidFill>
            <a:srgbClr val="4FC3F7"/>
          </a:solidFill>
          <a:ln w="0">
            <a:noFill/>
          </a:ln>
        </p:spPr>
        <p:txBody>
          <a:bodyPr/>
          <a:lstStyle/>
          <a:p>
            <a:endParaRPr lang="en-US"/>
          </a:p>
        </p:txBody>
      </p:sp>
      <p:sp>
        <p:nvSpPr>
          <p:cNvPr id="83" name="Line3"/>
          <p:cNvSpPr/>
          <p:nvPr/>
        </p:nvSpPr>
        <p:spPr>
          <a:xfrm>
            <a:off x="4381500" y="3263566"/>
            <a:ext cx="762000" cy="19050"/>
          </a:xfrm>
          <a:prstGeom prst="rect">
            <a:avLst/>
          </a:prstGeom>
          <a:solidFill>
            <a:srgbClr val="4FC3F7"/>
          </a:solidFill>
          <a:ln w="0">
            <a:noFill/>
          </a:ln>
        </p:spPr>
        <p:txBody>
          <a:bodyPr/>
          <a:lstStyle/>
          <a:p>
            <a:endParaRPr lang="en-US"/>
          </a:p>
        </p:txBody>
      </p:sp>
      <p:sp>
        <p:nvSpPr>
          <p:cNvPr id="86" name="LineR0"/>
          <p:cNvSpPr/>
          <p:nvPr/>
        </p:nvSpPr>
        <p:spPr>
          <a:xfrm>
            <a:off x="6896100" y="1663366"/>
            <a:ext cx="762000" cy="19050"/>
          </a:xfrm>
          <a:prstGeom prst="rect">
            <a:avLst/>
          </a:prstGeom>
          <a:solidFill>
            <a:srgbClr val="81C784"/>
          </a:solidFill>
          <a:ln w="0">
            <a:noFill/>
          </a:ln>
        </p:spPr>
        <p:txBody>
          <a:bodyPr/>
          <a:lstStyle/>
          <a:p>
            <a:endParaRPr lang="en-US"/>
          </a:p>
        </p:txBody>
      </p:sp>
      <p:sp>
        <p:nvSpPr>
          <p:cNvPr id="87" name="LineR1"/>
          <p:cNvSpPr/>
          <p:nvPr/>
        </p:nvSpPr>
        <p:spPr>
          <a:xfrm>
            <a:off x="6896100" y="2196766"/>
            <a:ext cx="762000" cy="19050"/>
          </a:xfrm>
          <a:prstGeom prst="rect">
            <a:avLst/>
          </a:prstGeom>
          <a:solidFill>
            <a:srgbClr val="81C784"/>
          </a:solidFill>
          <a:ln w="0">
            <a:noFill/>
          </a:ln>
        </p:spPr>
        <p:txBody>
          <a:bodyPr/>
          <a:lstStyle/>
          <a:p>
            <a:endParaRPr lang="en-US"/>
          </a:p>
        </p:txBody>
      </p:sp>
      <p:sp>
        <p:nvSpPr>
          <p:cNvPr id="88" name="LineR2"/>
          <p:cNvSpPr/>
          <p:nvPr/>
        </p:nvSpPr>
        <p:spPr>
          <a:xfrm>
            <a:off x="6896100" y="2730166"/>
            <a:ext cx="762000" cy="19050"/>
          </a:xfrm>
          <a:prstGeom prst="rect">
            <a:avLst/>
          </a:prstGeom>
          <a:solidFill>
            <a:srgbClr val="81C784"/>
          </a:solidFill>
          <a:ln w="0">
            <a:noFill/>
          </a:ln>
        </p:spPr>
        <p:txBody>
          <a:bodyPr/>
          <a:lstStyle/>
          <a:p>
            <a:endParaRPr lang="en-US"/>
          </a:p>
        </p:txBody>
      </p:sp>
      <p:sp>
        <p:nvSpPr>
          <p:cNvPr id="89" name="LineR3"/>
          <p:cNvSpPr/>
          <p:nvPr/>
        </p:nvSpPr>
        <p:spPr>
          <a:xfrm>
            <a:off x="6896100" y="3263566"/>
            <a:ext cx="762000" cy="19050"/>
          </a:xfrm>
          <a:prstGeom prst="rect">
            <a:avLst/>
          </a:prstGeom>
          <a:solidFill>
            <a:srgbClr val="81C784"/>
          </a:solidFill>
          <a:ln w="0">
            <a:noFill/>
          </a:ln>
        </p:spPr>
        <p:txBody>
          <a:bodyPr/>
          <a:lstStyle/>
          <a:p>
            <a:endParaRPr lang="en-US"/>
          </a:p>
        </p:txBody>
      </p:sp>
      <p:sp>
        <p:nvSpPr>
          <p:cNvPr id="92" name="A2"/>
          <p:cNvSpPr/>
          <p:nvPr/>
        </p:nvSpPr>
        <p:spPr>
          <a:xfrm>
            <a:off x="7734300" y="2596816"/>
            <a:ext cx="228600" cy="190500"/>
          </a:xfrm>
          <a:prstGeom prst="rightArrow">
            <a:avLst/>
          </a:prstGeom>
          <a:solidFill>
            <a:srgbClr val="81C784"/>
          </a:solidFill>
          <a:ln w="0">
            <a:noFill/>
          </a:ln>
        </p:spPr>
        <p:txBody>
          <a:bodyPr/>
          <a:lstStyle/>
          <a:p>
            <a:endParaRPr lang="en-US"/>
          </a:p>
        </p:txBody>
      </p:sp>
      <p:sp>
        <p:nvSpPr>
          <p:cNvPr id="93" name="Result"/>
          <p:cNvSpPr/>
          <p:nvPr/>
        </p:nvSpPr>
        <p:spPr>
          <a:xfrm>
            <a:off x="8039099" y="2196766"/>
            <a:ext cx="1684421" cy="723900"/>
          </a:xfrm>
          <a:prstGeom prst="roundRect">
            <a:avLst/>
          </a:prstGeom>
          <a:solidFill>
            <a:srgbClr val="81C784"/>
          </a:solidFill>
          <a:ln w="0">
            <a:noFill/>
          </a:ln>
        </p:spPr>
        <p:txBody>
          <a:bodyPr wrap="square" lIns="36000" tIns="36000" rIns="36000" bIns="36000" anchor="ctr"/>
          <a:lstStyle/>
          <a:p>
            <a:pPr algn="ctr"/>
            <a:r>
              <a:rPr lang="en-US" sz="1400" b="1" dirty="0">
                <a:solidFill>
                  <a:srgbClr val="0F1923"/>
                </a:solidFill>
              </a:rPr>
              <a:t>Combined
Recommendation</a:t>
            </a:r>
          </a:p>
        </p:txBody>
      </p:sp>
      <p:sp>
        <p:nvSpPr>
          <p:cNvPr id="94" name="Benefits"/>
          <p:cNvSpPr/>
          <p:nvPr/>
        </p:nvSpPr>
        <p:spPr>
          <a:xfrm>
            <a:off x="574709" y="3987466"/>
            <a:ext cx="5334000" cy="685800"/>
          </a:xfrm>
          <a:prstGeom prst="roundRect">
            <a:avLst/>
          </a:prstGeom>
          <a:solidFill>
            <a:srgbClr val="1A2736"/>
          </a:solidFill>
          <a:ln w="0">
            <a:noFill/>
          </a:ln>
        </p:spPr>
        <p:txBody>
          <a:bodyPr wrap="square" lIns="91440" tIns="45720" rIns="91440" bIns="45720"/>
          <a:lstStyle/>
          <a:p>
            <a:pPr>
              <a:buNone/>
            </a:pPr>
            <a:r>
              <a:rPr lang="en-US" sz="1600" b="1" dirty="0">
                <a:solidFill>
                  <a:srgbClr val="81C784"/>
                </a:solidFill>
              </a:rPr>
              <a:t>Benefits</a:t>
            </a:r>
          </a:p>
          <a:p>
            <a:pPr>
              <a:buFont typeface="Arial"/>
              <a:buChar char="•"/>
            </a:pPr>
            <a:r>
              <a:rPr lang="en-US" sz="1400" dirty="0">
                <a:solidFill>
                  <a:srgbClr val="B0BEC5"/>
                </a:solidFill>
              </a:rPr>
              <a:t>Reduced latency via parallelism</a:t>
            </a:r>
          </a:p>
          <a:p>
            <a:pPr>
              <a:buFont typeface="Arial"/>
              <a:buChar char="•"/>
            </a:pPr>
            <a:r>
              <a:rPr lang="en-US" sz="1400" dirty="0">
                <a:solidFill>
                  <a:srgbClr val="B0BEC5"/>
                </a:solidFill>
              </a:rPr>
              <a:t>Diverse perspectives; natural voting/ensemble</a:t>
            </a:r>
          </a:p>
        </p:txBody>
      </p:sp>
      <p:sp>
        <p:nvSpPr>
          <p:cNvPr id="95" name="Trade"/>
          <p:cNvSpPr/>
          <p:nvPr/>
        </p:nvSpPr>
        <p:spPr>
          <a:xfrm>
            <a:off x="6137309" y="3987466"/>
            <a:ext cx="5334000" cy="685800"/>
          </a:xfrm>
          <a:prstGeom prst="roundRect">
            <a:avLst/>
          </a:prstGeom>
          <a:solidFill>
            <a:srgbClr val="1A2736"/>
          </a:solidFill>
          <a:ln w="0">
            <a:noFill/>
          </a:ln>
        </p:spPr>
        <p:txBody>
          <a:bodyPr wrap="square" lIns="91440" tIns="45720" rIns="91440" bIns="45720"/>
          <a:lstStyle/>
          <a:p>
            <a:pPr>
              <a:buNone/>
            </a:pPr>
            <a:r>
              <a:rPr lang="en-US" sz="1600" b="1" dirty="0">
                <a:solidFill>
                  <a:srgbClr val="EF5350"/>
                </a:solidFill>
              </a:rPr>
              <a:t>Trade-offs</a:t>
            </a:r>
          </a:p>
          <a:p>
            <a:pPr>
              <a:buFont typeface="Arial"/>
              <a:buChar char="•"/>
            </a:pPr>
            <a:r>
              <a:rPr lang="en-US" sz="1400" dirty="0">
                <a:solidFill>
                  <a:srgbClr val="B0BEC5"/>
                </a:solidFill>
              </a:rPr>
              <a:t>Resource-intensive (multiple LLM calls)</a:t>
            </a:r>
          </a:p>
          <a:p>
            <a:pPr>
              <a:buFont typeface="Arial"/>
              <a:buChar char="•"/>
            </a:pPr>
            <a:r>
              <a:rPr lang="en-US" sz="1400" dirty="0">
                <a:solidFill>
                  <a:srgbClr val="B0BEC5"/>
                </a:solidFill>
              </a:rPr>
              <a:t>Requires conflict resolution strategy</a:t>
            </a:r>
          </a:p>
        </p:txBody>
      </p:sp>
      <p:sp>
        <p:nvSpPr>
          <p:cNvPr id="96" name="Ex"/>
          <p:cNvSpPr/>
          <p:nvPr/>
        </p:nvSpPr>
        <p:spPr>
          <a:xfrm>
            <a:off x="574709" y="4825666"/>
            <a:ext cx="10896600" cy="381000"/>
          </a:xfrm>
          <a:prstGeom prst="rect">
            <a:avLst/>
          </a:prstGeom>
          <a:noFill/>
          <a:ln w="0">
            <a:noFill/>
          </a:ln>
        </p:spPr>
        <p:txBody>
          <a:bodyPr wrap="square" lIns="91440" tIns="45720" rIns="91440" bIns="45720"/>
          <a:lstStyle/>
          <a:p>
            <a:pPr>
              <a:buNone/>
            </a:pPr>
            <a:r>
              <a:rPr lang="en-US" sz="1400" dirty="0">
                <a:solidFill>
                  <a:srgbClr val="FFB74D"/>
                </a:solidFill>
              </a:rPr>
              <a:t>Example:  </a:t>
            </a:r>
            <a:r>
              <a:rPr lang="en-US" sz="1400" dirty="0">
                <a:solidFill>
                  <a:srgbClr val="78909C"/>
                </a:solidFill>
              </a:rPr>
              <a:t>Stock analysis — Fundamental + Technical + Sentiment + ESG → Combined Recommendation</a:t>
            </a:r>
          </a:p>
        </p:txBody>
      </p:sp>
    </p:spTree>
    <p:extLst>
      <p:ext uri="{BB962C8B-B14F-4D97-AF65-F5344CB8AC3E}">
        <p14:creationId xmlns:p14="http://schemas.microsoft.com/office/powerpoint/2010/main" val="2954923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1E532-3F66-2499-E515-AF591E942276}"/>
              </a:ext>
            </a:extLst>
          </p:cNvPr>
          <p:cNvSpPr>
            <a:spLocks noGrp="1"/>
          </p:cNvSpPr>
          <p:nvPr>
            <p:ph type="title"/>
          </p:nvPr>
        </p:nvSpPr>
        <p:spPr>
          <a:xfrm>
            <a:off x="457200" y="152400"/>
            <a:ext cx="10515600" cy="457200"/>
          </a:xfrm>
        </p:spPr>
        <p:txBody>
          <a:bodyPr/>
          <a:lstStyle/>
          <a:p>
            <a:pPr>
              <a:buNone/>
            </a:pPr>
            <a:r>
              <a:rPr lang="en-US" sz="2400" b="1" dirty="0"/>
              <a:t>Handoff Orchestration</a:t>
            </a:r>
          </a:p>
        </p:txBody>
      </p:sp>
      <p:sp>
        <p:nvSpPr>
          <p:cNvPr id="50" name="Sub"/>
          <p:cNvSpPr/>
          <p:nvPr/>
        </p:nvSpPr>
        <p:spPr>
          <a:xfrm>
            <a:off x="457200" y="609600"/>
            <a:ext cx="10515600" cy="304800"/>
          </a:xfrm>
          <a:prstGeom prst="rect">
            <a:avLst/>
          </a:prstGeom>
          <a:noFill/>
          <a:ln w="0">
            <a:noFill/>
          </a:ln>
        </p:spPr>
        <p:txBody>
          <a:bodyPr wrap="square" lIns="36000" tIns="36000" rIns="36000" bIns="36000" anchor="ctr"/>
          <a:lstStyle/>
          <a:p>
            <a:pPr algn="l"/>
            <a:r>
              <a:rPr lang="en-US" sz="1400" dirty="0">
                <a:solidFill>
                  <a:srgbClr val="78909C"/>
                </a:solidFill>
              </a:rPr>
              <a:t>Routing  |  Triage  |  Transfer  |  Dispatch  |  Delegation</a:t>
            </a:r>
          </a:p>
        </p:txBody>
      </p:sp>
      <p:sp>
        <p:nvSpPr>
          <p:cNvPr id="60" name="Input"/>
          <p:cNvSpPr/>
          <p:nvPr/>
        </p:nvSpPr>
        <p:spPr>
          <a:xfrm>
            <a:off x="1600200" y="2362200"/>
            <a:ext cx="914400" cy="304800"/>
          </a:xfrm>
          <a:prstGeom prst="roundRect">
            <a:avLst/>
          </a:prstGeom>
          <a:solidFill>
            <a:srgbClr val="4FC3F7"/>
          </a:solidFill>
          <a:ln w="0">
            <a:noFill/>
          </a:ln>
        </p:spPr>
        <p:txBody>
          <a:bodyPr wrap="square" lIns="36000" tIns="36000" rIns="36000" bIns="36000" anchor="ctr"/>
          <a:lstStyle/>
          <a:p>
            <a:pPr algn="ctr"/>
            <a:r>
              <a:rPr lang="en-US" sz="1600" b="1" dirty="0">
                <a:solidFill>
                  <a:srgbClr val="0F1923"/>
                </a:solidFill>
              </a:rPr>
              <a:t>Input</a:t>
            </a:r>
          </a:p>
        </p:txBody>
      </p:sp>
      <p:sp>
        <p:nvSpPr>
          <p:cNvPr id="61" name="A1"/>
          <p:cNvSpPr/>
          <p:nvPr/>
        </p:nvSpPr>
        <p:spPr>
          <a:xfrm>
            <a:off x="2590800" y="2438400"/>
            <a:ext cx="228600" cy="152400"/>
          </a:xfrm>
          <a:prstGeom prst="rightArrow">
            <a:avLst/>
          </a:prstGeom>
          <a:solidFill>
            <a:srgbClr val="4FC3F7"/>
          </a:solidFill>
          <a:ln w="0">
            <a:noFill/>
          </a:ln>
        </p:spPr>
        <p:txBody>
          <a:bodyPr/>
          <a:lstStyle/>
          <a:p>
            <a:endParaRPr lang="en-US"/>
          </a:p>
        </p:txBody>
      </p:sp>
      <p:sp>
        <p:nvSpPr>
          <p:cNvPr id="62" name="Triage"/>
          <p:cNvSpPr/>
          <p:nvPr/>
        </p:nvSpPr>
        <p:spPr>
          <a:xfrm>
            <a:off x="2895600" y="2133600"/>
            <a:ext cx="1524000" cy="762000"/>
          </a:xfrm>
          <a:prstGeom prst="roundRect">
            <a:avLst/>
          </a:prstGeom>
          <a:solidFill>
            <a:srgbClr val="1A2736"/>
          </a:solidFill>
          <a:ln w="25400">
            <a:solidFill>
              <a:srgbClr val="FFB74D"/>
            </a:solidFill>
          </a:ln>
        </p:spPr>
        <p:txBody>
          <a:bodyPr wrap="square" lIns="36000" tIns="36000" rIns="36000" bIns="36000" anchor="ctr"/>
          <a:lstStyle/>
          <a:p>
            <a:pPr algn="ctr"/>
            <a:r>
              <a:rPr lang="en-US" sz="1600" b="1" dirty="0">
                <a:solidFill>
                  <a:srgbClr val="FFB74D"/>
                </a:solidFill>
              </a:rPr>
              <a:t>Triage Agent</a:t>
            </a:r>
          </a:p>
        </p:txBody>
      </p:sp>
      <p:sp>
        <p:nvSpPr>
          <p:cNvPr id="70" name="Ln0"/>
          <p:cNvSpPr/>
          <p:nvPr/>
        </p:nvSpPr>
        <p:spPr>
          <a:xfrm>
            <a:off x="4495800" y="1828800"/>
            <a:ext cx="609600" cy="19050"/>
          </a:xfrm>
          <a:prstGeom prst="rect">
            <a:avLst/>
          </a:prstGeom>
          <a:solidFill>
            <a:srgbClr val="4FC3F7"/>
          </a:solidFill>
          <a:ln w="0">
            <a:noFill/>
          </a:ln>
        </p:spPr>
        <p:txBody>
          <a:bodyPr/>
          <a:lstStyle/>
          <a:p>
            <a:endParaRPr lang="en-US"/>
          </a:p>
        </p:txBody>
      </p:sp>
      <p:sp>
        <p:nvSpPr>
          <p:cNvPr id="75" name="Ar0"/>
          <p:cNvSpPr/>
          <p:nvPr/>
        </p:nvSpPr>
        <p:spPr>
          <a:xfrm>
            <a:off x="5105400" y="1752600"/>
            <a:ext cx="228600" cy="152400"/>
          </a:xfrm>
          <a:prstGeom prst="rightArrow">
            <a:avLst/>
          </a:prstGeom>
          <a:solidFill>
            <a:srgbClr val="4FC3F7"/>
          </a:solidFill>
          <a:ln w="0">
            <a:noFill/>
          </a:ln>
        </p:spPr>
        <p:txBody>
          <a:bodyPr/>
          <a:lstStyle/>
          <a:p>
            <a:endParaRPr lang="en-US"/>
          </a:p>
        </p:txBody>
      </p:sp>
      <p:sp>
        <p:nvSpPr>
          <p:cNvPr id="80" name="Sp0"/>
          <p:cNvSpPr/>
          <p:nvPr/>
        </p:nvSpPr>
        <p:spPr>
          <a:xfrm>
            <a:off x="5410200" y="1676400"/>
            <a:ext cx="1524000" cy="457200"/>
          </a:xfrm>
          <a:prstGeom prst="roundRect">
            <a:avLst/>
          </a:prstGeom>
          <a:solidFill>
            <a:srgbClr val="1A2736"/>
          </a:solidFill>
          <a:ln w="19050">
            <a:solidFill>
              <a:srgbClr val="4FC3F7"/>
            </a:solidFill>
          </a:ln>
        </p:spPr>
        <p:txBody>
          <a:bodyPr wrap="square" lIns="36000" tIns="36000" rIns="36000" bIns="36000" anchor="ctr"/>
          <a:lstStyle/>
          <a:p>
            <a:pPr algn="ctr"/>
            <a:r>
              <a:rPr lang="en-US" sz="1400" b="1" dirty="0">
                <a:solidFill>
                  <a:srgbClr val="E8ECF1"/>
                </a:solidFill>
              </a:rPr>
              <a:t>Technical
Support</a:t>
            </a:r>
          </a:p>
        </p:txBody>
      </p:sp>
      <p:sp>
        <p:nvSpPr>
          <p:cNvPr id="71" name="Ln1"/>
          <p:cNvSpPr/>
          <p:nvPr/>
        </p:nvSpPr>
        <p:spPr>
          <a:xfrm>
            <a:off x="4495800" y="2514600"/>
            <a:ext cx="609600" cy="19050"/>
          </a:xfrm>
          <a:prstGeom prst="rect">
            <a:avLst/>
          </a:prstGeom>
          <a:solidFill>
            <a:srgbClr val="81C784"/>
          </a:solidFill>
          <a:ln w="0">
            <a:noFill/>
          </a:ln>
        </p:spPr>
        <p:txBody>
          <a:bodyPr/>
          <a:lstStyle/>
          <a:p>
            <a:endParaRPr lang="en-US"/>
          </a:p>
        </p:txBody>
      </p:sp>
      <p:sp>
        <p:nvSpPr>
          <p:cNvPr id="76" name="Ar1"/>
          <p:cNvSpPr/>
          <p:nvPr/>
        </p:nvSpPr>
        <p:spPr>
          <a:xfrm>
            <a:off x="5105400" y="2438400"/>
            <a:ext cx="228600" cy="152400"/>
          </a:xfrm>
          <a:prstGeom prst="rightArrow">
            <a:avLst/>
          </a:prstGeom>
          <a:solidFill>
            <a:srgbClr val="81C784"/>
          </a:solidFill>
          <a:ln w="0">
            <a:noFill/>
          </a:ln>
        </p:spPr>
        <p:txBody>
          <a:bodyPr/>
          <a:lstStyle/>
          <a:p>
            <a:endParaRPr lang="en-US"/>
          </a:p>
        </p:txBody>
      </p:sp>
      <p:sp>
        <p:nvSpPr>
          <p:cNvPr id="81" name="Sp1"/>
          <p:cNvSpPr/>
          <p:nvPr/>
        </p:nvSpPr>
        <p:spPr>
          <a:xfrm>
            <a:off x="5410200" y="2362200"/>
            <a:ext cx="1524000" cy="457200"/>
          </a:xfrm>
          <a:prstGeom prst="roundRect">
            <a:avLst/>
          </a:prstGeom>
          <a:solidFill>
            <a:srgbClr val="1A2736"/>
          </a:solidFill>
          <a:ln w="19050">
            <a:solidFill>
              <a:srgbClr val="81C784"/>
            </a:solidFill>
          </a:ln>
        </p:spPr>
        <p:txBody>
          <a:bodyPr wrap="square" lIns="36000" tIns="36000" rIns="36000" bIns="36000" anchor="ctr"/>
          <a:lstStyle/>
          <a:p>
            <a:pPr algn="ctr"/>
            <a:r>
              <a:rPr lang="en-US" sz="1400" b="1" dirty="0">
                <a:solidFill>
                  <a:srgbClr val="E8ECF1"/>
                </a:solidFill>
              </a:rPr>
              <a:t>Financial
Services</a:t>
            </a:r>
          </a:p>
        </p:txBody>
      </p:sp>
      <p:sp>
        <p:nvSpPr>
          <p:cNvPr id="72" name="Ln2"/>
          <p:cNvSpPr/>
          <p:nvPr/>
        </p:nvSpPr>
        <p:spPr>
          <a:xfrm>
            <a:off x="4495800" y="3200400"/>
            <a:ext cx="609600" cy="19050"/>
          </a:xfrm>
          <a:prstGeom prst="rect">
            <a:avLst/>
          </a:prstGeom>
          <a:solidFill>
            <a:srgbClr val="CE93D8"/>
          </a:solidFill>
          <a:ln w="0">
            <a:noFill/>
          </a:ln>
        </p:spPr>
        <p:txBody>
          <a:bodyPr/>
          <a:lstStyle/>
          <a:p>
            <a:endParaRPr lang="en-US"/>
          </a:p>
        </p:txBody>
      </p:sp>
      <p:sp>
        <p:nvSpPr>
          <p:cNvPr id="77" name="Ar2"/>
          <p:cNvSpPr/>
          <p:nvPr/>
        </p:nvSpPr>
        <p:spPr>
          <a:xfrm>
            <a:off x="5105400" y="3124200"/>
            <a:ext cx="228600" cy="152400"/>
          </a:xfrm>
          <a:prstGeom prst="rightArrow">
            <a:avLst/>
          </a:prstGeom>
          <a:solidFill>
            <a:srgbClr val="CE93D8"/>
          </a:solidFill>
          <a:ln w="0">
            <a:noFill/>
          </a:ln>
        </p:spPr>
        <p:txBody>
          <a:bodyPr/>
          <a:lstStyle/>
          <a:p>
            <a:endParaRPr lang="en-US"/>
          </a:p>
        </p:txBody>
      </p:sp>
      <p:sp>
        <p:nvSpPr>
          <p:cNvPr id="82" name="Sp2"/>
          <p:cNvSpPr/>
          <p:nvPr/>
        </p:nvSpPr>
        <p:spPr>
          <a:xfrm>
            <a:off x="5410200" y="3048000"/>
            <a:ext cx="1524000" cy="457200"/>
          </a:xfrm>
          <a:prstGeom prst="roundRect">
            <a:avLst/>
          </a:prstGeom>
          <a:solidFill>
            <a:srgbClr val="1A2736"/>
          </a:solidFill>
          <a:ln w="19050">
            <a:solidFill>
              <a:srgbClr val="CE93D8"/>
            </a:solidFill>
          </a:ln>
        </p:spPr>
        <p:txBody>
          <a:bodyPr wrap="square" lIns="36000" tIns="36000" rIns="36000" bIns="36000" anchor="ctr"/>
          <a:lstStyle/>
          <a:p>
            <a:pPr algn="ctr"/>
            <a:r>
              <a:rPr lang="en-US" sz="1400" b="1" dirty="0">
                <a:solidFill>
                  <a:srgbClr val="E8ECF1"/>
                </a:solidFill>
              </a:rPr>
              <a:t>Account
Access</a:t>
            </a:r>
          </a:p>
        </p:txBody>
      </p:sp>
      <p:sp>
        <p:nvSpPr>
          <p:cNvPr id="85" name="LnH"/>
          <p:cNvSpPr/>
          <p:nvPr/>
        </p:nvSpPr>
        <p:spPr>
          <a:xfrm>
            <a:off x="6934200" y="3200400"/>
            <a:ext cx="228600" cy="152400"/>
          </a:xfrm>
          <a:prstGeom prst="rightArrow">
            <a:avLst/>
          </a:prstGeom>
          <a:solidFill>
            <a:srgbClr val="EF5350"/>
          </a:solidFill>
          <a:ln w="0">
            <a:noFill/>
          </a:ln>
        </p:spPr>
        <p:txBody>
          <a:bodyPr/>
          <a:lstStyle/>
          <a:p>
            <a:endParaRPr lang="en-US"/>
          </a:p>
        </p:txBody>
      </p:sp>
      <p:sp>
        <p:nvSpPr>
          <p:cNvPr id="86" name="Human"/>
          <p:cNvSpPr/>
          <p:nvPr/>
        </p:nvSpPr>
        <p:spPr>
          <a:xfrm>
            <a:off x="7239000" y="3048000"/>
            <a:ext cx="1524000" cy="457200"/>
          </a:xfrm>
          <a:prstGeom prst="roundRect">
            <a:avLst/>
          </a:prstGeom>
          <a:solidFill>
            <a:srgbClr val="1A2736"/>
          </a:solidFill>
          <a:ln w="19050">
            <a:solidFill>
              <a:srgbClr val="EF5350"/>
            </a:solidFill>
          </a:ln>
        </p:spPr>
        <p:txBody>
          <a:bodyPr wrap="square" lIns="36000" tIns="36000" rIns="36000" bIns="36000" anchor="ctr"/>
          <a:lstStyle/>
          <a:p>
            <a:pPr algn="ctr"/>
            <a:r>
              <a:rPr lang="en-US" sz="1400" b="1" dirty="0">
                <a:solidFill>
                  <a:srgbClr val="EF5350"/>
                </a:solidFill>
              </a:rPr>
              <a:t>Human
Employee</a:t>
            </a:r>
          </a:p>
        </p:txBody>
      </p:sp>
      <p:sp>
        <p:nvSpPr>
          <p:cNvPr id="90" name="Res"/>
          <p:cNvSpPr/>
          <p:nvPr/>
        </p:nvSpPr>
        <p:spPr>
          <a:xfrm>
            <a:off x="7010400" y="1752600"/>
            <a:ext cx="228600" cy="152400"/>
          </a:xfrm>
          <a:prstGeom prst="rightArrow">
            <a:avLst/>
          </a:prstGeom>
          <a:solidFill>
            <a:srgbClr val="81C784"/>
          </a:solidFill>
          <a:ln w="0">
            <a:noFill/>
          </a:ln>
        </p:spPr>
        <p:txBody>
          <a:bodyPr/>
          <a:lstStyle/>
          <a:p>
            <a:endParaRPr lang="en-US"/>
          </a:p>
        </p:txBody>
      </p:sp>
      <p:sp>
        <p:nvSpPr>
          <p:cNvPr id="91" name="Res2"/>
          <p:cNvSpPr/>
          <p:nvPr/>
        </p:nvSpPr>
        <p:spPr>
          <a:xfrm>
            <a:off x="7010400" y="2438400"/>
            <a:ext cx="228600" cy="152400"/>
          </a:xfrm>
          <a:prstGeom prst="rightArrow">
            <a:avLst/>
          </a:prstGeom>
          <a:solidFill>
            <a:srgbClr val="81C784"/>
          </a:solidFill>
          <a:ln w="0">
            <a:noFill/>
          </a:ln>
        </p:spPr>
        <p:txBody>
          <a:bodyPr/>
          <a:lstStyle/>
          <a:p>
            <a:endParaRPr lang="en-US"/>
          </a:p>
        </p:txBody>
      </p:sp>
      <p:sp>
        <p:nvSpPr>
          <p:cNvPr id="92" name="Result"/>
          <p:cNvSpPr/>
          <p:nvPr/>
        </p:nvSpPr>
        <p:spPr>
          <a:xfrm>
            <a:off x="7315200" y="1981200"/>
            <a:ext cx="1524000" cy="457200"/>
          </a:xfrm>
          <a:prstGeom prst="roundRect">
            <a:avLst/>
          </a:prstGeom>
          <a:solidFill>
            <a:srgbClr val="81C784"/>
          </a:solidFill>
          <a:ln w="0">
            <a:noFill/>
          </a:ln>
        </p:spPr>
        <p:txBody>
          <a:bodyPr wrap="square" lIns="36000" tIns="36000" rIns="36000" bIns="36000" anchor="ctr"/>
          <a:lstStyle/>
          <a:p>
            <a:pPr algn="ctr"/>
            <a:r>
              <a:rPr lang="en-US" sz="1600" b="1" dirty="0">
                <a:solidFill>
                  <a:srgbClr val="0F1923"/>
                </a:solidFill>
              </a:rPr>
              <a:t>Result</a:t>
            </a:r>
          </a:p>
        </p:txBody>
      </p:sp>
      <p:sp>
        <p:nvSpPr>
          <p:cNvPr id="93" name="LnR1"/>
          <p:cNvSpPr/>
          <p:nvPr/>
        </p:nvSpPr>
        <p:spPr>
          <a:xfrm>
            <a:off x="6934200" y="1828800"/>
            <a:ext cx="152400" cy="19050"/>
          </a:xfrm>
          <a:prstGeom prst="rect">
            <a:avLst/>
          </a:prstGeom>
          <a:solidFill>
            <a:srgbClr val="81C784"/>
          </a:solidFill>
          <a:ln w="0">
            <a:noFill/>
          </a:ln>
        </p:spPr>
        <p:txBody>
          <a:bodyPr/>
          <a:lstStyle/>
          <a:p>
            <a:endParaRPr lang="en-US"/>
          </a:p>
        </p:txBody>
      </p:sp>
      <p:sp>
        <p:nvSpPr>
          <p:cNvPr id="94" name="LnR2"/>
          <p:cNvSpPr/>
          <p:nvPr/>
        </p:nvSpPr>
        <p:spPr>
          <a:xfrm>
            <a:off x="6934200" y="2514600"/>
            <a:ext cx="152400" cy="19050"/>
          </a:xfrm>
          <a:prstGeom prst="rect">
            <a:avLst/>
          </a:prstGeom>
          <a:solidFill>
            <a:srgbClr val="81C784"/>
          </a:solidFill>
          <a:ln w="0">
            <a:noFill/>
          </a:ln>
        </p:spPr>
        <p:txBody>
          <a:bodyPr/>
          <a:lstStyle/>
          <a:p>
            <a:endParaRPr lang="en-US"/>
          </a:p>
        </p:txBody>
      </p:sp>
      <p:sp>
        <p:nvSpPr>
          <p:cNvPr id="100" name="Benefits"/>
          <p:cNvSpPr/>
          <p:nvPr/>
        </p:nvSpPr>
        <p:spPr>
          <a:xfrm>
            <a:off x="609600" y="4038600"/>
            <a:ext cx="5334000" cy="685800"/>
          </a:xfrm>
          <a:prstGeom prst="roundRect">
            <a:avLst/>
          </a:prstGeom>
          <a:solidFill>
            <a:srgbClr val="1A2736"/>
          </a:solidFill>
          <a:ln w="0">
            <a:noFill/>
          </a:ln>
        </p:spPr>
        <p:txBody>
          <a:bodyPr wrap="square" lIns="91440" tIns="45720" rIns="91440" bIns="45720"/>
          <a:lstStyle/>
          <a:p>
            <a:pPr>
              <a:buNone/>
            </a:pPr>
            <a:r>
              <a:rPr lang="en-US" sz="1600" b="1" dirty="0">
                <a:solidFill>
                  <a:srgbClr val="81C784"/>
                </a:solidFill>
              </a:rPr>
              <a:t>Benefits</a:t>
            </a:r>
          </a:p>
          <a:p>
            <a:pPr>
              <a:buFont typeface="Arial"/>
              <a:buChar char="•"/>
            </a:pPr>
            <a:r>
              <a:rPr lang="en-US" sz="1400" dirty="0">
                <a:solidFill>
                  <a:srgbClr val="B0BEC5"/>
                </a:solidFill>
              </a:rPr>
              <a:t>Dynamic, context-aware routing</a:t>
            </a:r>
          </a:p>
          <a:p>
            <a:pPr>
              <a:buFont typeface="Arial"/>
              <a:buChar char="•"/>
            </a:pPr>
            <a:r>
              <a:rPr lang="en-US" sz="1400" dirty="0">
                <a:solidFill>
                  <a:srgbClr val="B0BEC5"/>
                </a:solidFill>
              </a:rPr>
              <a:t>Human-in-the-loop escalation support</a:t>
            </a:r>
          </a:p>
        </p:txBody>
      </p:sp>
      <p:sp>
        <p:nvSpPr>
          <p:cNvPr id="101" name="Trade"/>
          <p:cNvSpPr/>
          <p:nvPr/>
        </p:nvSpPr>
        <p:spPr>
          <a:xfrm>
            <a:off x="6172200" y="4038600"/>
            <a:ext cx="5334000" cy="685800"/>
          </a:xfrm>
          <a:prstGeom prst="roundRect">
            <a:avLst/>
          </a:prstGeom>
          <a:solidFill>
            <a:srgbClr val="1A2736"/>
          </a:solidFill>
          <a:ln w="0">
            <a:noFill/>
          </a:ln>
        </p:spPr>
        <p:txBody>
          <a:bodyPr wrap="square" lIns="91440" tIns="45720" rIns="91440" bIns="45720"/>
          <a:lstStyle/>
          <a:p>
            <a:pPr>
              <a:buNone/>
            </a:pPr>
            <a:r>
              <a:rPr lang="en-US" sz="1600" b="1" dirty="0">
                <a:solidFill>
                  <a:srgbClr val="EF5350"/>
                </a:solidFill>
              </a:rPr>
              <a:t>Trade-offs</a:t>
            </a:r>
          </a:p>
          <a:p>
            <a:pPr>
              <a:buFont typeface="Arial"/>
              <a:buChar char="•"/>
            </a:pPr>
            <a:r>
              <a:rPr lang="en-US" sz="1400" dirty="0">
                <a:solidFill>
                  <a:srgbClr val="B0BEC5"/>
                </a:solidFill>
              </a:rPr>
              <a:t>Risk of infinite handoff loops</a:t>
            </a:r>
          </a:p>
          <a:p>
            <a:pPr>
              <a:buFont typeface="Arial"/>
              <a:buChar char="•"/>
            </a:pPr>
            <a:r>
              <a:rPr lang="en-US" sz="1400" dirty="0">
                <a:solidFill>
                  <a:srgbClr val="B0BEC5"/>
                </a:solidFill>
              </a:rPr>
              <a:t>Unpredictable routing paths; one agent active at a time</a:t>
            </a:r>
          </a:p>
        </p:txBody>
      </p:sp>
      <p:sp>
        <p:nvSpPr>
          <p:cNvPr id="102" name="Ex"/>
          <p:cNvSpPr/>
          <p:nvPr/>
        </p:nvSpPr>
        <p:spPr>
          <a:xfrm>
            <a:off x="609600" y="4876800"/>
            <a:ext cx="10896600" cy="381000"/>
          </a:xfrm>
          <a:prstGeom prst="rect">
            <a:avLst/>
          </a:prstGeom>
          <a:noFill/>
          <a:ln w="0">
            <a:noFill/>
          </a:ln>
        </p:spPr>
        <p:txBody>
          <a:bodyPr wrap="square" lIns="91440" tIns="45720" rIns="91440" bIns="45720"/>
          <a:lstStyle/>
          <a:p>
            <a:pPr>
              <a:buNone/>
            </a:pPr>
            <a:r>
              <a:rPr lang="en-US" sz="1400" dirty="0">
                <a:solidFill>
                  <a:srgbClr val="FFB74D"/>
                </a:solidFill>
              </a:rPr>
              <a:t>Example:  </a:t>
            </a:r>
            <a:r>
              <a:rPr lang="en-US" sz="1400" dirty="0">
                <a:solidFill>
                  <a:srgbClr val="78909C"/>
                </a:solidFill>
              </a:rPr>
              <a:t>Telecom support — Triage → Technical → Financial → Account Access → Human Employee</a:t>
            </a:r>
          </a:p>
        </p:txBody>
      </p:sp>
    </p:spTree>
    <p:extLst>
      <p:ext uri="{BB962C8B-B14F-4D97-AF65-F5344CB8AC3E}">
        <p14:creationId xmlns:p14="http://schemas.microsoft.com/office/powerpoint/2010/main" val="2474776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B76B6-1ADD-821D-D91D-490E4772522A}"/>
              </a:ext>
            </a:extLst>
          </p:cNvPr>
          <p:cNvSpPr>
            <a:spLocks noGrp="1"/>
          </p:cNvSpPr>
          <p:nvPr>
            <p:ph type="title"/>
          </p:nvPr>
        </p:nvSpPr>
        <p:spPr>
          <a:xfrm>
            <a:off x="457200" y="152400"/>
            <a:ext cx="10515600" cy="457200"/>
          </a:xfrm>
        </p:spPr>
        <p:txBody>
          <a:bodyPr/>
          <a:lstStyle/>
          <a:p>
            <a:pPr>
              <a:buNone/>
            </a:pPr>
            <a:r>
              <a:rPr lang="en-US" sz="2400" b="1" dirty="0"/>
              <a:t>Group Chat Orchestration</a:t>
            </a:r>
          </a:p>
        </p:txBody>
      </p:sp>
      <p:sp>
        <p:nvSpPr>
          <p:cNvPr id="50" name="Sub"/>
          <p:cNvSpPr/>
          <p:nvPr/>
        </p:nvSpPr>
        <p:spPr>
          <a:xfrm>
            <a:off x="457200" y="609600"/>
            <a:ext cx="10515600" cy="304800"/>
          </a:xfrm>
          <a:prstGeom prst="rect">
            <a:avLst/>
          </a:prstGeom>
          <a:noFill/>
          <a:ln w="0">
            <a:noFill/>
          </a:ln>
        </p:spPr>
        <p:txBody>
          <a:bodyPr wrap="square" lIns="36000" anchor="ctr"/>
          <a:lstStyle/>
          <a:p>
            <a:pPr algn="l"/>
            <a:r>
              <a:rPr lang="en-US" sz="1400" dirty="0">
                <a:solidFill>
                  <a:srgbClr val="78909C"/>
                </a:solidFill>
              </a:rPr>
              <a:t>Roundtable  |  Collaborative  |  Multi-Agent Debate  |  Council</a:t>
            </a:r>
          </a:p>
        </p:txBody>
      </p:sp>
      <p:sp>
        <p:nvSpPr>
          <p:cNvPr id="60" name="Thread"/>
          <p:cNvSpPr/>
          <p:nvPr/>
        </p:nvSpPr>
        <p:spPr>
          <a:xfrm>
            <a:off x="3969619" y="1688031"/>
            <a:ext cx="4876800" cy="2286000"/>
          </a:xfrm>
          <a:prstGeom prst="roundRect">
            <a:avLst/>
          </a:prstGeom>
          <a:solidFill>
            <a:srgbClr val="1A2736"/>
          </a:solidFill>
          <a:ln w="12700">
            <a:solidFill>
              <a:srgbClr val="4FC3F7"/>
            </a:solidFill>
          </a:ln>
        </p:spPr>
        <p:txBody>
          <a:bodyPr/>
          <a:lstStyle/>
          <a:p>
            <a:endParaRPr lang="en-US"/>
          </a:p>
        </p:txBody>
      </p:sp>
      <p:sp>
        <p:nvSpPr>
          <p:cNvPr id="61" name="ThreadLbl"/>
          <p:cNvSpPr/>
          <p:nvPr/>
        </p:nvSpPr>
        <p:spPr>
          <a:xfrm>
            <a:off x="4122019" y="1764231"/>
            <a:ext cx="2133600" cy="304800"/>
          </a:xfrm>
          <a:prstGeom prst="rect">
            <a:avLst/>
          </a:prstGeom>
          <a:noFill/>
          <a:ln w="0">
            <a:noFill/>
          </a:ln>
        </p:spPr>
        <p:txBody>
          <a:bodyPr wrap="square" anchor="ctr"/>
          <a:lstStyle/>
          <a:p>
            <a:pPr algn="l"/>
            <a:r>
              <a:rPr lang="en-US" sz="1400" b="1" dirty="0">
                <a:solidFill>
                  <a:srgbClr val="4FC3F7"/>
                </a:solidFill>
              </a:rPr>
              <a:t>Accumulating Chat Thread</a:t>
            </a:r>
          </a:p>
        </p:txBody>
      </p:sp>
      <p:sp>
        <p:nvSpPr>
          <p:cNvPr id="65" name="Msg0"/>
          <p:cNvSpPr/>
          <p:nvPr/>
        </p:nvSpPr>
        <p:spPr>
          <a:xfrm>
            <a:off x="4198219" y="2069031"/>
            <a:ext cx="4419600" cy="228600"/>
          </a:xfrm>
          <a:prstGeom prst="roundRect">
            <a:avLst/>
          </a:prstGeom>
          <a:noFill/>
          <a:ln w="6350">
            <a:solidFill>
              <a:srgbClr val="81C784"/>
            </a:solidFill>
          </a:ln>
        </p:spPr>
        <p:txBody>
          <a:bodyPr wrap="square" lIns="72000" anchor="ctr"/>
          <a:lstStyle/>
          <a:p>
            <a:pPr algn="l"/>
            <a:r>
              <a:rPr lang="en-US" sz="1200" dirty="0">
                <a:solidFill>
                  <a:srgbClr val="81C784"/>
                </a:solidFill>
              </a:rPr>
              <a:t>Environmental: Park impacts habitat...</a:t>
            </a:r>
          </a:p>
        </p:txBody>
      </p:sp>
      <p:sp>
        <p:nvSpPr>
          <p:cNvPr id="66" name="Msg1"/>
          <p:cNvSpPr/>
          <p:nvPr/>
        </p:nvSpPr>
        <p:spPr>
          <a:xfrm>
            <a:off x="4198219" y="2373831"/>
            <a:ext cx="4419600" cy="228600"/>
          </a:xfrm>
          <a:prstGeom prst="roundRect">
            <a:avLst/>
          </a:prstGeom>
          <a:noFill/>
          <a:ln w="6350">
            <a:solidFill>
              <a:srgbClr val="FFB74D"/>
            </a:solidFill>
          </a:ln>
        </p:spPr>
        <p:txBody>
          <a:bodyPr wrap="square" lIns="72000" anchor="ctr"/>
          <a:lstStyle/>
          <a:p>
            <a:pPr algn="l"/>
            <a:r>
              <a:rPr lang="en-US" sz="1200" dirty="0">
                <a:solidFill>
                  <a:srgbClr val="FFB74D"/>
                </a:solidFill>
              </a:rPr>
              <a:t>Community: Residents want green space...</a:t>
            </a:r>
          </a:p>
        </p:txBody>
      </p:sp>
      <p:sp>
        <p:nvSpPr>
          <p:cNvPr id="67" name="Msg2"/>
          <p:cNvSpPr/>
          <p:nvPr/>
        </p:nvSpPr>
        <p:spPr>
          <a:xfrm>
            <a:off x="4198219" y="2678631"/>
            <a:ext cx="4419600" cy="228600"/>
          </a:xfrm>
          <a:prstGeom prst="roundRect">
            <a:avLst/>
          </a:prstGeom>
          <a:noFill/>
          <a:ln w="6350">
            <a:solidFill>
              <a:srgbClr val="CE93D8"/>
            </a:solidFill>
          </a:ln>
        </p:spPr>
        <p:txBody>
          <a:bodyPr wrap="square" lIns="72000" anchor="ctr"/>
          <a:lstStyle/>
          <a:p>
            <a:pPr algn="l"/>
            <a:r>
              <a:rPr lang="en-US" sz="1200" dirty="0">
                <a:solidFill>
                  <a:srgbClr val="CE93D8"/>
                </a:solidFill>
              </a:rPr>
              <a:t>Budget: Estimated cost is $2.4M...</a:t>
            </a:r>
          </a:p>
        </p:txBody>
      </p:sp>
      <p:sp>
        <p:nvSpPr>
          <p:cNvPr id="68" name="Msg3"/>
          <p:cNvSpPr/>
          <p:nvPr/>
        </p:nvSpPr>
        <p:spPr>
          <a:xfrm>
            <a:off x="4198219" y="2983431"/>
            <a:ext cx="4419600" cy="228600"/>
          </a:xfrm>
          <a:prstGeom prst="roundRect">
            <a:avLst/>
          </a:prstGeom>
          <a:noFill/>
          <a:ln w="6350">
            <a:solidFill>
              <a:srgbClr val="81C784"/>
            </a:solidFill>
          </a:ln>
        </p:spPr>
        <p:txBody>
          <a:bodyPr wrap="square" lIns="72000" anchor="ctr"/>
          <a:lstStyle/>
          <a:p>
            <a:pPr algn="l"/>
            <a:r>
              <a:rPr lang="en-US" sz="1200" dirty="0">
                <a:solidFill>
                  <a:srgbClr val="81C784"/>
                </a:solidFill>
              </a:rPr>
              <a:t>Environmental: We can mitigate with...</a:t>
            </a:r>
          </a:p>
        </p:txBody>
      </p:sp>
      <p:sp>
        <p:nvSpPr>
          <p:cNvPr id="72" name="ArRes"/>
          <p:cNvSpPr/>
          <p:nvPr/>
        </p:nvSpPr>
        <p:spPr>
          <a:xfrm>
            <a:off x="8922619" y="2678631"/>
            <a:ext cx="228600" cy="152400"/>
          </a:xfrm>
          <a:prstGeom prst="rightArrow">
            <a:avLst/>
          </a:prstGeom>
          <a:solidFill>
            <a:srgbClr val="81C784"/>
          </a:solidFill>
          <a:ln w="0">
            <a:noFill/>
          </a:ln>
        </p:spPr>
        <p:txBody>
          <a:bodyPr/>
          <a:lstStyle/>
          <a:p>
            <a:endParaRPr lang="en-US"/>
          </a:p>
        </p:txBody>
      </p:sp>
      <p:sp>
        <p:nvSpPr>
          <p:cNvPr id="73" name="Result"/>
          <p:cNvSpPr/>
          <p:nvPr/>
        </p:nvSpPr>
        <p:spPr>
          <a:xfrm>
            <a:off x="9227419" y="2450031"/>
            <a:ext cx="1524000" cy="609600"/>
          </a:xfrm>
          <a:prstGeom prst="roundRect">
            <a:avLst/>
          </a:prstGeom>
          <a:solidFill>
            <a:srgbClr val="81C784"/>
          </a:solidFill>
          <a:ln w="0">
            <a:noFill/>
          </a:ln>
        </p:spPr>
        <p:txBody>
          <a:bodyPr wrap="square" lIns="36000" tIns="36000" rIns="36000" bIns="36000" anchor="ctr"/>
          <a:lstStyle/>
          <a:p>
            <a:pPr algn="ctr"/>
            <a:r>
              <a:rPr lang="en-US" sz="1600" b="1" dirty="0">
                <a:solidFill>
                  <a:srgbClr val="0F1923"/>
                </a:solidFill>
              </a:rPr>
              <a:t>Consensus
Result</a:t>
            </a:r>
          </a:p>
        </p:txBody>
      </p:sp>
      <p:sp>
        <p:nvSpPr>
          <p:cNvPr id="74" name="Mgr"/>
          <p:cNvSpPr/>
          <p:nvPr/>
        </p:nvSpPr>
        <p:spPr>
          <a:xfrm>
            <a:off x="5417419" y="1268931"/>
            <a:ext cx="2133600" cy="304800"/>
          </a:xfrm>
          <a:prstGeom prst="roundRect">
            <a:avLst/>
          </a:prstGeom>
          <a:solidFill>
            <a:srgbClr val="1A2736"/>
          </a:solidFill>
          <a:ln w="19050">
            <a:solidFill>
              <a:srgbClr val="FFB74D"/>
            </a:solidFill>
          </a:ln>
        </p:spPr>
        <p:txBody>
          <a:bodyPr wrap="square" anchor="ctr"/>
          <a:lstStyle/>
          <a:p>
            <a:pPr algn="ctr"/>
            <a:r>
              <a:rPr lang="en-US" sz="1400" b="1" dirty="0">
                <a:solidFill>
                  <a:srgbClr val="FFB74D"/>
                </a:solidFill>
              </a:rPr>
              <a:t>Chat Manager (LLM)</a:t>
            </a:r>
          </a:p>
        </p:txBody>
      </p:sp>
      <p:sp>
        <p:nvSpPr>
          <p:cNvPr id="80" name="Ag0"/>
          <p:cNvSpPr/>
          <p:nvPr/>
        </p:nvSpPr>
        <p:spPr>
          <a:xfrm>
            <a:off x="1150219" y="1764231"/>
            <a:ext cx="1524000" cy="381000"/>
          </a:xfrm>
          <a:prstGeom prst="roundRect">
            <a:avLst/>
          </a:prstGeom>
          <a:solidFill>
            <a:srgbClr val="1A2736"/>
          </a:solidFill>
          <a:ln w="19050">
            <a:solidFill>
              <a:srgbClr val="81C784"/>
            </a:solidFill>
          </a:ln>
        </p:spPr>
        <p:txBody>
          <a:bodyPr wrap="square" lIns="36000" tIns="36000" rIns="36000" bIns="36000" anchor="ctr"/>
          <a:lstStyle/>
          <a:p>
            <a:pPr algn="ctr"/>
            <a:r>
              <a:rPr lang="en-US" sz="1400" b="1" dirty="0">
                <a:solidFill>
                  <a:srgbClr val="E8ECF1"/>
                </a:solidFill>
              </a:rPr>
              <a:t>Environmental
Agent</a:t>
            </a:r>
          </a:p>
        </p:txBody>
      </p:sp>
      <p:sp>
        <p:nvSpPr>
          <p:cNvPr id="86" name="Ln0"/>
          <p:cNvSpPr/>
          <p:nvPr/>
        </p:nvSpPr>
        <p:spPr>
          <a:xfrm>
            <a:off x="2750419" y="1916631"/>
            <a:ext cx="1143000" cy="19050"/>
          </a:xfrm>
          <a:prstGeom prst="rect">
            <a:avLst/>
          </a:prstGeom>
          <a:solidFill>
            <a:srgbClr val="81C784"/>
          </a:solidFill>
          <a:ln w="0">
            <a:noFill/>
          </a:ln>
        </p:spPr>
        <p:txBody>
          <a:bodyPr/>
          <a:lstStyle/>
          <a:p>
            <a:endParaRPr lang="en-US"/>
          </a:p>
        </p:txBody>
      </p:sp>
      <p:sp>
        <p:nvSpPr>
          <p:cNvPr id="81" name="Ag1"/>
          <p:cNvSpPr/>
          <p:nvPr/>
        </p:nvSpPr>
        <p:spPr>
          <a:xfrm>
            <a:off x="1150219" y="2297631"/>
            <a:ext cx="1524000" cy="381000"/>
          </a:xfrm>
          <a:prstGeom prst="roundRect">
            <a:avLst/>
          </a:prstGeom>
          <a:solidFill>
            <a:srgbClr val="1A2736"/>
          </a:solidFill>
          <a:ln w="19050">
            <a:solidFill>
              <a:srgbClr val="FFB74D"/>
            </a:solidFill>
          </a:ln>
        </p:spPr>
        <p:txBody>
          <a:bodyPr wrap="square" lIns="36000" tIns="36000" rIns="36000" bIns="36000" anchor="ctr"/>
          <a:lstStyle/>
          <a:p>
            <a:pPr algn="ctr"/>
            <a:r>
              <a:rPr lang="en-US" sz="1400" b="1" dirty="0">
                <a:solidFill>
                  <a:srgbClr val="E8ECF1"/>
                </a:solidFill>
              </a:rPr>
              <a:t>Community
Agent</a:t>
            </a:r>
          </a:p>
        </p:txBody>
      </p:sp>
      <p:sp>
        <p:nvSpPr>
          <p:cNvPr id="87" name="Ln1"/>
          <p:cNvSpPr/>
          <p:nvPr/>
        </p:nvSpPr>
        <p:spPr>
          <a:xfrm>
            <a:off x="2750419" y="2450031"/>
            <a:ext cx="1143000" cy="19050"/>
          </a:xfrm>
          <a:prstGeom prst="rect">
            <a:avLst/>
          </a:prstGeom>
          <a:solidFill>
            <a:srgbClr val="FFB74D"/>
          </a:solidFill>
          <a:ln w="0">
            <a:noFill/>
          </a:ln>
        </p:spPr>
        <p:txBody>
          <a:bodyPr/>
          <a:lstStyle/>
          <a:p>
            <a:endParaRPr lang="en-US"/>
          </a:p>
        </p:txBody>
      </p:sp>
      <p:sp>
        <p:nvSpPr>
          <p:cNvPr id="82" name="Ag2"/>
          <p:cNvSpPr/>
          <p:nvPr/>
        </p:nvSpPr>
        <p:spPr>
          <a:xfrm>
            <a:off x="1150219" y="2831031"/>
            <a:ext cx="1524000" cy="381000"/>
          </a:xfrm>
          <a:prstGeom prst="roundRect">
            <a:avLst/>
          </a:prstGeom>
          <a:solidFill>
            <a:srgbClr val="1A2736"/>
          </a:solidFill>
          <a:ln w="19050">
            <a:solidFill>
              <a:srgbClr val="CE93D8"/>
            </a:solidFill>
          </a:ln>
        </p:spPr>
        <p:txBody>
          <a:bodyPr wrap="square" lIns="36000" tIns="36000" rIns="36000" bIns="36000" anchor="ctr"/>
          <a:lstStyle/>
          <a:p>
            <a:pPr algn="ctr"/>
            <a:r>
              <a:rPr lang="en-US" sz="1400" b="1" dirty="0">
                <a:solidFill>
                  <a:srgbClr val="E8ECF1"/>
                </a:solidFill>
              </a:rPr>
              <a:t>Budget
Agent</a:t>
            </a:r>
          </a:p>
        </p:txBody>
      </p:sp>
      <p:sp>
        <p:nvSpPr>
          <p:cNvPr id="88" name="Ln2"/>
          <p:cNvSpPr/>
          <p:nvPr/>
        </p:nvSpPr>
        <p:spPr>
          <a:xfrm>
            <a:off x="2750419" y="2983431"/>
            <a:ext cx="1143000" cy="19050"/>
          </a:xfrm>
          <a:prstGeom prst="rect">
            <a:avLst/>
          </a:prstGeom>
          <a:solidFill>
            <a:srgbClr val="CE93D8"/>
          </a:solidFill>
          <a:ln w="0">
            <a:noFill/>
          </a:ln>
        </p:spPr>
        <p:txBody>
          <a:bodyPr/>
          <a:lstStyle/>
          <a:p>
            <a:endParaRPr lang="en-US"/>
          </a:p>
        </p:txBody>
      </p:sp>
      <p:sp>
        <p:nvSpPr>
          <p:cNvPr id="95" name="Input"/>
          <p:cNvSpPr/>
          <p:nvPr/>
        </p:nvSpPr>
        <p:spPr>
          <a:xfrm>
            <a:off x="1150219" y="3288231"/>
            <a:ext cx="1524000" cy="304800"/>
          </a:xfrm>
          <a:prstGeom prst="roundRect">
            <a:avLst/>
          </a:prstGeom>
          <a:solidFill>
            <a:srgbClr val="4FC3F7"/>
          </a:solidFill>
          <a:ln w="0">
            <a:noFill/>
          </a:ln>
        </p:spPr>
        <p:txBody>
          <a:bodyPr wrap="square" lIns="36000" tIns="36000" rIns="36000" bIns="36000" anchor="ctr"/>
          <a:lstStyle/>
          <a:p>
            <a:pPr algn="ctr"/>
            <a:r>
              <a:rPr lang="en-US" sz="1600" b="1" dirty="0">
                <a:solidFill>
                  <a:srgbClr val="0F1923"/>
                </a:solidFill>
              </a:rPr>
              <a:t>Input</a:t>
            </a:r>
          </a:p>
        </p:txBody>
      </p:sp>
      <p:sp>
        <p:nvSpPr>
          <p:cNvPr id="96" name="ArIn"/>
          <p:cNvSpPr/>
          <p:nvPr/>
        </p:nvSpPr>
        <p:spPr>
          <a:xfrm>
            <a:off x="2750419" y="3364431"/>
            <a:ext cx="1143000" cy="19050"/>
          </a:xfrm>
          <a:prstGeom prst="rect">
            <a:avLst/>
          </a:prstGeom>
          <a:solidFill>
            <a:srgbClr val="4FC3F7"/>
          </a:solidFill>
          <a:ln w="0">
            <a:noFill/>
          </a:ln>
        </p:spPr>
        <p:txBody>
          <a:bodyPr/>
          <a:lstStyle/>
          <a:p>
            <a:endParaRPr lang="en-US"/>
          </a:p>
        </p:txBody>
      </p:sp>
      <p:sp>
        <p:nvSpPr>
          <p:cNvPr id="100" name="Benefits"/>
          <p:cNvSpPr/>
          <p:nvPr/>
        </p:nvSpPr>
        <p:spPr>
          <a:xfrm>
            <a:off x="457200" y="4267200"/>
            <a:ext cx="5334000" cy="685800"/>
          </a:xfrm>
          <a:prstGeom prst="roundRect">
            <a:avLst/>
          </a:prstGeom>
          <a:solidFill>
            <a:srgbClr val="1A2736"/>
          </a:solidFill>
          <a:ln w="0">
            <a:noFill/>
          </a:ln>
        </p:spPr>
        <p:txBody>
          <a:bodyPr wrap="square" lIns="91440" tIns="45720" rIns="91440" bIns="45720"/>
          <a:lstStyle/>
          <a:p>
            <a:pPr>
              <a:buNone/>
            </a:pPr>
            <a:r>
              <a:rPr lang="en-US" sz="1600" b="1" dirty="0">
                <a:solidFill>
                  <a:srgbClr val="81C784"/>
                </a:solidFill>
              </a:rPr>
              <a:t>Benefits</a:t>
            </a:r>
          </a:p>
          <a:p>
            <a:pPr>
              <a:buFont typeface="Arial"/>
              <a:buChar char="•"/>
            </a:pPr>
            <a:r>
              <a:rPr lang="en-US" sz="1400" dirty="0">
                <a:solidFill>
                  <a:srgbClr val="B0BEC5"/>
                </a:solidFill>
              </a:rPr>
              <a:t>Full transparency and auditability</a:t>
            </a:r>
          </a:p>
          <a:p>
            <a:pPr>
              <a:buFont typeface="Arial"/>
              <a:buChar char="•"/>
            </a:pPr>
            <a:r>
              <a:rPr lang="en-US" sz="1400" dirty="0">
                <a:solidFill>
                  <a:srgbClr val="B0BEC5"/>
                </a:solidFill>
              </a:rPr>
              <a:t>Natural HITL support; brainstorm or debate</a:t>
            </a:r>
          </a:p>
        </p:txBody>
      </p:sp>
      <p:sp>
        <p:nvSpPr>
          <p:cNvPr id="101" name="Trade"/>
          <p:cNvSpPr/>
          <p:nvPr/>
        </p:nvSpPr>
        <p:spPr>
          <a:xfrm>
            <a:off x="6019800" y="4267200"/>
            <a:ext cx="5334000" cy="685800"/>
          </a:xfrm>
          <a:prstGeom prst="roundRect">
            <a:avLst/>
          </a:prstGeom>
          <a:solidFill>
            <a:srgbClr val="1A2736"/>
          </a:solidFill>
          <a:ln w="0">
            <a:noFill/>
          </a:ln>
        </p:spPr>
        <p:txBody>
          <a:bodyPr wrap="square" lIns="91440" tIns="45720" rIns="91440" bIns="45720"/>
          <a:lstStyle/>
          <a:p>
            <a:pPr>
              <a:buNone/>
            </a:pPr>
            <a:r>
              <a:rPr lang="en-US" sz="1600" b="1" dirty="0">
                <a:solidFill>
                  <a:srgbClr val="EF5350"/>
                </a:solidFill>
              </a:rPr>
              <a:t>Trade-offs</a:t>
            </a:r>
          </a:p>
          <a:p>
            <a:pPr>
              <a:buFont typeface="Arial"/>
              <a:buChar char="•"/>
            </a:pPr>
            <a:r>
              <a:rPr lang="en-US" sz="1400" dirty="0">
                <a:solidFill>
                  <a:srgbClr val="B0BEC5"/>
                </a:solidFill>
              </a:rPr>
              <a:t>Conversation loops; hard to control with 3+ agents</a:t>
            </a:r>
          </a:p>
          <a:p>
            <a:pPr>
              <a:buFont typeface="Arial"/>
              <a:buChar char="•"/>
            </a:pPr>
            <a:r>
              <a:rPr lang="en-US" sz="1400" dirty="0">
                <a:solidFill>
                  <a:srgbClr val="B0BEC5"/>
                </a:solidFill>
              </a:rPr>
              <a:t>Chat overhead increases latency</a:t>
            </a:r>
          </a:p>
        </p:txBody>
      </p:sp>
      <p:sp>
        <p:nvSpPr>
          <p:cNvPr id="102" name="Ex"/>
          <p:cNvSpPr/>
          <p:nvPr/>
        </p:nvSpPr>
        <p:spPr>
          <a:xfrm>
            <a:off x="457200" y="5105400"/>
            <a:ext cx="10896600" cy="381000"/>
          </a:xfrm>
          <a:prstGeom prst="rect">
            <a:avLst/>
          </a:prstGeom>
          <a:noFill/>
          <a:ln w="0">
            <a:noFill/>
          </a:ln>
        </p:spPr>
        <p:txBody>
          <a:bodyPr wrap="square" lIns="91440" tIns="45720"/>
          <a:lstStyle/>
          <a:p>
            <a:pPr>
              <a:buNone/>
            </a:pPr>
            <a:r>
              <a:rPr lang="en-US" sz="1400" dirty="0">
                <a:solidFill>
                  <a:srgbClr val="FFB74D"/>
                </a:solidFill>
              </a:rPr>
              <a:t>Example:  </a:t>
            </a:r>
            <a:r>
              <a:rPr lang="en-US" sz="1400" dirty="0">
                <a:solidFill>
                  <a:srgbClr val="78909C"/>
                </a:solidFill>
              </a:rPr>
              <a:t>City parks proposal — Environmental + Community + Budget agents debate a park development proposal</a:t>
            </a:r>
          </a:p>
        </p:txBody>
      </p:sp>
    </p:spTree>
    <p:extLst>
      <p:ext uri="{BB962C8B-B14F-4D97-AF65-F5344CB8AC3E}">
        <p14:creationId xmlns:p14="http://schemas.microsoft.com/office/powerpoint/2010/main" val="3720583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DA012-471C-D2CB-DDEF-BF96AFA982BB}"/>
              </a:ext>
            </a:extLst>
          </p:cNvPr>
          <p:cNvSpPr>
            <a:spLocks noGrp="1"/>
          </p:cNvSpPr>
          <p:nvPr>
            <p:ph type="title"/>
          </p:nvPr>
        </p:nvSpPr>
        <p:spPr>
          <a:xfrm>
            <a:off x="457200" y="152400"/>
            <a:ext cx="10515600" cy="457200"/>
          </a:xfrm>
        </p:spPr>
        <p:txBody>
          <a:bodyPr/>
          <a:lstStyle/>
          <a:p>
            <a:pPr>
              <a:buNone/>
            </a:pPr>
            <a:r>
              <a:rPr lang="en-US" sz="2400" b="1" dirty="0"/>
              <a:t>Magentic Orchestration</a:t>
            </a:r>
          </a:p>
        </p:txBody>
      </p:sp>
      <p:sp>
        <p:nvSpPr>
          <p:cNvPr id="50" name="Sub"/>
          <p:cNvSpPr/>
          <p:nvPr/>
        </p:nvSpPr>
        <p:spPr>
          <a:xfrm>
            <a:off x="457200" y="609600"/>
            <a:ext cx="10515600" cy="304800"/>
          </a:xfrm>
          <a:prstGeom prst="rect">
            <a:avLst/>
          </a:prstGeom>
          <a:noFill/>
          <a:ln w="0">
            <a:noFill/>
          </a:ln>
        </p:spPr>
        <p:txBody>
          <a:bodyPr wrap="square" lIns="36000" anchor="ctr"/>
          <a:lstStyle/>
          <a:p>
            <a:pPr algn="l"/>
            <a:r>
              <a:rPr lang="en-US" sz="1400" dirty="0">
                <a:solidFill>
                  <a:srgbClr val="78909C"/>
                </a:solidFill>
              </a:rPr>
              <a:t>Dynamic Orchestration  |  Task-Ledger-Based  |  Adaptive Planning</a:t>
            </a:r>
          </a:p>
        </p:txBody>
      </p:sp>
      <p:sp>
        <p:nvSpPr>
          <p:cNvPr id="60" name="Manager"/>
          <p:cNvSpPr/>
          <p:nvPr/>
        </p:nvSpPr>
        <p:spPr>
          <a:xfrm>
            <a:off x="3962400" y="1471061"/>
            <a:ext cx="2286000" cy="609600"/>
          </a:xfrm>
          <a:prstGeom prst="roundRect">
            <a:avLst/>
          </a:prstGeom>
          <a:solidFill>
            <a:srgbClr val="1A2736"/>
          </a:solidFill>
          <a:ln w="25400">
            <a:solidFill>
              <a:srgbClr val="FFB74D"/>
            </a:solidFill>
          </a:ln>
        </p:spPr>
        <p:txBody>
          <a:bodyPr wrap="square" lIns="36000" tIns="36000" rIns="36000" bIns="36000" anchor="ctr"/>
          <a:lstStyle/>
          <a:p>
            <a:pPr algn="ctr"/>
            <a:r>
              <a:rPr lang="en-US" sz="1800" b="1" dirty="0">
                <a:solidFill>
                  <a:srgbClr val="FFB74D"/>
                </a:solidFill>
              </a:rPr>
              <a:t>Manager Agent</a:t>
            </a:r>
          </a:p>
        </p:txBody>
      </p:sp>
      <p:sp>
        <p:nvSpPr>
          <p:cNvPr id="61" name="Ledger"/>
          <p:cNvSpPr/>
          <p:nvPr/>
        </p:nvSpPr>
        <p:spPr>
          <a:xfrm>
            <a:off x="6705600" y="1471061"/>
            <a:ext cx="2286000" cy="609600"/>
          </a:xfrm>
          <a:prstGeom prst="roundRect">
            <a:avLst/>
          </a:prstGeom>
          <a:solidFill>
            <a:srgbClr val="1A2736"/>
          </a:solidFill>
          <a:ln w="19050">
            <a:solidFill>
              <a:srgbClr val="4FC3F7"/>
            </a:solidFill>
          </a:ln>
        </p:spPr>
        <p:txBody>
          <a:bodyPr wrap="square" lIns="54000" anchor="ctr"/>
          <a:lstStyle/>
          <a:p>
            <a:pPr algn="ctr"/>
            <a:r>
              <a:rPr lang="en-US" sz="1400" b="1" dirty="0">
                <a:solidFill>
                  <a:srgbClr val="4FC3F7"/>
                </a:solidFill>
              </a:rPr>
              <a:t>Task &amp; Progress Ledger</a:t>
            </a:r>
          </a:p>
          <a:p>
            <a:pPr algn="ctr"/>
            <a:r>
              <a:rPr lang="en-US" sz="1200" dirty="0">
                <a:solidFill>
                  <a:srgbClr val="78909C"/>
                </a:solidFill>
              </a:rPr>
              <a:t>Dynamically built &amp; refined</a:t>
            </a:r>
          </a:p>
        </p:txBody>
      </p:sp>
      <p:sp>
        <p:nvSpPr>
          <p:cNvPr id="62" name="MgrLdg"/>
          <p:cNvSpPr/>
          <p:nvPr/>
        </p:nvSpPr>
        <p:spPr>
          <a:xfrm>
            <a:off x="6324600" y="1699661"/>
            <a:ext cx="381000" cy="152400"/>
          </a:xfrm>
          <a:prstGeom prst="rightArrow">
            <a:avLst/>
          </a:prstGeom>
          <a:solidFill>
            <a:srgbClr val="4FC3F7"/>
          </a:solidFill>
          <a:ln w="0">
            <a:noFill/>
          </a:ln>
        </p:spPr>
        <p:txBody>
          <a:bodyPr/>
          <a:lstStyle/>
          <a:p>
            <a:endParaRPr lang="en-US"/>
          </a:p>
        </p:txBody>
      </p:sp>
      <p:sp>
        <p:nvSpPr>
          <p:cNvPr id="63" name="Loop"/>
          <p:cNvSpPr/>
          <p:nvPr/>
        </p:nvSpPr>
        <p:spPr>
          <a:xfrm>
            <a:off x="4419600" y="2156861"/>
            <a:ext cx="1371600" cy="457200"/>
          </a:xfrm>
          <a:prstGeom prst="roundRect">
            <a:avLst/>
          </a:prstGeom>
          <a:noFill/>
          <a:ln w="12700">
            <a:solidFill>
              <a:srgbClr val="FFB74D"/>
            </a:solidFill>
          </a:ln>
        </p:spPr>
        <p:txBody>
          <a:bodyPr wrap="square" anchor="ctr"/>
          <a:lstStyle/>
          <a:p>
            <a:pPr algn="ctr"/>
            <a:r>
              <a:rPr lang="en-US" sz="1200" dirty="0">
                <a:solidFill>
                  <a:srgbClr val="FFB74D"/>
                </a:solidFill>
              </a:rPr>
              <a:t>↻ Evaluate Goal Loop</a:t>
            </a:r>
          </a:p>
        </p:txBody>
      </p:sp>
      <p:sp>
        <p:nvSpPr>
          <p:cNvPr id="70" name="Ag0"/>
          <p:cNvSpPr/>
          <p:nvPr/>
        </p:nvSpPr>
        <p:spPr>
          <a:xfrm>
            <a:off x="990600" y="2766461"/>
            <a:ext cx="1752600" cy="609600"/>
          </a:xfrm>
          <a:prstGeom prst="roundRect">
            <a:avLst/>
          </a:prstGeom>
          <a:solidFill>
            <a:srgbClr val="1A2736"/>
          </a:solidFill>
          <a:ln w="19050">
            <a:solidFill>
              <a:srgbClr val="4FC3F7"/>
            </a:solidFill>
          </a:ln>
        </p:spPr>
        <p:txBody>
          <a:bodyPr wrap="square" lIns="36000" tIns="36000" rIns="36000" bIns="36000" anchor="ctr"/>
          <a:lstStyle/>
          <a:p>
            <a:pPr algn="ctr"/>
            <a:r>
              <a:rPr lang="en-US" sz="1400" b="1" dirty="0">
                <a:solidFill>
                  <a:srgbClr val="4FC3F7"/>
                </a:solidFill>
              </a:rPr>
              <a:t>Diagnostics
Agent</a:t>
            </a:r>
          </a:p>
          <a:p>
            <a:pPr algn="ctr"/>
            <a:r>
              <a:rPr lang="en-US" sz="1200" dirty="0">
                <a:solidFill>
                  <a:srgbClr val="78909C"/>
                </a:solidFill>
              </a:rPr>
              <a:t>Model + Knowledge</a:t>
            </a:r>
          </a:p>
        </p:txBody>
      </p:sp>
      <p:sp>
        <p:nvSpPr>
          <p:cNvPr id="80" name="Ln0"/>
          <p:cNvSpPr/>
          <p:nvPr/>
        </p:nvSpPr>
        <p:spPr>
          <a:xfrm>
            <a:off x="1828800" y="2080661"/>
            <a:ext cx="19050" cy="685800"/>
          </a:xfrm>
          <a:prstGeom prst="rect">
            <a:avLst/>
          </a:prstGeom>
          <a:solidFill>
            <a:srgbClr val="4FC3F7"/>
          </a:solidFill>
          <a:ln w="0">
            <a:noFill/>
          </a:ln>
        </p:spPr>
        <p:txBody>
          <a:bodyPr/>
          <a:lstStyle/>
          <a:p>
            <a:endParaRPr lang="en-US"/>
          </a:p>
        </p:txBody>
      </p:sp>
      <p:sp>
        <p:nvSpPr>
          <p:cNvPr id="71" name="Ag1"/>
          <p:cNvSpPr/>
          <p:nvPr/>
        </p:nvSpPr>
        <p:spPr>
          <a:xfrm>
            <a:off x="3276600" y="2766461"/>
            <a:ext cx="1752600" cy="609600"/>
          </a:xfrm>
          <a:prstGeom prst="roundRect">
            <a:avLst/>
          </a:prstGeom>
          <a:solidFill>
            <a:srgbClr val="1A2736"/>
          </a:solidFill>
          <a:ln w="19050">
            <a:solidFill>
              <a:srgbClr val="81C784"/>
            </a:solidFill>
          </a:ln>
        </p:spPr>
        <p:txBody>
          <a:bodyPr wrap="square" lIns="36000" tIns="36000" rIns="36000" bIns="36000" anchor="ctr"/>
          <a:lstStyle/>
          <a:p>
            <a:pPr algn="ctr"/>
            <a:r>
              <a:rPr lang="en-US" sz="1400" b="1" dirty="0">
                <a:solidFill>
                  <a:srgbClr val="81C784"/>
                </a:solidFill>
              </a:rPr>
              <a:t>Infrastructure
Agent</a:t>
            </a:r>
          </a:p>
          <a:p>
            <a:pPr algn="ctr"/>
            <a:r>
              <a:rPr lang="en-US" sz="1200" dirty="0">
                <a:solidFill>
                  <a:srgbClr val="78909C"/>
                </a:solidFill>
              </a:rPr>
              <a:t>Model + Tools</a:t>
            </a:r>
          </a:p>
        </p:txBody>
      </p:sp>
      <p:sp>
        <p:nvSpPr>
          <p:cNvPr id="81" name="Ln1"/>
          <p:cNvSpPr/>
          <p:nvPr/>
        </p:nvSpPr>
        <p:spPr>
          <a:xfrm>
            <a:off x="4114800" y="2080661"/>
            <a:ext cx="19050" cy="685800"/>
          </a:xfrm>
          <a:prstGeom prst="rect">
            <a:avLst/>
          </a:prstGeom>
          <a:solidFill>
            <a:srgbClr val="81C784"/>
          </a:solidFill>
          <a:ln w="0">
            <a:noFill/>
          </a:ln>
        </p:spPr>
        <p:txBody>
          <a:bodyPr/>
          <a:lstStyle/>
          <a:p>
            <a:endParaRPr lang="en-US"/>
          </a:p>
        </p:txBody>
      </p:sp>
      <p:sp>
        <p:nvSpPr>
          <p:cNvPr id="72" name="Ag2"/>
          <p:cNvSpPr/>
          <p:nvPr/>
        </p:nvSpPr>
        <p:spPr>
          <a:xfrm>
            <a:off x="5562600" y="2766461"/>
            <a:ext cx="1752600" cy="609600"/>
          </a:xfrm>
          <a:prstGeom prst="roundRect">
            <a:avLst/>
          </a:prstGeom>
          <a:solidFill>
            <a:srgbClr val="1A2736"/>
          </a:solidFill>
          <a:ln w="19050">
            <a:solidFill>
              <a:srgbClr val="CE93D8"/>
            </a:solidFill>
          </a:ln>
        </p:spPr>
        <p:txBody>
          <a:bodyPr wrap="square" lIns="36000" tIns="36000" rIns="36000" bIns="36000" anchor="ctr"/>
          <a:lstStyle/>
          <a:p>
            <a:pPr algn="ctr"/>
            <a:r>
              <a:rPr lang="en-US" sz="1400" b="1" dirty="0">
                <a:solidFill>
                  <a:srgbClr val="CE93D8"/>
                </a:solidFill>
              </a:rPr>
              <a:t>Rollback
Agent</a:t>
            </a:r>
          </a:p>
          <a:p>
            <a:pPr algn="ctr"/>
            <a:r>
              <a:rPr lang="en-US" sz="1200" dirty="0">
                <a:solidFill>
                  <a:srgbClr val="78909C"/>
                </a:solidFill>
              </a:rPr>
              <a:t>Model + Tools</a:t>
            </a:r>
          </a:p>
        </p:txBody>
      </p:sp>
      <p:sp>
        <p:nvSpPr>
          <p:cNvPr id="82" name="Ln2"/>
          <p:cNvSpPr/>
          <p:nvPr/>
        </p:nvSpPr>
        <p:spPr>
          <a:xfrm>
            <a:off x="6400800" y="2080661"/>
            <a:ext cx="19050" cy="685800"/>
          </a:xfrm>
          <a:prstGeom prst="rect">
            <a:avLst/>
          </a:prstGeom>
          <a:solidFill>
            <a:srgbClr val="CE93D8"/>
          </a:solidFill>
          <a:ln w="0">
            <a:noFill/>
          </a:ln>
        </p:spPr>
        <p:txBody>
          <a:bodyPr/>
          <a:lstStyle/>
          <a:p>
            <a:endParaRPr lang="en-US"/>
          </a:p>
        </p:txBody>
      </p:sp>
      <p:sp>
        <p:nvSpPr>
          <p:cNvPr id="73" name="Ag3"/>
          <p:cNvSpPr/>
          <p:nvPr/>
        </p:nvSpPr>
        <p:spPr>
          <a:xfrm>
            <a:off x="7848600" y="2766461"/>
            <a:ext cx="1752600" cy="609600"/>
          </a:xfrm>
          <a:prstGeom prst="roundRect">
            <a:avLst/>
          </a:prstGeom>
          <a:solidFill>
            <a:srgbClr val="1A2736"/>
          </a:solidFill>
          <a:ln w="19050">
            <a:solidFill>
              <a:srgbClr val="FFB74D"/>
            </a:solidFill>
          </a:ln>
        </p:spPr>
        <p:txBody>
          <a:bodyPr wrap="square" lIns="36000" tIns="36000" rIns="36000" bIns="36000" anchor="ctr"/>
          <a:lstStyle/>
          <a:p>
            <a:pPr algn="ctr"/>
            <a:r>
              <a:rPr lang="en-US" sz="1400" b="1" dirty="0">
                <a:solidFill>
                  <a:srgbClr val="FFB74D"/>
                </a:solidFill>
              </a:rPr>
              <a:t>Communication
Agent</a:t>
            </a:r>
          </a:p>
          <a:p>
            <a:pPr algn="ctr"/>
            <a:r>
              <a:rPr lang="en-US" sz="1200" dirty="0">
                <a:solidFill>
                  <a:srgbClr val="78909C"/>
                </a:solidFill>
              </a:rPr>
              <a:t>Model + Knowledge</a:t>
            </a:r>
          </a:p>
        </p:txBody>
      </p:sp>
      <p:sp>
        <p:nvSpPr>
          <p:cNvPr id="83" name="Ln3"/>
          <p:cNvSpPr/>
          <p:nvPr/>
        </p:nvSpPr>
        <p:spPr>
          <a:xfrm>
            <a:off x="8686800" y="2080661"/>
            <a:ext cx="19050" cy="685800"/>
          </a:xfrm>
          <a:prstGeom prst="rect">
            <a:avLst/>
          </a:prstGeom>
          <a:solidFill>
            <a:srgbClr val="FFB74D"/>
          </a:solidFill>
          <a:ln w="0">
            <a:noFill/>
          </a:ln>
        </p:spPr>
        <p:txBody>
          <a:bodyPr/>
          <a:lstStyle/>
          <a:p>
            <a:endParaRPr lang="en-US"/>
          </a:p>
        </p:txBody>
      </p:sp>
      <p:sp>
        <p:nvSpPr>
          <p:cNvPr id="90" name="ExtSys"/>
          <p:cNvSpPr/>
          <p:nvPr/>
        </p:nvSpPr>
        <p:spPr>
          <a:xfrm>
            <a:off x="3276600" y="3528461"/>
            <a:ext cx="1752600" cy="304800"/>
          </a:xfrm>
          <a:prstGeom prst="roundRect">
            <a:avLst/>
          </a:prstGeom>
          <a:noFill/>
          <a:ln w="6350">
            <a:solidFill>
              <a:srgbClr val="81C784"/>
            </a:solidFill>
          </a:ln>
        </p:spPr>
        <p:txBody>
          <a:bodyPr wrap="square" anchor="ctr"/>
          <a:lstStyle/>
          <a:p>
            <a:pPr algn="ctr"/>
            <a:r>
              <a:rPr lang="en-US" sz="1200" dirty="0">
                <a:solidFill>
                  <a:srgbClr val="81C784"/>
                </a:solidFill>
              </a:rPr>
              <a:t>→ External Systems</a:t>
            </a:r>
          </a:p>
        </p:txBody>
      </p:sp>
      <p:sp>
        <p:nvSpPr>
          <p:cNvPr id="91" name="ExtSys2"/>
          <p:cNvSpPr/>
          <p:nvPr/>
        </p:nvSpPr>
        <p:spPr>
          <a:xfrm>
            <a:off x="5562600" y="3528461"/>
            <a:ext cx="1752600" cy="304800"/>
          </a:xfrm>
          <a:prstGeom prst="roundRect">
            <a:avLst/>
          </a:prstGeom>
          <a:noFill/>
          <a:ln w="6350">
            <a:solidFill>
              <a:srgbClr val="CE93D8"/>
            </a:solidFill>
          </a:ln>
        </p:spPr>
        <p:txBody>
          <a:bodyPr wrap="square" anchor="ctr"/>
          <a:lstStyle/>
          <a:p>
            <a:pPr algn="ctr"/>
            <a:r>
              <a:rPr lang="en-US" sz="1200" dirty="0">
                <a:solidFill>
                  <a:srgbClr val="CE93D8"/>
                </a:solidFill>
              </a:rPr>
              <a:t>→ External Systems</a:t>
            </a:r>
          </a:p>
        </p:txBody>
      </p:sp>
      <p:sp>
        <p:nvSpPr>
          <p:cNvPr id="95" name="Input"/>
          <p:cNvSpPr/>
          <p:nvPr/>
        </p:nvSpPr>
        <p:spPr>
          <a:xfrm>
            <a:off x="990600" y="1547261"/>
            <a:ext cx="1524000" cy="457200"/>
          </a:xfrm>
          <a:prstGeom prst="roundRect">
            <a:avLst/>
          </a:prstGeom>
          <a:solidFill>
            <a:srgbClr val="4FC3F7"/>
          </a:solidFill>
          <a:ln w="0">
            <a:noFill/>
          </a:ln>
        </p:spPr>
        <p:txBody>
          <a:bodyPr wrap="square" lIns="36000" tIns="36000" rIns="36000" bIns="36000" anchor="ctr"/>
          <a:lstStyle/>
          <a:p>
            <a:pPr algn="ctr"/>
            <a:r>
              <a:rPr lang="en-US" sz="1600" b="1" dirty="0">
                <a:solidFill>
                  <a:srgbClr val="0F1923"/>
                </a:solidFill>
              </a:rPr>
              <a:t>Complex
Problem</a:t>
            </a:r>
          </a:p>
        </p:txBody>
      </p:sp>
      <p:sp>
        <p:nvSpPr>
          <p:cNvPr id="96" name="ArIn"/>
          <p:cNvSpPr/>
          <p:nvPr/>
        </p:nvSpPr>
        <p:spPr>
          <a:xfrm>
            <a:off x="2590800" y="1699661"/>
            <a:ext cx="304800" cy="152400"/>
          </a:xfrm>
          <a:prstGeom prst="rightArrow">
            <a:avLst/>
          </a:prstGeom>
          <a:solidFill>
            <a:srgbClr val="4FC3F7"/>
          </a:solidFill>
          <a:ln w="0">
            <a:noFill/>
          </a:ln>
        </p:spPr>
        <p:txBody>
          <a:bodyPr/>
          <a:lstStyle/>
          <a:p>
            <a:endParaRPr lang="en-US"/>
          </a:p>
        </p:txBody>
      </p:sp>
      <p:sp>
        <p:nvSpPr>
          <p:cNvPr id="97" name="ArRes"/>
          <p:cNvSpPr/>
          <p:nvPr/>
        </p:nvSpPr>
        <p:spPr>
          <a:xfrm>
            <a:off x="9220200" y="1699661"/>
            <a:ext cx="304800" cy="152400"/>
          </a:xfrm>
          <a:prstGeom prst="rightArrow">
            <a:avLst/>
          </a:prstGeom>
          <a:solidFill>
            <a:srgbClr val="81C784"/>
          </a:solidFill>
          <a:ln w="0">
            <a:noFill/>
          </a:ln>
        </p:spPr>
        <p:txBody>
          <a:bodyPr/>
          <a:lstStyle/>
          <a:p>
            <a:endParaRPr lang="en-US"/>
          </a:p>
        </p:txBody>
      </p:sp>
      <p:sp>
        <p:nvSpPr>
          <p:cNvPr id="98" name="Result"/>
          <p:cNvSpPr/>
          <p:nvPr/>
        </p:nvSpPr>
        <p:spPr>
          <a:xfrm>
            <a:off x="9601200" y="1547261"/>
            <a:ext cx="1524000" cy="457200"/>
          </a:xfrm>
          <a:prstGeom prst="roundRect">
            <a:avLst/>
          </a:prstGeom>
          <a:solidFill>
            <a:srgbClr val="81C784"/>
          </a:solidFill>
          <a:ln w="0">
            <a:noFill/>
          </a:ln>
        </p:spPr>
        <p:txBody>
          <a:bodyPr wrap="square" lIns="36000" tIns="36000" rIns="36000" bIns="36000" anchor="ctr"/>
          <a:lstStyle/>
          <a:p>
            <a:pPr algn="ctr"/>
            <a:r>
              <a:rPr lang="en-US" sz="1600" b="1" dirty="0">
                <a:solidFill>
                  <a:srgbClr val="0F1923"/>
                </a:solidFill>
              </a:rPr>
              <a:t>Resolved
Result</a:t>
            </a:r>
          </a:p>
        </p:txBody>
      </p:sp>
      <p:sp>
        <p:nvSpPr>
          <p:cNvPr id="100" name="Benefits"/>
          <p:cNvSpPr/>
          <p:nvPr/>
        </p:nvSpPr>
        <p:spPr>
          <a:xfrm>
            <a:off x="533400" y="4389922"/>
            <a:ext cx="5334000" cy="685800"/>
          </a:xfrm>
          <a:prstGeom prst="roundRect">
            <a:avLst/>
          </a:prstGeom>
          <a:solidFill>
            <a:srgbClr val="1A2736"/>
          </a:solidFill>
          <a:ln w="0">
            <a:noFill/>
          </a:ln>
        </p:spPr>
        <p:txBody>
          <a:bodyPr wrap="square" lIns="91440" tIns="45720" rIns="91440" bIns="45720"/>
          <a:lstStyle/>
          <a:p>
            <a:pPr>
              <a:buNone/>
            </a:pPr>
            <a:r>
              <a:rPr lang="en-US" sz="1600" b="1" dirty="0">
                <a:solidFill>
                  <a:srgbClr val="81C784"/>
                </a:solidFill>
              </a:rPr>
              <a:t>Benefits</a:t>
            </a:r>
          </a:p>
          <a:p>
            <a:pPr>
              <a:buFont typeface="Arial"/>
              <a:buChar char="•"/>
            </a:pPr>
            <a:r>
              <a:rPr lang="en-US" sz="1400" dirty="0">
                <a:solidFill>
                  <a:srgbClr val="B0BEC5"/>
                </a:solidFill>
              </a:rPr>
              <a:t>Handles truly complex, open-ended problems</a:t>
            </a:r>
          </a:p>
          <a:p>
            <a:pPr>
              <a:buFont typeface="Arial"/>
              <a:buChar char="•"/>
            </a:pPr>
            <a:r>
              <a:rPr lang="en-US" sz="1400" dirty="0">
                <a:solidFill>
                  <a:srgbClr val="B0BEC5"/>
                </a:solidFill>
              </a:rPr>
              <a:t>Auditable plans; dynamic adaptation</a:t>
            </a:r>
          </a:p>
        </p:txBody>
      </p:sp>
      <p:sp>
        <p:nvSpPr>
          <p:cNvPr id="101" name="Trade"/>
          <p:cNvSpPr/>
          <p:nvPr/>
        </p:nvSpPr>
        <p:spPr>
          <a:xfrm>
            <a:off x="6096000" y="4389922"/>
            <a:ext cx="5334000" cy="685800"/>
          </a:xfrm>
          <a:prstGeom prst="roundRect">
            <a:avLst/>
          </a:prstGeom>
          <a:solidFill>
            <a:srgbClr val="1A2736"/>
          </a:solidFill>
          <a:ln w="0">
            <a:noFill/>
          </a:ln>
        </p:spPr>
        <p:txBody>
          <a:bodyPr wrap="square" lIns="91440" tIns="45720" rIns="91440" bIns="45720"/>
          <a:lstStyle/>
          <a:p>
            <a:pPr>
              <a:buNone/>
            </a:pPr>
            <a:r>
              <a:rPr lang="en-US" sz="1600" b="1" dirty="0">
                <a:solidFill>
                  <a:srgbClr val="EF5350"/>
                </a:solidFill>
              </a:rPr>
              <a:t>Trade-offs</a:t>
            </a:r>
          </a:p>
          <a:p>
            <a:pPr>
              <a:buFont typeface="Arial"/>
              <a:buChar char="•"/>
            </a:pPr>
            <a:r>
              <a:rPr lang="en-US" sz="1400" dirty="0">
                <a:solidFill>
                  <a:srgbClr val="B0BEC5"/>
                </a:solidFill>
              </a:rPr>
              <a:t>Slow to converge; most expensive pattern</a:t>
            </a:r>
          </a:p>
          <a:p>
            <a:pPr>
              <a:buFont typeface="Arial"/>
              <a:buChar char="•"/>
            </a:pPr>
            <a:r>
              <a:rPr lang="en-US" sz="1400" dirty="0">
                <a:solidFill>
                  <a:srgbClr val="B0BEC5"/>
                </a:solidFill>
              </a:rPr>
              <a:t>Cost difficult to predict; requires capable manager</a:t>
            </a:r>
          </a:p>
        </p:txBody>
      </p:sp>
      <p:sp>
        <p:nvSpPr>
          <p:cNvPr id="102" name="Ex"/>
          <p:cNvSpPr/>
          <p:nvPr/>
        </p:nvSpPr>
        <p:spPr>
          <a:xfrm>
            <a:off x="533400" y="5228122"/>
            <a:ext cx="10896600" cy="381000"/>
          </a:xfrm>
          <a:prstGeom prst="rect">
            <a:avLst/>
          </a:prstGeom>
          <a:noFill/>
          <a:ln w="0">
            <a:noFill/>
          </a:ln>
        </p:spPr>
        <p:txBody>
          <a:bodyPr wrap="square" lIns="91440" tIns="45720"/>
          <a:lstStyle/>
          <a:p>
            <a:pPr>
              <a:buNone/>
            </a:pPr>
            <a:r>
              <a:rPr lang="en-US" sz="1400" dirty="0">
                <a:solidFill>
                  <a:srgbClr val="FFB74D"/>
                </a:solidFill>
              </a:rPr>
              <a:t>Example:  </a:t>
            </a:r>
            <a:r>
              <a:rPr lang="en-US" sz="1400" dirty="0">
                <a:solidFill>
                  <a:srgbClr val="78909C"/>
                </a:solidFill>
              </a:rPr>
              <a:t>SRE incident response — Manager coordinates Diagnostics, Infrastructure, Rollback, and Communication agents</a:t>
            </a:r>
          </a:p>
        </p:txBody>
      </p:sp>
    </p:spTree>
    <p:extLst>
      <p:ext uri="{BB962C8B-B14F-4D97-AF65-F5344CB8AC3E}">
        <p14:creationId xmlns:p14="http://schemas.microsoft.com/office/powerpoint/2010/main" val="4147421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8AF39-623D-C656-5BF3-90D12CA1C9AB}"/>
              </a:ext>
            </a:extLst>
          </p:cNvPr>
          <p:cNvSpPr>
            <a:spLocks noGrp="1"/>
          </p:cNvSpPr>
          <p:nvPr>
            <p:ph type="title"/>
          </p:nvPr>
        </p:nvSpPr>
        <p:spPr>
          <a:xfrm>
            <a:off x="457200" y="254000"/>
            <a:ext cx="10160000" cy="914400"/>
          </a:xfrm>
        </p:spPr>
        <p:txBody>
          <a:bodyPr>
            <a:normAutofit/>
          </a:bodyPr>
          <a:lstStyle/>
          <a:p>
            <a:r>
              <a:rPr lang="en-US" sz="2800"/>
              <a:t>Pattern Comparison Matrix</a:t>
            </a:r>
          </a:p>
        </p:txBody>
      </p:sp>
      <p:graphicFrame>
        <p:nvGraphicFramePr>
          <p:cNvPr id="4" name="Table 3">
            <a:extLst>
              <a:ext uri="{FF2B5EF4-FFF2-40B4-BE49-F238E27FC236}">
                <a16:creationId xmlns:a16="http://schemas.microsoft.com/office/drawing/2014/main" id="{85086D80-18A3-4596-901A-1909A680FA0C}"/>
              </a:ext>
            </a:extLst>
          </p:cNvPr>
          <p:cNvGraphicFramePr>
            <a:graphicFrameLocks noGrp="1"/>
          </p:cNvGraphicFramePr>
          <p:nvPr/>
        </p:nvGraphicFramePr>
        <p:xfrm>
          <a:off x="457200" y="1524000"/>
          <a:ext cx="11277600" cy="4572000"/>
        </p:xfrm>
        <a:graphic>
          <a:graphicData uri="http://schemas.openxmlformats.org/drawingml/2006/table">
            <a:tbl>
              <a:tblPr firstRow="1" bandRow="1">
                <a:tableStyleId>{5C22544A-7EE6-4342-B048-85BDC9FD1C3A}</a:tableStyleId>
              </a:tblPr>
              <a:tblGrid>
                <a:gridCol w="2255520">
                  <a:extLst>
                    <a:ext uri="{9D8B030D-6E8A-4147-A177-3AD203B41FA5}">
                      <a16:colId xmlns:a16="http://schemas.microsoft.com/office/drawing/2014/main" val="572402019"/>
                    </a:ext>
                  </a:extLst>
                </a:gridCol>
                <a:gridCol w="2255520">
                  <a:extLst>
                    <a:ext uri="{9D8B030D-6E8A-4147-A177-3AD203B41FA5}">
                      <a16:colId xmlns:a16="http://schemas.microsoft.com/office/drawing/2014/main" val="1216447879"/>
                    </a:ext>
                  </a:extLst>
                </a:gridCol>
                <a:gridCol w="2255520">
                  <a:extLst>
                    <a:ext uri="{9D8B030D-6E8A-4147-A177-3AD203B41FA5}">
                      <a16:colId xmlns:a16="http://schemas.microsoft.com/office/drawing/2014/main" val="2174243310"/>
                    </a:ext>
                  </a:extLst>
                </a:gridCol>
                <a:gridCol w="2255520">
                  <a:extLst>
                    <a:ext uri="{9D8B030D-6E8A-4147-A177-3AD203B41FA5}">
                      <a16:colId xmlns:a16="http://schemas.microsoft.com/office/drawing/2014/main" val="3477734333"/>
                    </a:ext>
                  </a:extLst>
                </a:gridCol>
                <a:gridCol w="2255520">
                  <a:extLst>
                    <a:ext uri="{9D8B030D-6E8A-4147-A177-3AD203B41FA5}">
                      <a16:colId xmlns:a16="http://schemas.microsoft.com/office/drawing/2014/main" val="2526528503"/>
                    </a:ext>
                  </a:extLst>
                </a:gridCol>
              </a:tblGrid>
              <a:tr h="762000">
                <a:tc>
                  <a:txBody>
                    <a:bodyPr/>
                    <a:lstStyle/>
                    <a:p>
                      <a:pPr algn="ctr"/>
                      <a:r>
                        <a:rPr lang="en-US" sz="1400" b="1">
                          <a:solidFill>
                            <a:srgbClr val="4FC3F7"/>
                          </a:solidFill>
                        </a:rPr>
                        <a:t>Pattern</a:t>
                      </a:r>
                    </a:p>
                  </a:txBody>
                  <a:tcPr anchor="ctr">
                    <a:solidFill>
                      <a:srgbClr val="1A2736"/>
                    </a:solidFill>
                  </a:tcPr>
                </a:tc>
                <a:tc>
                  <a:txBody>
                    <a:bodyPr/>
                    <a:lstStyle/>
                    <a:p>
                      <a:pPr algn="ctr"/>
                      <a:r>
                        <a:rPr lang="en-US" sz="1400" b="1">
                          <a:solidFill>
                            <a:srgbClr val="4FC3F7"/>
                          </a:solidFill>
                        </a:rPr>
                        <a:t>Communication</a:t>
                      </a:r>
                    </a:p>
                  </a:txBody>
                  <a:tcPr anchor="ctr">
                    <a:solidFill>
                      <a:srgbClr val="1A2736"/>
                    </a:solidFill>
                  </a:tcPr>
                </a:tc>
                <a:tc>
                  <a:txBody>
                    <a:bodyPr/>
                    <a:lstStyle/>
                    <a:p>
                      <a:pPr algn="ctr"/>
                      <a:r>
                        <a:rPr lang="en-US" sz="1400" b="1">
                          <a:solidFill>
                            <a:srgbClr val="4FC3F7"/>
                          </a:solidFill>
                        </a:rPr>
                        <a:t>Agent Selection</a:t>
                      </a:r>
                    </a:p>
                  </a:txBody>
                  <a:tcPr anchor="ctr">
                    <a:solidFill>
                      <a:srgbClr val="1A2736"/>
                    </a:solidFill>
                  </a:tcPr>
                </a:tc>
                <a:tc>
                  <a:txBody>
                    <a:bodyPr/>
                    <a:lstStyle/>
                    <a:p>
                      <a:pPr algn="ctr"/>
                      <a:r>
                        <a:rPr lang="en-US" sz="1400" b="1">
                          <a:solidFill>
                            <a:srgbClr val="4FC3F7"/>
                          </a:solidFill>
                        </a:rPr>
                        <a:t>Best For</a:t>
                      </a:r>
                    </a:p>
                  </a:txBody>
                  <a:tcPr anchor="ctr">
                    <a:solidFill>
                      <a:srgbClr val="1A2736"/>
                    </a:solidFill>
                  </a:tcPr>
                </a:tc>
                <a:tc>
                  <a:txBody>
                    <a:bodyPr/>
                    <a:lstStyle/>
                    <a:p>
                      <a:pPr algn="ctr"/>
                      <a:r>
                        <a:rPr lang="en-US" sz="1400" b="1">
                          <a:solidFill>
                            <a:srgbClr val="4FC3F7"/>
                          </a:solidFill>
                        </a:rPr>
                        <a:t>Key Risk</a:t>
                      </a:r>
                    </a:p>
                  </a:txBody>
                  <a:tcPr anchor="ctr">
                    <a:solidFill>
                      <a:srgbClr val="1A2736"/>
                    </a:solidFill>
                  </a:tcPr>
                </a:tc>
                <a:extLst>
                  <a:ext uri="{0D108BD9-81ED-4DB2-BD59-A6C34878D82A}">
                    <a16:rowId xmlns:a16="http://schemas.microsoft.com/office/drawing/2014/main" val="3547709017"/>
                  </a:ext>
                </a:extLst>
              </a:tr>
              <a:tr h="762000">
                <a:tc>
                  <a:txBody>
                    <a:bodyPr/>
                    <a:lstStyle/>
                    <a:p>
                      <a:pPr algn="l"/>
                      <a:r>
                        <a:rPr lang="en-US" sz="1400" b="1">
                          <a:solidFill>
                            <a:srgbClr val="4FC3F7"/>
                          </a:solidFill>
                        </a:rPr>
                        <a:t>Sequential</a:t>
                      </a:r>
                    </a:p>
                  </a:txBody>
                  <a:tcPr anchor="ctr">
                    <a:solidFill>
                      <a:srgbClr val="1A2736"/>
                    </a:solidFill>
                  </a:tcPr>
                </a:tc>
                <a:tc>
                  <a:txBody>
                    <a:bodyPr/>
                    <a:lstStyle/>
                    <a:p>
                      <a:pPr algn="l"/>
                      <a:r>
                        <a:rPr lang="en-US" sz="1400">
                          <a:solidFill>
                            <a:srgbClr val="B0BEC5"/>
                          </a:solidFill>
                        </a:rPr>
                        <a:t>Linear pipeline</a:t>
                      </a:r>
                    </a:p>
                  </a:txBody>
                  <a:tcPr anchor="ctr">
                    <a:solidFill>
                      <a:srgbClr val="1A2736"/>
                    </a:solidFill>
                  </a:tcPr>
                </a:tc>
                <a:tc>
                  <a:txBody>
                    <a:bodyPr/>
                    <a:lstStyle/>
                    <a:p>
                      <a:pPr algn="l"/>
                      <a:r>
                        <a:rPr lang="en-US" sz="1400">
                          <a:solidFill>
                            <a:srgbClr val="B0BEC5"/>
                          </a:solidFill>
                        </a:rPr>
                        <a:t>Deterministic</a:t>
                      </a:r>
                    </a:p>
                  </a:txBody>
                  <a:tcPr anchor="ctr">
                    <a:solidFill>
                      <a:srgbClr val="1A2736"/>
                    </a:solidFill>
                  </a:tcPr>
                </a:tc>
                <a:tc>
                  <a:txBody>
                    <a:bodyPr/>
                    <a:lstStyle/>
                    <a:p>
                      <a:pPr algn="l"/>
                      <a:r>
                        <a:rPr lang="en-US" sz="1400">
                          <a:solidFill>
                            <a:srgbClr val="B0BEC5"/>
                          </a:solidFill>
                        </a:rPr>
                        <a:t>Step-by-step refinement</a:t>
                      </a:r>
                    </a:p>
                  </a:txBody>
                  <a:tcPr anchor="ctr">
                    <a:solidFill>
                      <a:srgbClr val="1A2736"/>
                    </a:solidFill>
                  </a:tcPr>
                </a:tc>
                <a:tc>
                  <a:txBody>
                    <a:bodyPr/>
                    <a:lstStyle/>
                    <a:p>
                      <a:pPr algn="l"/>
                      <a:r>
                        <a:rPr lang="en-US" sz="1400">
                          <a:solidFill>
                            <a:srgbClr val="B0BEC5"/>
                          </a:solidFill>
                        </a:rPr>
                        <a:t>Failures propagate</a:t>
                      </a:r>
                    </a:p>
                  </a:txBody>
                  <a:tcPr anchor="ctr">
                    <a:solidFill>
                      <a:srgbClr val="1A2736"/>
                    </a:solidFill>
                  </a:tcPr>
                </a:tc>
                <a:extLst>
                  <a:ext uri="{0D108BD9-81ED-4DB2-BD59-A6C34878D82A}">
                    <a16:rowId xmlns:a16="http://schemas.microsoft.com/office/drawing/2014/main" val="3446686724"/>
                  </a:ext>
                </a:extLst>
              </a:tr>
              <a:tr h="762000">
                <a:tc>
                  <a:txBody>
                    <a:bodyPr/>
                    <a:lstStyle/>
                    <a:p>
                      <a:pPr algn="l"/>
                      <a:r>
                        <a:rPr lang="en-US" sz="1400" b="1">
                          <a:solidFill>
                            <a:srgbClr val="81C784"/>
                          </a:solidFill>
                        </a:rPr>
                        <a:t>Concurrent</a:t>
                      </a:r>
                    </a:p>
                  </a:txBody>
                  <a:tcPr anchor="ctr">
                    <a:solidFill>
                      <a:srgbClr val="1A2736"/>
                    </a:solidFill>
                  </a:tcPr>
                </a:tc>
                <a:tc>
                  <a:txBody>
                    <a:bodyPr/>
                    <a:lstStyle/>
                    <a:p>
                      <a:pPr algn="l"/>
                      <a:r>
                        <a:rPr lang="en-US" sz="1400">
                          <a:solidFill>
                            <a:srgbClr val="B0BEC5"/>
                          </a:solidFill>
                        </a:rPr>
                        <a:t>Parallel, independent</a:t>
                      </a:r>
                    </a:p>
                  </a:txBody>
                  <a:tcPr anchor="ctr">
                    <a:solidFill>
                      <a:srgbClr val="162231"/>
                    </a:solidFill>
                  </a:tcPr>
                </a:tc>
                <a:tc>
                  <a:txBody>
                    <a:bodyPr/>
                    <a:lstStyle/>
                    <a:p>
                      <a:pPr algn="l"/>
                      <a:r>
                        <a:rPr lang="en-US" sz="1400">
                          <a:solidFill>
                            <a:srgbClr val="B0BEC5"/>
                          </a:solidFill>
                        </a:rPr>
                        <a:t>Deterministic/dynamic</a:t>
                      </a:r>
                    </a:p>
                  </a:txBody>
                  <a:tcPr anchor="ctr">
                    <a:solidFill>
                      <a:srgbClr val="162231"/>
                    </a:solidFill>
                  </a:tcPr>
                </a:tc>
                <a:tc>
                  <a:txBody>
                    <a:bodyPr/>
                    <a:lstStyle/>
                    <a:p>
                      <a:pPr algn="l"/>
                      <a:r>
                        <a:rPr lang="en-US" sz="1400">
                          <a:solidFill>
                            <a:srgbClr val="B0BEC5"/>
                          </a:solidFill>
                        </a:rPr>
                        <a:t>Multi-perspective analysis</a:t>
                      </a:r>
                    </a:p>
                  </a:txBody>
                  <a:tcPr anchor="ctr">
                    <a:solidFill>
                      <a:srgbClr val="162231"/>
                    </a:solidFill>
                  </a:tcPr>
                </a:tc>
                <a:tc>
                  <a:txBody>
                    <a:bodyPr/>
                    <a:lstStyle/>
                    <a:p>
                      <a:pPr algn="l"/>
                      <a:r>
                        <a:rPr lang="en-US" sz="1400">
                          <a:solidFill>
                            <a:srgbClr val="B0BEC5"/>
                          </a:solidFill>
                        </a:rPr>
                        <a:t>Contradictory results</a:t>
                      </a:r>
                    </a:p>
                  </a:txBody>
                  <a:tcPr anchor="ctr">
                    <a:solidFill>
                      <a:srgbClr val="162231"/>
                    </a:solidFill>
                  </a:tcPr>
                </a:tc>
                <a:extLst>
                  <a:ext uri="{0D108BD9-81ED-4DB2-BD59-A6C34878D82A}">
                    <a16:rowId xmlns:a16="http://schemas.microsoft.com/office/drawing/2014/main" val="592702398"/>
                  </a:ext>
                </a:extLst>
              </a:tr>
              <a:tr h="762000">
                <a:tc>
                  <a:txBody>
                    <a:bodyPr/>
                    <a:lstStyle/>
                    <a:p>
                      <a:pPr algn="l"/>
                      <a:r>
                        <a:rPr lang="en-US" sz="1400" b="1">
                          <a:solidFill>
                            <a:srgbClr val="FFB74D"/>
                          </a:solidFill>
                        </a:rPr>
                        <a:t>Handoff</a:t>
                      </a:r>
                    </a:p>
                  </a:txBody>
                  <a:tcPr anchor="ctr">
                    <a:solidFill>
                      <a:srgbClr val="1A2736"/>
                    </a:solidFill>
                  </a:tcPr>
                </a:tc>
                <a:tc>
                  <a:txBody>
                    <a:bodyPr/>
                    <a:lstStyle/>
                    <a:p>
                      <a:pPr algn="l"/>
                      <a:r>
                        <a:rPr lang="en-US" sz="1400">
                          <a:solidFill>
                            <a:srgbClr val="B0BEC5"/>
                          </a:solidFill>
                        </a:rPr>
                        <a:t>Dynamic delegation</a:t>
                      </a:r>
                    </a:p>
                  </a:txBody>
                  <a:tcPr anchor="ctr">
                    <a:solidFill>
                      <a:srgbClr val="1A2736"/>
                    </a:solidFill>
                  </a:tcPr>
                </a:tc>
                <a:tc>
                  <a:txBody>
                    <a:bodyPr/>
                    <a:lstStyle/>
                    <a:p>
                      <a:pPr algn="l"/>
                      <a:r>
                        <a:rPr lang="en-US" sz="1400">
                          <a:solidFill>
                            <a:srgbClr val="B0BEC5"/>
                          </a:solidFill>
                        </a:rPr>
                        <a:t>Agents decide</a:t>
                      </a:r>
                    </a:p>
                  </a:txBody>
                  <a:tcPr anchor="ctr">
                    <a:solidFill>
                      <a:srgbClr val="1A2736"/>
                    </a:solidFill>
                  </a:tcPr>
                </a:tc>
                <a:tc>
                  <a:txBody>
                    <a:bodyPr/>
                    <a:lstStyle/>
                    <a:p>
                      <a:pPr algn="l"/>
                      <a:r>
                        <a:rPr lang="en-US" sz="1400">
                          <a:solidFill>
                            <a:srgbClr val="B0BEC5"/>
                          </a:solidFill>
                        </a:rPr>
                        <a:t>Specialist emerges at runtime</a:t>
                      </a:r>
                    </a:p>
                  </a:txBody>
                  <a:tcPr anchor="ctr">
                    <a:solidFill>
                      <a:srgbClr val="1A2736"/>
                    </a:solidFill>
                  </a:tcPr>
                </a:tc>
                <a:tc>
                  <a:txBody>
                    <a:bodyPr/>
                    <a:lstStyle/>
                    <a:p>
                      <a:pPr algn="l"/>
                      <a:r>
                        <a:rPr lang="en-US" sz="1400">
                          <a:solidFill>
                            <a:srgbClr val="B0BEC5"/>
                          </a:solidFill>
                        </a:rPr>
                        <a:t>Infinite handoff loops</a:t>
                      </a:r>
                    </a:p>
                  </a:txBody>
                  <a:tcPr anchor="ctr">
                    <a:solidFill>
                      <a:srgbClr val="1A2736"/>
                    </a:solidFill>
                  </a:tcPr>
                </a:tc>
                <a:extLst>
                  <a:ext uri="{0D108BD9-81ED-4DB2-BD59-A6C34878D82A}">
                    <a16:rowId xmlns:a16="http://schemas.microsoft.com/office/drawing/2014/main" val="1832205760"/>
                  </a:ext>
                </a:extLst>
              </a:tr>
              <a:tr h="762000">
                <a:tc>
                  <a:txBody>
                    <a:bodyPr/>
                    <a:lstStyle/>
                    <a:p>
                      <a:pPr algn="l"/>
                      <a:r>
                        <a:rPr lang="en-US" sz="1400" b="1">
                          <a:solidFill>
                            <a:srgbClr val="CE93D8"/>
                          </a:solidFill>
                        </a:rPr>
                        <a:t>Group Chat</a:t>
                      </a:r>
                    </a:p>
                  </a:txBody>
                  <a:tcPr anchor="ctr">
                    <a:solidFill>
                      <a:srgbClr val="1A2736"/>
                    </a:solidFill>
                  </a:tcPr>
                </a:tc>
                <a:tc>
                  <a:txBody>
                    <a:bodyPr/>
                    <a:lstStyle/>
                    <a:p>
                      <a:pPr algn="l"/>
                      <a:r>
                        <a:rPr lang="en-US" sz="1400">
                          <a:solidFill>
                            <a:srgbClr val="B0BEC5"/>
                          </a:solidFill>
                        </a:rPr>
                        <a:t>Shared thread</a:t>
                      </a:r>
                    </a:p>
                  </a:txBody>
                  <a:tcPr anchor="ctr">
                    <a:solidFill>
                      <a:srgbClr val="162231"/>
                    </a:solidFill>
                  </a:tcPr>
                </a:tc>
                <a:tc>
                  <a:txBody>
                    <a:bodyPr/>
                    <a:lstStyle/>
                    <a:p>
                      <a:pPr algn="l"/>
                      <a:r>
                        <a:rPr lang="en-US" sz="1400">
                          <a:solidFill>
                            <a:srgbClr val="B0BEC5"/>
                          </a:solidFill>
                        </a:rPr>
                        <a:t>Chat manager</a:t>
                      </a:r>
                    </a:p>
                  </a:txBody>
                  <a:tcPr anchor="ctr">
                    <a:solidFill>
                      <a:srgbClr val="162231"/>
                    </a:solidFill>
                  </a:tcPr>
                </a:tc>
                <a:tc>
                  <a:txBody>
                    <a:bodyPr/>
                    <a:lstStyle/>
                    <a:p>
                      <a:pPr algn="l"/>
                      <a:r>
                        <a:rPr lang="en-US" sz="1400">
                          <a:solidFill>
                            <a:srgbClr val="B0BEC5"/>
                          </a:solidFill>
                        </a:rPr>
                        <a:t>Consensus &amp; brainstorming</a:t>
                      </a:r>
                    </a:p>
                  </a:txBody>
                  <a:tcPr anchor="ctr">
                    <a:solidFill>
                      <a:srgbClr val="162231"/>
                    </a:solidFill>
                  </a:tcPr>
                </a:tc>
                <a:tc>
                  <a:txBody>
                    <a:bodyPr/>
                    <a:lstStyle/>
                    <a:p>
                      <a:pPr algn="l"/>
                      <a:r>
                        <a:rPr lang="en-US" sz="1400">
                          <a:solidFill>
                            <a:srgbClr val="B0BEC5"/>
                          </a:solidFill>
                        </a:rPr>
                        <a:t>Conversation loops</a:t>
                      </a:r>
                    </a:p>
                  </a:txBody>
                  <a:tcPr anchor="ctr">
                    <a:solidFill>
                      <a:srgbClr val="162231"/>
                    </a:solidFill>
                  </a:tcPr>
                </a:tc>
                <a:extLst>
                  <a:ext uri="{0D108BD9-81ED-4DB2-BD59-A6C34878D82A}">
                    <a16:rowId xmlns:a16="http://schemas.microsoft.com/office/drawing/2014/main" val="1520504095"/>
                  </a:ext>
                </a:extLst>
              </a:tr>
              <a:tr h="762000">
                <a:tc>
                  <a:txBody>
                    <a:bodyPr/>
                    <a:lstStyle/>
                    <a:p>
                      <a:pPr algn="l"/>
                      <a:r>
                        <a:rPr lang="en-US" sz="1400" b="1">
                          <a:solidFill>
                            <a:srgbClr val="EF5350"/>
                          </a:solidFill>
                        </a:rPr>
                        <a:t>Magentic</a:t>
                      </a:r>
                    </a:p>
                  </a:txBody>
                  <a:tcPr anchor="ctr">
                    <a:solidFill>
                      <a:srgbClr val="1A2736"/>
                    </a:solidFill>
                  </a:tcPr>
                </a:tc>
                <a:tc>
                  <a:txBody>
                    <a:bodyPr/>
                    <a:lstStyle/>
                    <a:p>
                      <a:pPr algn="l"/>
                      <a:r>
                        <a:rPr lang="en-US" sz="1400">
                          <a:solidFill>
                            <a:srgbClr val="B0BEC5"/>
                          </a:solidFill>
                        </a:rPr>
                        <a:t>Plan-build-execute</a:t>
                      </a:r>
                    </a:p>
                  </a:txBody>
                  <a:tcPr anchor="ctr">
                    <a:solidFill>
                      <a:srgbClr val="1A2736"/>
                    </a:solidFill>
                  </a:tcPr>
                </a:tc>
                <a:tc>
                  <a:txBody>
                    <a:bodyPr/>
                    <a:lstStyle/>
                    <a:p>
                      <a:pPr algn="l"/>
                      <a:r>
                        <a:rPr lang="en-US" sz="1400">
                          <a:solidFill>
                            <a:srgbClr val="B0BEC5"/>
                          </a:solidFill>
                        </a:rPr>
                        <a:t>Manager assigns</a:t>
                      </a:r>
                    </a:p>
                  </a:txBody>
                  <a:tcPr anchor="ctr">
                    <a:solidFill>
                      <a:srgbClr val="1A2736"/>
                    </a:solidFill>
                  </a:tcPr>
                </a:tc>
                <a:tc>
                  <a:txBody>
                    <a:bodyPr/>
                    <a:lstStyle/>
                    <a:p>
                      <a:pPr algn="l"/>
                      <a:r>
                        <a:rPr lang="en-US" sz="1400">
                          <a:solidFill>
                            <a:srgbClr val="B0BEC5"/>
                          </a:solidFill>
                        </a:rPr>
                        <a:t>Open-ended problems</a:t>
                      </a:r>
                    </a:p>
                  </a:txBody>
                  <a:tcPr anchor="ctr">
                    <a:solidFill>
                      <a:srgbClr val="1A2736"/>
                    </a:solidFill>
                  </a:tcPr>
                </a:tc>
                <a:tc>
                  <a:txBody>
                    <a:bodyPr/>
                    <a:lstStyle/>
                    <a:p>
                      <a:pPr algn="l"/>
                      <a:r>
                        <a:rPr lang="en-US" sz="1400">
                          <a:solidFill>
                            <a:srgbClr val="B0BEC5"/>
                          </a:solidFill>
                        </a:rPr>
                        <a:t>Slow to converge</a:t>
                      </a:r>
                    </a:p>
                  </a:txBody>
                  <a:tcPr anchor="ctr">
                    <a:solidFill>
                      <a:srgbClr val="1A2736"/>
                    </a:solidFill>
                  </a:tcPr>
                </a:tc>
                <a:extLst>
                  <a:ext uri="{0D108BD9-81ED-4DB2-BD59-A6C34878D82A}">
                    <a16:rowId xmlns:a16="http://schemas.microsoft.com/office/drawing/2014/main" val="1380090391"/>
                  </a:ext>
                </a:extLst>
              </a:tr>
            </a:tbl>
          </a:graphicData>
        </a:graphic>
      </p:graphicFrame>
      <p:pic>
        <p:nvPicPr>
          <p:cNvPr id="5" name="Graphic 5" descr="Workflow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49000" y="381000"/>
            <a:ext cx="762000" cy="762000"/>
          </a:xfrm>
          <a:prstGeom prst="rect">
            <a:avLst/>
          </a:prstGeom>
        </p:spPr>
      </p:pic>
    </p:spTree>
    <p:extLst>
      <p:ext uri="{BB962C8B-B14F-4D97-AF65-F5344CB8AC3E}">
        <p14:creationId xmlns:p14="http://schemas.microsoft.com/office/powerpoint/2010/main" val="277832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1192-4B52-12A3-A544-0FC0748CE96E}"/>
              </a:ext>
            </a:extLst>
          </p:cNvPr>
          <p:cNvSpPr>
            <a:spLocks noGrp="1"/>
          </p:cNvSpPr>
          <p:nvPr>
            <p:ph type="title"/>
          </p:nvPr>
        </p:nvSpPr>
        <p:spPr>
          <a:xfrm>
            <a:off x="457200" y="254000"/>
            <a:ext cx="10160000" cy="914400"/>
          </a:xfrm>
        </p:spPr>
        <p:txBody>
          <a:bodyPr>
            <a:normAutofit/>
          </a:bodyPr>
          <a:lstStyle/>
          <a:p>
            <a:r>
              <a:rPr lang="en-US" sz="2800"/>
              <a:t>Library Ecosystem &amp; Pattern Support</a:t>
            </a:r>
          </a:p>
        </p:txBody>
      </p:sp>
      <p:graphicFrame>
        <p:nvGraphicFramePr>
          <p:cNvPr id="4" name="Table 3">
            <a:extLst>
              <a:ext uri="{FF2B5EF4-FFF2-40B4-BE49-F238E27FC236}">
                <a16:creationId xmlns:a16="http://schemas.microsoft.com/office/drawing/2014/main" id="{BDA6A34C-0691-4970-9B84-8C0B67D0B373}"/>
              </a:ext>
            </a:extLst>
          </p:cNvPr>
          <p:cNvGraphicFramePr>
            <a:graphicFrameLocks noGrp="1"/>
          </p:cNvGraphicFramePr>
          <p:nvPr/>
        </p:nvGraphicFramePr>
        <p:xfrm>
          <a:off x="457200" y="1524000"/>
          <a:ext cx="11277602" cy="4826000"/>
        </p:xfrm>
        <a:graphic>
          <a:graphicData uri="http://schemas.openxmlformats.org/drawingml/2006/table">
            <a:tbl>
              <a:tblPr firstRow="1" bandRow="1">
                <a:tableStyleId>{5C22544A-7EE6-4342-B048-85BDC9FD1C3A}</a:tableStyleId>
              </a:tblPr>
              <a:tblGrid>
                <a:gridCol w="1611086">
                  <a:extLst>
                    <a:ext uri="{9D8B030D-6E8A-4147-A177-3AD203B41FA5}">
                      <a16:colId xmlns:a16="http://schemas.microsoft.com/office/drawing/2014/main" val="393009435"/>
                    </a:ext>
                  </a:extLst>
                </a:gridCol>
                <a:gridCol w="1611086">
                  <a:extLst>
                    <a:ext uri="{9D8B030D-6E8A-4147-A177-3AD203B41FA5}">
                      <a16:colId xmlns:a16="http://schemas.microsoft.com/office/drawing/2014/main" val="1721056746"/>
                    </a:ext>
                  </a:extLst>
                </a:gridCol>
                <a:gridCol w="1611086">
                  <a:extLst>
                    <a:ext uri="{9D8B030D-6E8A-4147-A177-3AD203B41FA5}">
                      <a16:colId xmlns:a16="http://schemas.microsoft.com/office/drawing/2014/main" val="2066612182"/>
                    </a:ext>
                  </a:extLst>
                </a:gridCol>
                <a:gridCol w="1611086">
                  <a:extLst>
                    <a:ext uri="{9D8B030D-6E8A-4147-A177-3AD203B41FA5}">
                      <a16:colId xmlns:a16="http://schemas.microsoft.com/office/drawing/2014/main" val="4263033479"/>
                    </a:ext>
                  </a:extLst>
                </a:gridCol>
                <a:gridCol w="1611086">
                  <a:extLst>
                    <a:ext uri="{9D8B030D-6E8A-4147-A177-3AD203B41FA5}">
                      <a16:colId xmlns:a16="http://schemas.microsoft.com/office/drawing/2014/main" val="2815203501"/>
                    </a:ext>
                  </a:extLst>
                </a:gridCol>
                <a:gridCol w="1611086">
                  <a:extLst>
                    <a:ext uri="{9D8B030D-6E8A-4147-A177-3AD203B41FA5}">
                      <a16:colId xmlns:a16="http://schemas.microsoft.com/office/drawing/2014/main" val="8045015"/>
                    </a:ext>
                  </a:extLst>
                </a:gridCol>
                <a:gridCol w="1611086">
                  <a:extLst>
                    <a:ext uri="{9D8B030D-6E8A-4147-A177-3AD203B41FA5}">
                      <a16:colId xmlns:a16="http://schemas.microsoft.com/office/drawing/2014/main" val="4255826979"/>
                    </a:ext>
                  </a:extLst>
                </a:gridCol>
              </a:tblGrid>
              <a:tr h="603250">
                <a:tc>
                  <a:txBody>
                    <a:bodyPr/>
                    <a:lstStyle/>
                    <a:p>
                      <a:pPr algn="ctr"/>
                      <a:r>
                        <a:rPr lang="en-US" sz="1400" b="1">
                          <a:solidFill>
                            <a:srgbClr val="4FC3F7"/>
                          </a:solidFill>
                        </a:rPr>
                        <a:t>Pattern</a:t>
                      </a:r>
                    </a:p>
                  </a:txBody>
                  <a:tcPr anchor="ctr">
                    <a:solidFill>
                      <a:srgbClr val="1A2736"/>
                    </a:solidFill>
                  </a:tcPr>
                </a:tc>
                <a:tc>
                  <a:txBody>
                    <a:bodyPr/>
                    <a:lstStyle/>
                    <a:p>
                      <a:pPr algn="ctr"/>
                      <a:r>
                        <a:rPr lang="en-US" sz="1400" b="1">
                          <a:solidFill>
                            <a:srgbClr val="4FC3F7"/>
                          </a:solidFill>
                        </a:rPr>
                        <a:t>LangGraph</a:t>
                      </a:r>
                    </a:p>
                  </a:txBody>
                  <a:tcPr anchor="ctr">
                    <a:solidFill>
                      <a:srgbClr val="1A2736"/>
                    </a:solidFill>
                  </a:tcPr>
                </a:tc>
                <a:tc>
                  <a:txBody>
                    <a:bodyPr/>
                    <a:lstStyle/>
                    <a:p>
                      <a:pPr algn="ctr"/>
                      <a:r>
                        <a:rPr lang="en-US" sz="1400" b="1">
                          <a:solidFill>
                            <a:srgbClr val="4FC3F7"/>
                          </a:solidFill>
                        </a:rPr>
                        <a:t>Semantic
Kernel</a:t>
                      </a:r>
                    </a:p>
                  </a:txBody>
                  <a:tcPr anchor="ctr">
                    <a:solidFill>
                      <a:srgbClr val="1A2736"/>
                    </a:solidFill>
                  </a:tcPr>
                </a:tc>
                <a:tc>
                  <a:txBody>
                    <a:bodyPr/>
                    <a:lstStyle/>
                    <a:p>
                      <a:pPr algn="ctr"/>
                      <a:r>
                        <a:rPr lang="en-US" sz="1400" b="1">
                          <a:solidFill>
                            <a:srgbClr val="4FC3F7"/>
                          </a:solidFill>
                        </a:rPr>
                        <a:t>Agent
Framework</a:t>
                      </a:r>
                    </a:p>
                  </a:txBody>
                  <a:tcPr anchor="ctr">
                    <a:solidFill>
                      <a:srgbClr val="1A2736"/>
                    </a:solidFill>
                  </a:tcPr>
                </a:tc>
                <a:tc>
                  <a:txBody>
                    <a:bodyPr/>
                    <a:lstStyle/>
                    <a:p>
                      <a:pPr algn="ctr"/>
                      <a:r>
                        <a:rPr lang="en-US" sz="1400" b="1">
                          <a:solidFill>
                            <a:srgbClr val="4FC3F7"/>
                          </a:solidFill>
                        </a:rPr>
                        <a:t>AutoGen</a:t>
                      </a:r>
                    </a:p>
                  </a:txBody>
                  <a:tcPr anchor="ctr">
                    <a:solidFill>
                      <a:srgbClr val="1A2736"/>
                    </a:solidFill>
                  </a:tcPr>
                </a:tc>
                <a:tc>
                  <a:txBody>
                    <a:bodyPr/>
                    <a:lstStyle/>
                    <a:p>
                      <a:pPr algn="ctr"/>
                      <a:r>
                        <a:rPr lang="en-US" sz="1400" b="1">
                          <a:solidFill>
                            <a:srgbClr val="4FC3F7"/>
                          </a:solidFill>
                        </a:rPr>
                        <a:t>OpenAI
Agents</a:t>
                      </a:r>
                    </a:p>
                  </a:txBody>
                  <a:tcPr anchor="ctr">
                    <a:solidFill>
                      <a:srgbClr val="1A2736"/>
                    </a:solidFill>
                  </a:tcPr>
                </a:tc>
                <a:tc>
                  <a:txBody>
                    <a:bodyPr/>
                    <a:lstStyle/>
                    <a:p>
                      <a:pPr algn="ctr"/>
                      <a:r>
                        <a:rPr lang="en-US" sz="1400" b="1">
                          <a:solidFill>
                            <a:srgbClr val="4FC3F7"/>
                          </a:solidFill>
                        </a:rPr>
                        <a:t>CrewAI</a:t>
                      </a:r>
                    </a:p>
                  </a:txBody>
                  <a:tcPr anchor="ctr">
                    <a:solidFill>
                      <a:srgbClr val="1A2736"/>
                    </a:solidFill>
                  </a:tcPr>
                </a:tc>
                <a:extLst>
                  <a:ext uri="{0D108BD9-81ED-4DB2-BD59-A6C34878D82A}">
                    <a16:rowId xmlns:a16="http://schemas.microsoft.com/office/drawing/2014/main" val="3427587835"/>
                  </a:ext>
                </a:extLst>
              </a:tr>
              <a:tr h="603250">
                <a:tc>
                  <a:txBody>
                    <a:bodyPr/>
                    <a:lstStyle/>
                    <a:p>
                      <a:pPr algn="l"/>
                      <a:r>
                        <a:rPr lang="en-US" sz="1400" b="1">
                          <a:solidFill>
                            <a:srgbClr val="E8ECF1"/>
                          </a:solidFill>
                        </a:rPr>
                        <a:t>Sequential</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extLst>
                  <a:ext uri="{0D108BD9-81ED-4DB2-BD59-A6C34878D82A}">
                    <a16:rowId xmlns:a16="http://schemas.microsoft.com/office/drawing/2014/main" val="5465452"/>
                  </a:ext>
                </a:extLst>
              </a:tr>
              <a:tr h="603250">
                <a:tc>
                  <a:txBody>
                    <a:bodyPr/>
                    <a:lstStyle/>
                    <a:p>
                      <a:pPr algn="l"/>
                      <a:r>
                        <a:rPr lang="en-US" sz="1400" b="1">
                          <a:solidFill>
                            <a:srgbClr val="E8ECF1"/>
                          </a:solidFill>
                        </a:rPr>
                        <a:t>Concurrent</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tc>
                  <a:txBody>
                    <a:bodyPr/>
                    <a:lstStyle/>
                    <a:p>
                      <a:pPr algn="ctr"/>
                      <a:r>
                        <a:rPr lang="en-US" sz="1400">
                          <a:solidFill>
                            <a:srgbClr val="B0BEC5"/>
                          </a:solidFill>
                        </a:rPr>
                        <a:t>Partial</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tc>
                  <a:txBody>
                    <a:bodyPr/>
                    <a:lstStyle/>
                    <a:p>
                      <a:pPr algn="ctr"/>
                      <a:r>
                        <a:rPr lang="en-US" sz="1400">
                          <a:solidFill>
                            <a:srgbClr val="B0BEC5"/>
                          </a:solidFill>
                        </a:rPr>
                        <a:t>Partial</a:t>
                      </a:r>
                    </a:p>
                  </a:txBody>
                  <a:tcPr anchor="ctr">
                    <a:solidFill>
                      <a:srgbClr val="162231"/>
                    </a:solidFill>
                  </a:tcPr>
                </a:tc>
                <a:extLst>
                  <a:ext uri="{0D108BD9-81ED-4DB2-BD59-A6C34878D82A}">
                    <a16:rowId xmlns:a16="http://schemas.microsoft.com/office/drawing/2014/main" val="3796834718"/>
                  </a:ext>
                </a:extLst>
              </a:tr>
              <a:tr h="603250">
                <a:tc>
                  <a:txBody>
                    <a:bodyPr/>
                    <a:lstStyle/>
                    <a:p>
                      <a:pPr algn="l"/>
                      <a:r>
                        <a:rPr lang="en-US" sz="1400" b="1">
                          <a:solidFill>
                            <a:srgbClr val="E8ECF1"/>
                          </a:solidFill>
                        </a:rPr>
                        <a:t>Handoff</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extLst>
                  <a:ext uri="{0D108BD9-81ED-4DB2-BD59-A6C34878D82A}">
                    <a16:rowId xmlns:a16="http://schemas.microsoft.com/office/drawing/2014/main" val="3268895655"/>
                  </a:ext>
                </a:extLst>
              </a:tr>
              <a:tr h="603250">
                <a:tc>
                  <a:txBody>
                    <a:bodyPr/>
                    <a:lstStyle/>
                    <a:p>
                      <a:pPr algn="l"/>
                      <a:r>
                        <a:rPr lang="en-US" sz="1400" b="1">
                          <a:solidFill>
                            <a:srgbClr val="E8ECF1"/>
                          </a:solidFill>
                        </a:rPr>
                        <a:t>Group Chat</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extLst>
                  <a:ext uri="{0D108BD9-81ED-4DB2-BD59-A6C34878D82A}">
                    <a16:rowId xmlns:a16="http://schemas.microsoft.com/office/drawing/2014/main" val="1016514119"/>
                  </a:ext>
                </a:extLst>
              </a:tr>
              <a:tr h="603250">
                <a:tc>
                  <a:txBody>
                    <a:bodyPr/>
                    <a:lstStyle/>
                    <a:p>
                      <a:pPr algn="l"/>
                      <a:r>
                        <a:rPr lang="en-US" sz="1400" b="1">
                          <a:solidFill>
                            <a:srgbClr val="E8ECF1"/>
                          </a:solidFill>
                        </a:rPr>
                        <a:t>Magentic</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extLst>
                  <a:ext uri="{0D108BD9-81ED-4DB2-BD59-A6C34878D82A}">
                    <a16:rowId xmlns:a16="http://schemas.microsoft.com/office/drawing/2014/main" val="2157678468"/>
                  </a:ext>
                </a:extLst>
              </a:tr>
              <a:tr h="603250">
                <a:tc>
                  <a:txBody>
                    <a:bodyPr/>
                    <a:lstStyle/>
                    <a:p>
                      <a:pPr algn="l"/>
                      <a:r>
                        <a:rPr lang="en-US" sz="1400" b="1">
                          <a:solidFill>
                            <a:srgbClr val="E8ECF1"/>
                          </a:solidFill>
                        </a:rPr>
                        <a:t>Graph/DAG</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tc>
                  <a:txBody>
                    <a:bodyPr/>
                    <a:lstStyle/>
                    <a:p>
                      <a:pPr algn="ctr"/>
                      <a:r>
                        <a:rPr lang="en-US" sz="1400">
                          <a:solidFill>
                            <a:srgbClr val="B0BEC5"/>
                          </a:solidFill>
                        </a:rPr>
                        <a:t>Exp.</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tc>
                  <a:txBody>
                    <a:bodyPr/>
                    <a:lstStyle/>
                    <a:p>
                      <a:pPr algn="ctr"/>
                      <a:r>
                        <a:rPr lang="en-US" sz="1400">
                          <a:solidFill>
                            <a:srgbClr val="B0BEC5"/>
                          </a:solidFill>
                        </a:rPr>
                        <a:t>✅</a:t>
                      </a:r>
                    </a:p>
                  </a:txBody>
                  <a:tcPr anchor="ctr">
                    <a:solidFill>
                      <a:srgbClr val="162231"/>
                    </a:solidFill>
                  </a:tcPr>
                </a:tc>
                <a:extLst>
                  <a:ext uri="{0D108BD9-81ED-4DB2-BD59-A6C34878D82A}">
                    <a16:rowId xmlns:a16="http://schemas.microsoft.com/office/drawing/2014/main" val="1577620456"/>
                  </a:ext>
                </a:extLst>
              </a:tr>
              <a:tr h="603250">
                <a:tc>
                  <a:txBody>
                    <a:bodyPr/>
                    <a:lstStyle/>
                    <a:p>
                      <a:pPr algn="l"/>
                      <a:r>
                        <a:rPr lang="en-US" sz="1400" b="1">
                          <a:solidFill>
                            <a:srgbClr val="E8ECF1"/>
                          </a:solidFill>
                        </a:rPr>
                        <a:t>HITL</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extLst>
                  <a:ext uri="{0D108BD9-81ED-4DB2-BD59-A6C34878D82A}">
                    <a16:rowId xmlns:a16="http://schemas.microsoft.com/office/drawing/2014/main" val="540386457"/>
                  </a:ext>
                </a:extLst>
              </a:tr>
            </a:tbl>
          </a:graphicData>
        </a:graphic>
      </p:graphicFrame>
      <p:pic>
        <p:nvPicPr>
          <p:cNvPr id="5" name="Graphic 5" descr="Library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49000" y="381000"/>
            <a:ext cx="762000" cy="762000"/>
          </a:xfrm>
          <a:prstGeom prst="rect">
            <a:avLst/>
          </a:prstGeom>
        </p:spPr>
      </p:pic>
    </p:spTree>
    <p:extLst>
      <p:ext uri="{BB962C8B-B14F-4D97-AF65-F5344CB8AC3E}">
        <p14:creationId xmlns:p14="http://schemas.microsoft.com/office/powerpoint/2010/main" val="713930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E7A53-3107-0D36-CF3B-1E491558224B}"/>
              </a:ext>
            </a:extLst>
          </p:cNvPr>
          <p:cNvSpPr>
            <a:spLocks noGrp="1"/>
          </p:cNvSpPr>
          <p:nvPr>
            <p:ph type="title"/>
          </p:nvPr>
        </p:nvSpPr>
        <p:spPr>
          <a:xfrm>
            <a:off x="457200" y="254000"/>
            <a:ext cx="10160000" cy="914400"/>
          </a:xfrm>
        </p:spPr>
        <p:txBody>
          <a:bodyPr>
            <a:normAutofit/>
          </a:bodyPr>
          <a:lstStyle/>
          <a:p>
            <a:r>
              <a:rPr lang="en-US" sz="2800"/>
              <a:t>Azure AI Foundry Compatibility</a:t>
            </a:r>
          </a:p>
        </p:txBody>
      </p:sp>
      <p:sp>
        <p:nvSpPr>
          <p:cNvPr id="3" name="Arrow: Chevron 2">
            <a:extLst>
              <a:ext uri="{FF2B5EF4-FFF2-40B4-BE49-F238E27FC236}">
                <a16:creationId xmlns:a16="http://schemas.microsoft.com/office/drawing/2014/main" id="{F1CD77EE-432A-4E91-9238-AEA1618864D8}"/>
              </a:ext>
            </a:extLst>
          </p:cNvPr>
          <p:cNvSpPr/>
          <p:nvPr/>
        </p:nvSpPr>
        <p:spPr>
          <a:xfrm>
            <a:off x="609600" y="1651000"/>
            <a:ext cx="3683000" cy="1016000"/>
          </a:xfrm>
          <a:prstGeom prst="chevron">
            <a:avLst/>
          </a:prstGeom>
          <a:solidFill>
            <a:srgbClr val="81C78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chemeClr val="tx1"/>
              </a:solidFill>
            </a:endParaRPr>
          </a:p>
        </p:txBody>
      </p:sp>
      <p:sp>
        <p:nvSpPr>
          <p:cNvPr id="4" name="TextBox 3">
            <a:extLst>
              <a:ext uri="{FF2B5EF4-FFF2-40B4-BE49-F238E27FC236}">
                <a16:creationId xmlns:a16="http://schemas.microsoft.com/office/drawing/2014/main" id="{D3A18381-9BF1-4BA3-9431-4BE68DFE629A}"/>
              </a:ext>
            </a:extLst>
          </p:cNvPr>
          <p:cNvSpPr txBox="1"/>
          <p:nvPr/>
        </p:nvSpPr>
        <p:spPr>
          <a:xfrm>
            <a:off x="990600" y="1676400"/>
            <a:ext cx="2794000" cy="381000"/>
          </a:xfrm>
          <a:prstGeom prst="rect">
            <a:avLst/>
          </a:prstGeom>
          <a:noFill/>
        </p:spPr>
        <p:txBody>
          <a:bodyPr vertOverflow="overflow" vert="horz" wrap="square" rtlCol="0" anchor="t">
            <a:spAutoFit/>
          </a:bodyPr>
          <a:lstStyle/>
          <a:p>
            <a:pPr algn="l"/>
            <a:r>
              <a:rPr lang="en-US" sz="1600" b="1">
                <a:solidFill>
                  <a:srgbClr val="0F1923"/>
                </a:solidFill>
              </a:rPr>
              <a:t>Prompt Agents</a:t>
            </a:r>
          </a:p>
        </p:txBody>
      </p:sp>
      <p:sp>
        <p:nvSpPr>
          <p:cNvPr id="5" name="TextBox 4">
            <a:extLst>
              <a:ext uri="{FF2B5EF4-FFF2-40B4-BE49-F238E27FC236}">
                <a16:creationId xmlns:a16="http://schemas.microsoft.com/office/drawing/2014/main" id="{86EC290F-7C6F-4CE8-A30D-22CABEE8EF22}"/>
              </a:ext>
            </a:extLst>
          </p:cNvPr>
          <p:cNvSpPr txBox="1"/>
          <p:nvPr/>
        </p:nvSpPr>
        <p:spPr>
          <a:xfrm>
            <a:off x="990600" y="2032000"/>
            <a:ext cx="2794000" cy="533400"/>
          </a:xfrm>
          <a:prstGeom prst="rect">
            <a:avLst/>
          </a:prstGeom>
          <a:noFill/>
        </p:spPr>
        <p:txBody>
          <a:bodyPr vertOverflow="overflow" vert="horz" wrap="square" rtlCol="0" anchor="t">
            <a:spAutoFit/>
          </a:bodyPr>
          <a:lstStyle/>
          <a:p>
            <a:pPr algn="l"/>
            <a:r>
              <a:rPr lang="en-US" sz="1400">
                <a:solidFill>
                  <a:srgbClr val="0F1923"/>
                </a:solidFill>
              </a:rPr>
              <a:t>No code
Prototyping</a:t>
            </a:r>
          </a:p>
        </p:txBody>
      </p:sp>
      <p:sp>
        <p:nvSpPr>
          <p:cNvPr id="6" name="Arrow: Chevron 5">
            <a:extLst>
              <a:ext uri="{FF2B5EF4-FFF2-40B4-BE49-F238E27FC236}">
                <a16:creationId xmlns:a16="http://schemas.microsoft.com/office/drawing/2014/main" id="{5920295F-EEC3-41C1-B154-E2B8FD795386}"/>
              </a:ext>
            </a:extLst>
          </p:cNvPr>
          <p:cNvSpPr/>
          <p:nvPr/>
        </p:nvSpPr>
        <p:spPr>
          <a:xfrm>
            <a:off x="4191000" y="1651000"/>
            <a:ext cx="3683000" cy="1016000"/>
          </a:xfrm>
          <a:prstGeom prst="chevron">
            <a:avLst/>
          </a:prstGeom>
          <a:solidFill>
            <a:srgbClr val="FFB7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chemeClr val="tx1"/>
              </a:solidFill>
            </a:endParaRPr>
          </a:p>
        </p:txBody>
      </p:sp>
      <p:sp>
        <p:nvSpPr>
          <p:cNvPr id="7" name="TextBox 6">
            <a:extLst>
              <a:ext uri="{FF2B5EF4-FFF2-40B4-BE49-F238E27FC236}">
                <a16:creationId xmlns:a16="http://schemas.microsoft.com/office/drawing/2014/main" id="{DFD48C91-9FB0-449A-A66C-BD0845124B6C}"/>
              </a:ext>
            </a:extLst>
          </p:cNvPr>
          <p:cNvSpPr txBox="1"/>
          <p:nvPr/>
        </p:nvSpPr>
        <p:spPr>
          <a:xfrm>
            <a:off x="4572000" y="1676400"/>
            <a:ext cx="2794000" cy="381000"/>
          </a:xfrm>
          <a:prstGeom prst="rect">
            <a:avLst/>
          </a:prstGeom>
          <a:noFill/>
        </p:spPr>
        <p:txBody>
          <a:bodyPr vertOverflow="overflow" vert="horz" wrap="square" rtlCol="0" anchor="t">
            <a:spAutoFit/>
          </a:bodyPr>
          <a:lstStyle/>
          <a:p>
            <a:pPr algn="l"/>
            <a:r>
              <a:rPr lang="en-US" sz="1600" b="1">
                <a:solidFill>
                  <a:srgbClr val="0F1923"/>
                </a:solidFill>
              </a:rPr>
              <a:t>Workflow Agents</a:t>
            </a:r>
          </a:p>
        </p:txBody>
      </p:sp>
      <p:sp>
        <p:nvSpPr>
          <p:cNvPr id="8" name="TextBox 7">
            <a:extLst>
              <a:ext uri="{FF2B5EF4-FFF2-40B4-BE49-F238E27FC236}">
                <a16:creationId xmlns:a16="http://schemas.microsoft.com/office/drawing/2014/main" id="{90D6DAE6-F1A9-4FA6-A21B-C7721D923E0B}"/>
              </a:ext>
            </a:extLst>
          </p:cNvPr>
          <p:cNvSpPr txBox="1"/>
          <p:nvPr/>
        </p:nvSpPr>
        <p:spPr>
          <a:xfrm>
            <a:off x="4572000" y="2032000"/>
            <a:ext cx="2794000" cy="533400"/>
          </a:xfrm>
          <a:prstGeom prst="rect">
            <a:avLst/>
          </a:prstGeom>
          <a:noFill/>
        </p:spPr>
        <p:txBody>
          <a:bodyPr vertOverflow="overflow" vert="horz" wrap="square" rtlCol="0" anchor="t">
            <a:spAutoFit/>
          </a:bodyPr>
          <a:lstStyle/>
          <a:p>
            <a:pPr algn="l"/>
            <a:r>
              <a:rPr lang="en-US" sz="1400">
                <a:solidFill>
                  <a:srgbClr val="0F1923"/>
                </a:solidFill>
              </a:rPr>
              <a:t>YAML optional
Multi-step automation</a:t>
            </a:r>
          </a:p>
        </p:txBody>
      </p:sp>
      <p:sp>
        <p:nvSpPr>
          <p:cNvPr id="9" name="Arrow: Chevron 8">
            <a:extLst>
              <a:ext uri="{FF2B5EF4-FFF2-40B4-BE49-F238E27FC236}">
                <a16:creationId xmlns:a16="http://schemas.microsoft.com/office/drawing/2014/main" id="{BA65497F-607F-4009-AC7C-9CD5AA5DB510}"/>
              </a:ext>
            </a:extLst>
          </p:cNvPr>
          <p:cNvSpPr/>
          <p:nvPr/>
        </p:nvSpPr>
        <p:spPr>
          <a:xfrm>
            <a:off x="7772400" y="1651000"/>
            <a:ext cx="3683000" cy="1016000"/>
          </a:xfrm>
          <a:prstGeom prst="chevron">
            <a:avLst/>
          </a:prstGeom>
          <a:solidFill>
            <a:srgbClr val="4FC3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chemeClr val="tx1"/>
              </a:solidFill>
            </a:endParaRPr>
          </a:p>
        </p:txBody>
      </p:sp>
      <p:sp>
        <p:nvSpPr>
          <p:cNvPr id="10" name="TextBox 9">
            <a:extLst>
              <a:ext uri="{FF2B5EF4-FFF2-40B4-BE49-F238E27FC236}">
                <a16:creationId xmlns:a16="http://schemas.microsoft.com/office/drawing/2014/main" id="{2A8B936D-DC41-47FA-8510-8B113835EF99}"/>
              </a:ext>
            </a:extLst>
          </p:cNvPr>
          <p:cNvSpPr txBox="1"/>
          <p:nvPr/>
        </p:nvSpPr>
        <p:spPr>
          <a:xfrm>
            <a:off x="8153400" y="1676400"/>
            <a:ext cx="2794000" cy="381000"/>
          </a:xfrm>
          <a:prstGeom prst="rect">
            <a:avLst/>
          </a:prstGeom>
          <a:noFill/>
        </p:spPr>
        <p:txBody>
          <a:bodyPr vertOverflow="overflow" vert="horz" wrap="square" rtlCol="0" anchor="t">
            <a:spAutoFit/>
          </a:bodyPr>
          <a:lstStyle/>
          <a:p>
            <a:pPr algn="l"/>
            <a:r>
              <a:rPr lang="en-US" sz="1600" b="1">
                <a:solidFill>
                  <a:srgbClr val="0F1923"/>
                </a:solidFill>
              </a:rPr>
              <a:t>Hosted Agents</a:t>
            </a:r>
          </a:p>
        </p:txBody>
      </p:sp>
      <p:sp>
        <p:nvSpPr>
          <p:cNvPr id="11" name="TextBox 10">
            <a:extLst>
              <a:ext uri="{FF2B5EF4-FFF2-40B4-BE49-F238E27FC236}">
                <a16:creationId xmlns:a16="http://schemas.microsoft.com/office/drawing/2014/main" id="{0AC5CC43-1A80-4E9B-BC40-3C3357A94F0E}"/>
              </a:ext>
            </a:extLst>
          </p:cNvPr>
          <p:cNvSpPr txBox="1"/>
          <p:nvPr/>
        </p:nvSpPr>
        <p:spPr>
          <a:xfrm>
            <a:off x="8153400" y="2032000"/>
            <a:ext cx="2794000" cy="533400"/>
          </a:xfrm>
          <a:prstGeom prst="rect">
            <a:avLst/>
          </a:prstGeom>
          <a:noFill/>
        </p:spPr>
        <p:txBody>
          <a:bodyPr vertOverflow="overflow" vert="horz" wrap="square" rtlCol="0" anchor="t">
            <a:spAutoFit/>
          </a:bodyPr>
          <a:lstStyle/>
          <a:p>
            <a:pPr algn="l"/>
            <a:r>
              <a:rPr lang="en-US" sz="1400">
                <a:solidFill>
                  <a:srgbClr val="0F1923"/>
                </a:solidFill>
              </a:rPr>
              <a:t>Containerized
Full control</a:t>
            </a:r>
          </a:p>
        </p:txBody>
      </p:sp>
      <p:sp>
        <p:nvSpPr>
          <p:cNvPr id="12" name="TextBox 11">
            <a:extLst>
              <a:ext uri="{FF2B5EF4-FFF2-40B4-BE49-F238E27FC236}">
                <a16:creationId xmlns:a16="http://schemas.microsoft.com/office/drawing/2014/main" id="{03C93AA7-080A-4C20-AD02-B6DE3260EF4C}"/>
              </a:ext>
            </a:extLst>
          </p:cNvPr>
          <p:cNvSpPr txBox="1"/>
          <p:nvPr/>
        </p:nvSpPr>
        <p:spPr>
          <a:xfrm>
            <a:off x="609600" y="1371600"/>
            <a:ext cx="3810000" cy="279400"/>
          </a:xfrm>
          <a:prstGeom prst="rect">
            <a:avLst/>
          </a:prstGeom>
          <a:noFill/>
        </p:spPr>
        <p:txBody>
          <a:bodyPr vertOverflow="overflow" vert="horz" wrap="square" rtlCol="0" anchor="t">
            <a:spAutoFit/>
          </a:bodyPr>
          <a:lstStyle/>
          <a:p>
            <a:pPr algn="l"/>
            <a:r>
              <a:rPr lang="en-US" sz="1400" b="1">
                <a:solidFill>
                  <a:srgbClr val="78909C"/>
                </a:solidFill>
              </a:rPr>
              <a:t>Three-Tier Graduation Path</a:t>
            </a:r>
          </a:p>
        </p:txBody>
      </p:sp>
      <p:graphicFrame>
        <p:nvGraphicFramePr>
          <p:cNvPr id="14" name="Table 13">
            <a:extLst>
              <a:ext uri="{FF2B5EF4-FFF2-40B4-BE49-F238E27FC236}">
                <a16:creationId xmlns:a16="http://schemas.microsoft.com/office/drawing/2014/main" id="{FC7EF15B-DAE2-4712-9255-BCC342F691CB}"/>
              </a:ext>
            </a:extLst>
          </p:cNvPr>
          <p:cNvGraphicFramePr>
            <a:graphicFrameLocks noGrp="1"/>
          </p:cNvGraphicFramePr>
          <p:nvPr/>
        </p:nvGraphicFramePr>
        <p:xfrm>
          <a:off x="457200" y="3048000"/>
          <a:ext cx="11277600" cy="30480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1223571925"/>
                    </a:ext>
                  </a:extLst>
                </a:gridCol>
                <a:gridCol w="2819400">
                  <a:extLst>
                    <a:ext uri="{9D8B030D-6E8A-4147-A177-3AD203B41FA5}">
                      <a16:colId xmlns:a16="http://schemas.microsoft.com/office/drawing/2014/main" val="1488458408"/>
                    </a:ext>
                  </a:extLst>
                </a:gridCol>
                <a:gridCol w="2819400">
                  <a:extLst>
                    <a:ext uri="{9D8B030D-6E8A-4147-A177-3AD203B41FA5}">
                      <a16:colId xmlns:a16="http://schemas.microsoft.com/office/drawing/2014/main" val="443449023"/>
                    </a:ext>
                  </a:extLst>
                </a:gridCol>
                <a:gridCol w="2819400">
                  <a:extLst>
                    <a:ext uri="{9D8B030D-6E8A-4147-A177-3AD203B41FA5}">
                      <a16:colId xmlns:a16="http://schemas.microsoft.com/office/drawing/2014/main" val="891346899"/>
                    </a:ext>
                  </a:extLst>
                </a:gridCol>
              </a:tblGrid>
              <a:tr h="609600">
                <a:tc>
                  <a:txBody>
                    <a:bodyPr/>
                    <a:lstStyle/>
                    <a:p>
                      <a:pPr algn="ctr"/>
                      <a:r>
                        <a:rPr lang="en-US" sz="1400" b="1">
                          <a:solidFill>
                            <a:srgbClr val="4FC3F7"/>
                          </a:solidFill>
                        </a:rPr>
                        <a:t>Feature</a:t>
                      </a:r>
                    </a:p>
                  </a:txBody>
                  <a:tcPr anchor="ctr">
                    <a:solidFill>
                      <a:srgbClr val="1A2736"/>
                    </a:solidFill>
                  </a:tcPr>
                </a:tc>
                <a:tc>
                  <a:txBody>
                    <a:bodyPr/>
                    <a:lstStyle/>
                    <a:p>
                      <a:pPr algn="ctr"/>
                      <a:r>
                        <a:rPr lang="en-US" sz="1400" b="1">
                          <a:solidFill>
                            <a:srgbClr val="4FC3F7"/>
                          </a:solidFill>
                        </a:rPr>
                        <a:t>Semantic Kernel</a:t>
                      </a:r>
                    </a:p>
                  </a:txBody>
                  <a:tcPr anchor="ctr">
                    <a:solidFill>
                      <a:srgbClr val="1A2736"/>
                    </a:solidFill>
                  </a:tcPr>
                </a:tc>
                <a:tc>
                  <a:txBody>
                    <a:bodyPr/>
                    <a:lstStyle/>
                    <a:p>
                      <a:pPr algn="ctr"/>
                      <a:r>
                        <a:rPr lang="en-US" sz="1400" b="1">
                          <a:solidFill>
                            <a:srgbClr val="4FC3F7"/>
                          </a:solidFill>
                        </a:rPr>
                        <a:t>Agent Framework</a:t>
                      </a:r>
                    </a:p>
                  </a:txBody>
                  <a:tcPr anchor="ctr">
                    <a:solidFill>
                      <a:srgbClr val="1A2736"/>
                    </a:solidFill>
                  </a:tcPr>
                </a:tc>
                <a:tc>
                  <a:txBody>
                    <a:bodyPr/>
                    <a:lstStyle/>
                    <a:p>
                      <a:pPr algn="ctr"/>
                      <a:r>
                        <a:rPr lang="en-US" sz="1400" b="1">
                          <a:solidFill>
                            <a:srgbClr val="4FC3F7"/>
                          </a:solidFill>
                        </a:rPr>
                        <a:t>LangChain</a:t>
                      </a:r>
                    </a:p>
                  </a:txBody>
                  <a:tcPr anchor="ctr">
                    <a:solidFill>
                      <a:srgbClr val="1A2736"/>
                    </a:solidFill>
                  </a:tcPr>
                </a:tc>
                <a:extLst>
                  <a:ext uri="{0D108BD9-81ED-4DB2-BD59-A6C34878D82A}">
                    <a16:rowId xmlns:a16="http://schemas.microsoft.com/office/drawing/2014/main" val="514056570"/>
                  </a:ext>
                </a:extLst>
              </a:tr>
              <a:tr h="609600">
                <a:tc>
                  <a:txBody>
                    <a:bodyPr/>
                    <a:lstStyle/>
                    <a:p>
                      <a:pPr algn="l"/>
                      <a:r>
                        <a:rPr lang="en-US" sz="1400" b="1">
                          <a:solidFill>
                            <a:srgbClr val="E8ECF1"/>
                          </a:solidFill>
                        </a:rPr>
                        <a:t>Azure OpenAI Models</a:t>
                      </a:r>
                    </a:p>
                  </a:txBody>
                  <a:tcPr anchor="ctr">
                    <a:solidFill>
                      <a:srgbClr val="1A2736"/>
                    </a:solidFill>
                  </a:tcPr>
                </a:tc>
                <a:tc>
                  <a:txBody>
                    <a:bodyPr/>
                    <a:lstStyle/>
                    <a:p>
                      <a:pPr algn="ctr"/>
                      <a:r>
                        <a:rPr lang="en-US" sz="1400">
                          <a:solidFill>
                            <a:srgbClr val="B0BEC5"/>
                          </a:solidFill>
                        </a:rPr>
                        <a:t>Full</a:t>
                      </a:r>
                    </a:p>
                  </a:txBody>
                  <a:tcPr anchor="ctr">
                    <a:solidFill>
                      <a:srgbClr val="1A2736"/>
                    </a:solidFill>
                  </a:tcPr>
                </a:tc>
                <a:tc>
                  <a:txBody>
                    <a:bodyPr/>
                    <a:lstStyle/>
                    <a:p>
                      <a:pPr algn="ctr"/>
                      <a:r>
                        <a:rPr lang="en-US" sz="1400">
                          <a:solidFill>
                            <a:srgbClr val="B0BEC5"/>
                          </a:solidFill>
                        </a:rPr>
                        <a:t>Full</a:t>
                      </a:r>
                    </a:p>
                  </a:txBody>
                  <a:tcPr anchor="ctr">
                    <a:solidFill>
                      <a:srgbClr val="1A2736"/>
                    </a:solidFill>
                  </a:tcPr>
                </a:tc>
                <a:tc>
                  <a:txBody>
                    <a:bodyPr/>
                    <a:lstStyle/>
                    <a:p>
                      <a:pPr algn="ctr"/>
                      <a:r>
                        <a:rPr lang="en-US" sz="1400">
                          <a:solidFill>
                            <a:srgbClr val="B0BEC5"/>
                          </a:solidFill>
                        </a:rPr>
                        <a:t>Full</a:t>
                      </a:r>
                    </a:p>
                  </a:txBody>
                  <a:tcPr anchor="ctr">
                    <a:solidFill>
                      <a:srgbClr val="1A2736"/>
                    </a:solidFill>
                  </a:tcPr>
                </a:tc>
                <a:extLst>
                  <a:ext uri="{0D108BD9-81ED-4DB2-BD59-A6C34878D82A}">
                    <a16:rowId xmlns:a16="http://schemas.microsoft.com/office/drawing/2014/main" val="4101146977"/>
                  </a:ext>
                </a:extLst>
              </a:tr>
              <a:tr h="609600">
                <a:tc>
                  <a:txBody>
                    <a:bodyPr/>
                    <a:lstStyle/>
                    <a:p>
                      <a:pPr algn="l"/>
                      <a:r>
                        <a:rPr lang="en-US" sz="1400" b="1">
                          <a:solidFill>
                            <a:srgbClr val="E8ECF1"/>
                          </a:solidFill>
                        </a:rPr>
                        <a:t>Foundry Agent Service</a:t>
                      </a:r>
                    </a:p>
                  </a:txBody>
                  <a:tcPr anchor="ctr">
                    <a:solidFill>
                      <a:srgbClr val="162231"/>
                    </a:solidFill>
                  </a:tcPr>
                </a:tc>
                <a:tc>
                  <a:txBody>
                    <a:bodyPr/>
                    <a:lstStyle/>
                    <a:p>
                      <a:pPr algn="ctr"/>
                      <a:r>
                        <a:rPr lang="en-US" sz="1400">
                          <a:solidFill>
                            <a:srgbClr val="B0BEC5"/>
                          </a:solidFill>
                        </a:rPr>
                        <a:t>✅ AzureAIAgent</a:t>
                      </a:r>
                    </a:p>
                  </a:txBody>
                  <a:tcPr anchor="ctr">
                    <a:solidFill>
                      <a:srgbClr val="162231"/>
                    </a:solidFill>
                  </a:tcPr>
                </a:tc>
                <a:tc>
                  <a:txBody>
                    <a:bodyPr/>
                    <a:lstStyle/>
                    <a:p>
                      <a:pPr algn="ctr"/>
                      <a:r>
                        <a:rPr lang="en-US" sz="1400">
                          <a:solidFill>
                            <a:srgbClr val="B0BEC5"/>
                          </a:solidFill>
                        </a:rPr>
                        <a:t>✅ AzureAIAgentClient</a:t>
                      </a:r>
                    </a:p>
                  </a:txBody>
                  <a:tcPr anchor="ctr">
                    <a:solidFill>
                      <a:srgbClr val="162231"/>
                    </a:solidFill>
                  </a:tcPr>
                </a:tc>
                <a:tc>
                  <a:txBody>
                    <a:bodyPr/>
                    <a:lstStyle/>
                    <a:p>
                      <a:pPr algn="ctr"/>
                      <a:r>
                        <a:rPr lang="en-US" sz="1400">
                          <a:solidFill>
                            <a:srgbClr val="B0BEC5"/>
                          </a:solidFill>
                        </a:rPr>
                        <a:t>✅ AgentServiceFactory</a:t>
                      </a:r>
                    </a:p>
                  </a:txBody>
                  <a:tcPr anchor="ctr">
                    <a:solidFill>
                      <a:srgbClr val="162231"/>
                    </a:solidFill>
                  </a:tcPr>
                </a:tc>
                <a:extLst>
                  <a:ext uri="{0D108BD9-81ED-4DB2-BD59-A6C34878D82A}">
                    <a16:rowId xmlns:a16="http://schemas.microsoft.com/office/drawing/2014/main" val="1003859234"/>
                  </a:ext>
                </a:extLst>
              </a:tr>
              <a:tr h="609600">
                <a:tc>
                  <a:txBody>
                    <a:bodyPr/>
                    <a:lstStyle/>
                    <a:p>
                      <a:pPr algn="l"/>
                      <a:r>
                        <a:rPr lang="en-US" sz="1400" b="1">
                          <a:solidFill>
                            <a:srgbClr val="E8ECF1"/>
                          </a:solidFill>
                        </a:rPr>
                        <a:t>Hosted Deployment</a:t>
                      </a:r>
                    </a:p>
                  </a:txBody>
                  <a:tcPr anchor="ctr">
                    <a:solidFill>
                      <a:srgbClr val="1A2736"/>
                    </a:solidFill>
                  </a:tcPr>
                </a:tc>
                <a:tc>
                  <a:txBody>
                    <a:bodyPr/>
                    <a:lstStyle/>
                    <a:p>
                      <a:pPr algn="ctr"/>
                      <a:r>
                        <a:rPr lang="en-US" sz="1400">
                          <a:solidFill>
                            <a:srgbClr val="B0BEC5"/>
                          </a:solidFill>
                        </a:rPr>
                        <a:t>—</a:t>
                      </a:r>
                    </a:p>
                  </a:txBody>
                  <a:tcPr anchor="ctr">
                    <a:solidFill>
                      <a:srgbClr val="1A2736"/>
                    </a:solidFill>
                  </a:tcPr>
                </a:tc>
                <a:tc>
                  <a:txBody>
                    <a:bodyPr/>
                    <a:lstStyle/>
                    <a:p>
                      <a:pPr algn="ctr"/>
                      <a:r>
                        <a:rPr lang="en-US" sz="1400">
                          <a:solidFill>
                            <a:srgbClr val="B0BEC5"/>
                          </a:solidFill>
                        </a:rPr>
                        <a:t>✅ Python, C#</a:t>
                      </a:r>
                    </a:p>
                  </a:txBody>
                  <a:tcPr anchor="ctr">
                    <a:solidFill>
                      <a:srgbClr val="1A2736"/>
                    </a:solidFill>
                  </a:tcPr>
                </a:tc>
                <a:tc>
                  <a:txBody>
                    <a:bodyPr/>
                    <a:lstStyle/>
                    <a:p>
                      <a:pPr algn="ctr"/>
                      <a:r>
                        <a:rPr lang="en-US" sz="1400">
                          <a:solidFill>
                            <a:srgbClr val="B0BEC5"/>
                          </a:solidFill>
                        </a:rPr>
                        <a:t>✅ Python only</a:t>
                      </a:r>
                    </a:p>
                  </a:txBody>
                  <a:tcPr anchor="ctr">
                    <a:solidFill>
                      <a:srgbClr val="1A2736"/>
                    </a:solidFill>
                  </a:tcPr>
                </a:tc>
                <a:extLst>
                  <a:ext uri="{0D108BD9-81ED-4DB2-BD59-A6C34878D82A}">
                    <a16:rowId xmlns:a16="http://schemas.microsoft.com/office/drawing/2014/main" val="826716576"/>
                  </a:ext>
                </a:extLst>
              </a:tr>
              <a:tr h="609600">
                <a:tc>
                  <a:txBody>
                    <a:bodyPr/>
                    <a:lstStyle/>
                    <a:p>
                      <a:pPr algn="l"/>
                      <a:r>
                        <a:rPr lang="en-US" sz="1400" b="1">
                          <a:solidFill>
                            <a:srgbClr val="E8ECF1"/>
                          </a:solidFill>
                        </a:rPr>
                        <a:t>Observability</a:t>
                      </a:r>
                    </a:p>
                  </a:txBody>
                  <a:tcPr anchor="ctr">
                    <a:solidFill>
                      <a:srgbClr val="162231"/>
                    </a:solidFill>
                  </a:tcPr>
                </a:tc>
                <a:tc>
                  <a:txBody>
                    <a:bodyPr/>
                    <a:lstStyle/>
                    <a:p>
                      <a:pPr algn="ctr"/>
                      <a:r>
                        <a:rPr lang="en-US" sz="1400">
                          <a:solidFill>
                            <a:srgbClr val="B0BEC5"/>
                          </a:solidFill>
                        </a:rPr>
                        <a:t>OpenTelemetry</a:t>
                      </a:r>
                    </a:p>
                  </a:txBody>
                  <a:tcPr anchor="ctr">
                    <a:solidFill>
                      <a:srgbClr val="162231"/>
                    </a:solidFill>
                  </a:tcPr>
                </a:tc>
                <a:tc>
                  <a:txBody>
                    <a:bodyPr/>
                    <a:lstStyle/>
                    <a:p>
                      <a:pPr algn="ctr"/>
                      <a:r>
                        <a:rPr lang="en-US" sz="1400">
                          <a:solidFill>
                            <a:srgbClr val="B0BEC5"/>
                          </a:solidFill>
                        </a:rPr>
                        <a:t>OpenTelemetry</a:t>
                      </a:r>
                    </a:p>
                  </a:txBody>
                  <a:tcPr anchor="ctr">
                    <a:solidFill>
                      <a:srgbClr val="162231"/>
                    </a:solidFill>
                  </a:tcPr>
                </a:tc>
                <a:tc>
                  <a:txBody>
                    <a:bodyPr/>
                    <a:lstStyle/>
                    <a:p>
                      <a:pPr algn="ctr"/>
                      <a:r>
                        <a:rPr lang="en-US" sz="1400">
                          <a:solidFill>
                            <a:srgbClr val="B0BEC5"/>
                          </a:solidFill>
                        </a:rPr>
                        <a:t>App Insights</a:t>
                      </a:r>
                    </a:p>
                  </a:txBody>
                  <a:tcPr anchor="ctr">
                    <a:solidFill>
                      <a:srgbClr val="162231"/>
                    </a:solidFill>
                  </a:tcPr>
                </a:tc>
                <a:extLst>
                  <a:ext uri="{0D108BD9-81ED-4DB2-BD59-A6C34878D82A}">
                    <a16:rowId xmlns:a16="http://schemas.microsoft.com/office/drawing/2014/main" val="1874645580"/>
                  </a:ext>
                </a:extLst>
              </a:tr>
            </a:tbl>
          </a:graphicData>
        </a:graphic>
      </p:graphicFrame>
      <p:pic>
        <p:nvPicPr>
          <p:cNvPr id="15" name="Graphic 15" descr="Cloud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49000" y="381000"/>
            <a:ext cx="762000" cy="762000"/>
          </a:xfrm>
          <a:prstGeom prst="rect">
            <a:avLst/>
          </a:prstGeom>
        </p:spPr>
      </p:pic>
    </p:spTree>
    <p:extLst>
      <p:ext uri="{BB962C8B-B14F-4D97-AF65-F5344CB8AC3E}">
        <p14:creationId xmlns:p14="http://schemas.microsoft.com/office/powerpoint/2010/main" val="2238824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7E5B7551-AAE6-488A-B104-D62E0163AE54}"/>
              </a:ext>
            </a:extLst>
          </p:cNvPr>
          <p:cNvSpPr txBox="1"/>
          <p:nvPr/>
        </p:nvSpPr>
        <p:spPr>
          <a:xfrm>
            <a:off x="457200" y="254000"/>
            <a:ext cx="10160000" cy="825500"/>
          </a:xfrm>
          <a:prstGeom prst="rect">
            <a:avLst/>
          </a:prstGeom>
          <a:noFill/>
        </p:spPr>
        <p:txBody>
          <a:bodyPr vertOverflow="overflow" vert="horz" wrap="square" rtlCol="0" anchor="ctr" anchorCtr="0">
            <a:spAutoFit/>
          </a:bodyPr>
          <a:lstStyle/>
          <a:p>
            <a:pPr algn="l"/>
            <a:r>
              <a:rPr lang="en-US" sz="2800">
                <a:solidFill>
                  <a:srgbClr val="FFFFFF"/>
                </a:solidFill>
              </a:rPr>
              <a:t>Azure AI Foundry — Workflow Agents</a:t>
            </a:r>
          </a:p>
        </p:txBody>
      </p:sp>
      <p:sp>
        <p:nvSpPr>
          <p:cNvPr id="27" name="TextBox 26">
            <a:extLst>
              <a:ext uri="{FF2B5EF4-FFF2-40B4-BE49-F238E27FC236}">
                <a16:creationId xmlns:a16="http://schemas.microsoft.com/office/drawing/2014/main" id="{805770B5-8A4E-42E2-B8B6-8C9DD92A7212}"/>
              </a:ext>
            </a:extLst>
          </p:cNvPr>
          <p:cNvSpPr txBox="1"/>
          <p:nvPr/>
        </p:nvSpPr>
        <p:spPr>
          <a:xfrm>
            <a:off x="457200" y="1079500"/>
            <a:ext cx="7620000" cy="330200"/>
          </a:xfrm>
          <a:prstGeom prst="rect">
            <a:avLst/>
          </a:prstGeom>
          <a:noFill/>
        </p:spPr>
        <p:txBody>
          <a:bodyPr vertOverflow="overflow" vert="horz" wrap="square" rtlCol="0" anchor="t">
            <a:spAutoFit/>
          </a:bodyPr>
          <a:lstStyle/>
          <a:p>
            <a:pPr algn="l"/>
            <a:r>
              <a:rPr lang="en-US" sz="1400">
                <a:solidFill>
                  <a:srgbClr val="B0BEC5"/>
                </a:solidFill>
              </a:rPr>
              <a:t>Declarative multi-agent orchestration without code (Preview)</a:t>
            </a:r>
          </a:p>
        </p:txBody>
      </p:sp>
      <p:sp>
        <p:nvSpPr>
          <p:cNvPr id="28" name="TextBox 27">
            <a:extLst>
              <a:ext uri="{FF2B5EF4-FFF2-40B4-BE49-F238E27FC236}">
                <a16:creationId xmlns:a16="http://schemas.microsoft.com/office/drawing/2014/main" id="{CE3BCB43-91AA-45BD-AAC6-D826E7BB89F4}"/>
              </a:ext>
            </a:extLst>
          </p:cNvPr>
          <p:cNvSpPr txBox="1"/>
          <p:nvPr/>
        </p:nvSpPr>
        <p:spPr>
          <a:xfrm>
            <a:off x="609600" y="1524000"/>
            <a:ext cx="5461000" cy="355600"/>
          </a:xfrm>
          <a:prstGeom prst="rect">
            <a:avLst/>
          </a:prstGeom>
          <a:noFill/>
        </p:spPr>
        <p:txBody>
          <a:bodyPr vertOverflow="overflow" vert="horz" wrap="square" rtlCol="0" anchor="t">
            <a:spAutoFit/>
          </a:bodyPr>
          <a:lstStyle/>
          <a:p>
            <a:pPr algn="l"/>
            <a:r>
              <a:rPr lang="en-US" sz="1600" b="1">
                <a:solidFill>
                  <a:srgbClr val="4FC3F7"/>
                </a:solidFill>
              </a:rPr>
              <a:t>How They Work</a:t>
            </a:r>
          </a:p>
        </p:txBody>
      </p:sp>
      <p:sp>
        <p:nvSpPr>
          <p:cNvPr id="29" name="Rectangle: Rounded Corners 28">
            <a:extLst>
              <a:ext uri="{FF2B5EF4-FFF2-40B4-BE49-F238E27FC236}">
                <a16:creationId xmlns:a16="http://schemas.microsoft.com/office/drawing/2014/main" id="{9E4115DA-FF5B-4572-B356-EA1D6AEA4420}"/>
              </a:ext>
            </a:extLst>
          </p:cNvPr>
          <p:cNvSpPr/>
          <p:nvPr/>
        </p:nvSpPr>
        <p:spPr>
          <a:xfrm>
            <a:off x="609600" y="1930400"/>
            <a:ext cx="5461000" cy="1270000"/>
          </a:xfrm>
          <a:prstGeom prst="roundRect">
            <a:avLst/>
          </a:prstGeom>
          <a:solidFill>
            <a:srgbClr val="1A2736"/>
          </a:solidFill>
          <a:ln w="12700" cap="flat" cmpd="sng" algn="ctr">
            <a:solidFill>
              <a:srgbClr val="2A3A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29">
            <a:extLst>
              <a:ext uri="{FF2B5EF4-FFF2-40B4-BE49-F238E27FC236}">
                <a16:creationId xmlns:a16="http://schemas.microsoft.com/office/drawing/2014/main" id="{64FAD3B4-B672-46E9-9C3D-FD5D5DF4189E}"/>
              </a:ext>
            </a:extLst>
          </p:cNvPr>
          <p:cNvSpPr/>
          <p:nvPr/>
        </p:nvSpPr>
        <p:spPr>
          <a:xfrm>
            <a:off x="609600" y="1930400"/>
            <a:ext cx="5461000" cy="63500"/>
          </a:xfrm>
          <a:prstGeom prst="rect">
            <a:avLst/>
          </a:prstGeom>
          <a:solidFill>
            <a:srgbClr val="4FC3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TextBox 30">
            <a:extLst>
              <a:ext uri="{FF2B5EF4-FFF2-40B4-BE49-F238E27FC236}">
                <a16:creationId xmlns:a16="http://schemas.microsoft.com/office/drawing/2014/main" id="{A104A08C-041D-4784-84BC-A6EDBB0D43DA}"/>
              </a:ext>
            </a:extLst>
          </p:cNvPr>
          <p:cNvSpPr txBox="1"/>
          <p:nvPr/>
        </p:nvSpPr>
        <p:spPr>
          <a:xfrm>
            <a:off x="787400" y="2082800"/>
            <a:ext cx="5080000" cy="304800"/>
          </a:xfrm>
          <a:prstGeom prst="rect">
            <a:avLst/>
          </a:prstGeom>
          <a:noFill/>
        </p:spPr>
        <p:txBody>
          <a:bodyPr vertOverflow="overflow" vert="horz" wrap="square" rtlCol="0" anchor="t">
            <a:spAutoFit/>
          </a:bodyPr>
          <a:lstStyle/>
          <a:p>
            <a:pPr algn="l"/>
            <a:r>
              <a:rPr lang="en-US" sz="1600" b="1">
                <a:solidFill>
                  <a:srgbClr val="FFFFFF"/>
                </a:solidFill>
              </a:rPr>
              <a:t>Three Authoring Paths</a:t>
            </a:r>
          </a:p>
        </p:txBody>
      </p:sp>
      <p:sp>
        <p:nvSpPr>
          <p:cNvPr id="32" name="TextBox 31">
            <a:extLst>
              <a:ext uri="{FF2B5EF4-FFF2-40B4-BE49-F238E27FC236}">
                <a16:creationId xmlns:a16="http://schemas.microsoft.com/office/drawing/2014/main" id="{D2234887-CE48-46E9-A924-EC9EA066CA25}"/>
              </a:ext>
            </a:extLst>
          </p:cNvPr>
          <p:cNvSpPr txBox="1"/>
          <p:nvPr/>
        </p:nvSpPr>
        <p:spPr>
          <a:xfrm>
            <a:off x="787400" y="2438400"/>
            <a:ext cx="5080000" cy="584200"/>
          </a:xfrm>
          <a:prstGeom prst="rect">
            <a:avLst/>
          </a:prstGeom>
          <a:noFill/>
        </p:spPr>
        <p:txBody>
          <a:bodyPr vertOverflow="overflow" vert="horz" wrap="square" rtlCol="0" anchor="t">
            <a:spAutoFit/>
          </a:bodyPr>
          <a:lstStyle/>
          <a:p>
            <a:pPr algn="l"/>
            <a:r>
              <a:rPr lang="en-US" sz="1400">
                <a:solidFill>
                  <a:srgbClr val="B0BEC5"/>
                </a:solidFill>
              </a:rPr>
              <a:t>Foundry Portal visual designer  •  YAML editor
VS Code for the Web (YAML + graph side-by-side)</a:t>
            </a:r>
          </a:p>
        </p:txBody>
      </p:sp>
      <p:sp>
        <p:nvSpPr>
          <p:cNvPr id="33" name="Rectangle: Rounded Corners 32">
            <a:extLst>
              <a:ext uri="{FF2B5EF4-FFF2-40B4-BE49-F238E27FC236}">
                <a16:creationId xmlns:a16="http://schemas.microsoft.com/office/drawing/2014/main" id="{8EB55CEF-A189-480A-96D0-578C8BF75A9F}"/>
              </a:ext>
            </a:extLst>
          </p:cNvPr>
          <p:cNvSpPr/>
          <p:nvPr/>
        </p:nvSpPr>
        <p:spPr>
          <a:xfrm>
            <a:off x="609600" y="3276600"/>
            <a:ext cx="5461000" cy="1524000"/>
          </a:xfrm>
          <a:prstGeom prst="roundRect">
            <a:avLst/>
          </a:prstGeom>
          <a:solidFill>
            <a:srgbClr val="1A2736"/>
          </a:solidFill>
          <a:ln w="12700" cap="flat" cmpd="sng" algn="ctr">
            <a:solidFill>
              <a:srgbClr val="2A3A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Rectangle 33">
            <a:extLst>
              <a:ext uri="{FF2B5EF4-FFF2-40B4-BE49-F238E27FC236}">
                <a16:creationId xmlns:a16="http://schemas.microsoft.com/office/drawing/2014/main" id="{239B6863-F992-4453-86B7-5F032CBA065F}"/>
              </a:ext>
            </a:extLst>
          </p:cNvPr>
          <p:cNvSpPr/>
          <p:nvPr/>
        </p:nvSpPr>
        <p:spPr>
          <a:xfrm>
            <a:off x="609600" y="3276600"/>
            <a:ext cx="5461000" cy="63500"/>
          </a:xfrm>
          <a:prstGeom prst="rect">
            <a:avLst/>
          </a:prstGeom>
          <a:solidFill>
            <a:srgbClr val="FFB7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TextBox 34">
            <a:extLst>
              <a:ext uri="{FF2B5EF4-FFF2-40B4-BE49-F238E27FC236}">
                <a16:creationId xmlns:a16="http://schemas.microsoft.com/office/drawing/2014/main" id="{FA0D1CBC-F955-444C-B5F3-42C52344E112}"/>
              </a:ext>
            </a:extLst>
          </p:cNvPr>
          <p:cNvSpPr txBox="1"/>
          <p:nvPr/>
        </p:nvSpPr>
        <p:spPr>
          <a:xfrm>
            <a:off x="787400" y="3429000"/>
            <a:ext cx="5080000" cy="304800"/>
          </a:xfrm>
          <a:prstGeom prst="rect">
            <a:avLst/>
          </a:prstGeom>
          <a:noFill/>
        </p:spPr>
        <p:txBody>
          <a:bodyPr vertOverflow="overflow" vert="horz" wrap="square" rtlCol="0" anchor="t">
            <a:spAutoFit/>
          </a:bodyPr>
          <a:lstStyle/>
          <a:p>
            <a:pPr algn="l"/>
            <a:r>
              <a:rPr lang="en-US" sz="1600" b="1">
                <a:solidFill>
                  <a:srgbClr val="FFFFFF"/>
                </a:solidFill>
              </a:rPr>
              <a:t>Node Types</a:t>
            </a:r>
          </a:p>
        </p:txBody>
      </p:sp>
      <p:sp>
        <p:nvSpPr>
          <p:cNvPr id="36" name="TextBox 35">
            <a:extLst>
              <a:ext uri="{FF2B5EF4-FFF2-40B4-BE49-F238E27FC236}">
                <a16:creationId xmlns:a16="http://schemas.microsoft.com/office/drawing/2014/main" id="{B4E7553B-149B-4607-8BA4-D001C82949EB}"/>
              </a:ext>
            </a:extLst>
          </p:cNvPr>
          <p:cNvSpPr txBox="1"/>
          <p:nvPr/>
        </p:nvSpPr>
        <p:spPr>
          <a:xfrm>
            <a:off x="787400" y="3784600"/>
            <a:ext cx="5080000" cy="914400"/>
          </a:xfrm>
          <a:prstGeom prst="rect">
            <a:avLst/>
          </a:prstGeom>
          <a:noFill/>
        </p:spPr>
        <p:txBody>
          <a:bodyPr vertOverflow="overflow" vert="horz" wrap="square" rtlCol="0" anchor="t">
            <a:spAutoFit/>
          </a:bodyPr>
          <a:lstStyle/>
          <a:p>
            <a:pPr algn="l"/>
            <a:r>
              <a:rPr lang="en-US" sz="1400">
                <a:solidFill>
                  <a:srgbClr val="B0BEC5"/>
                </a:solidFill>
              </a:rPr>
              <a:t>Agent — invoke existing Foundry agents
Logic — if/else, go-to, for-each branching
Data — variables, parse, transformations
Basic Chat — messages, user questions</a:t>
            </a:r>
          </a:p>
        </p:txBody>
      </p:sp>
      <p:sp>
        <p:nvSpPr>
          <p:cNvPr id="37" name="Rectangle: Rounded Corners 36">
            <a:extLst>
              <a:ext uri="{FF2B5EF4-FFF2-40B4-BE49-F238E27FC236}">
                <a16:creationId xmlns:a16="http://schemas.microsoft.com/office/drawing/2014/main" id="{D7782F4B-2042-41FE-97DD-4CF01CCCCCDC}"/>
              </a:ext>
            </a:extLst>
          </p:cNvPr>
          <p:cNvSpPr/>
          <p:nvPr/>
        </p:nvSpPr>
        <p:spPr>
          <a:xfrm>
            <a:off x="609600" y="4902200"/>
            <a:ext cx="5461000" cy="1016000"/>
          </a:xfrm>
          <a:prstGeom prst="roundRect">
            <a:avLst/>
          </a:prstGeom>
          <a:solidFill>
            <a:srgbClr val="1A2736"/>
          </a:solidFill>
          <a:ln w="12700" cap="flat" cmpd="sng" algn="ctr">
            <a:solidFill>
              <a:srgbClr val="2A3A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Rectangle 37">
            <a:extLst>
              <a:ext uri="{FF2B5EF4-FFF2-40B4-BE49-F238E27FC236}">
                <a16:creationId xmlns:a16="http://schemas.microsoft.com/office/drawing/2014/main" id="{4B49A318-2F8F-4C81-9D71-BA9E0568509F}"/>
              </a:ext>
            </a:extLst>
          </p:cNvPr>
          <p:cNvSpPr/>
          <p:nvPr/>
        </p:nvSpPr>
        <p:spPr>
          <a:xfrm>
            <a:off x="609600" y="4902200"/>
            <a:ext cx="5461000" cy="63500"/>
          </a:xfrm>
          <a:prstGeom prst="rect">
            <a:avLst/>
          </a:prstGeom>
          <a:solidFill>
            <a:srgbClr val="81C78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9" name="TextBox 38">
            <a:extLst>
              <a:ext uri="{FF2B5EF4-FFF2-40B4-BE49-F238E27FC236}">
                <a16:creationId xmlns:a16="http://schemas.microsoft.com/office/drawing/2014/main" id="{C5FF05ED-3698-4E3F-A033-82AA554136C6}"/>
              </a:ext>
            </a:extLst>
          </p:cNvPr>
          <p:cNvSpPr txBox="1"/>
          <p:nvPr/>
        </p:nvSpPr>
        <p:spPr>
          <a:xfrm>
            <a:off x="787400" y="5054600"/>
            <a:ext cx="5080000" cy="304800"/>
          </a:xfrm>
          <a:prstGeom prst="rect">
            <a:avLst/>
          </a:prstGeom>
          <a:noFill/>
        </p:spPr>
        <p:txBody>
          <a:bodyPr vertOverflow="overflow" vert="horz" wrap="square" rtlCol="0" anchor="t">
            <a:spAutoFit/>
          </a:bodyPr>
          <a:lstStyle/>
          <a:p>
            <a:pPr algn="l"/>
            <a:r>
              <a:rPr lang="en-US" sz="1600" b="1">
                <a:solidFill>
                  <a:srgbClr val="FFFFFF"/>
                </a:solidFill>
              </a:rPr>
              <a:t>Expression Language</a:t>
            </a:r>
          </a:p>
        </p:txBody>
      </p:sp>
      <p:sp>
        <p:nvSpPr>
          <p:cNvPr id="40" name="TextBox 39">
            <a:extLst>
              <a:ext uri="{FF2B5EF4-FFF2-40B4-BE49-F238E27FC236}">
                <a16:creationId xmlns:a16="http://schemas.microsoft.com/office/drawing/2014/main" id="{7904F41C-3CF1-42F8-966E-3150F42157EA}"/>
              </a:ext>
            </a:extLst>
          </p:cNvPr>
          <p:cNvSpPr txBox="1"/>
          <p:nvPr/>
        </p:nvSpPr>
        <p:spPr>
          <a:xfrm>
            <a:off x="787400" y="5384800"/>
            <a:ext cx="5080000" cy="482600"/>
          </a:xfrm>
          <a:prstGeom prst="rect">
            <a:avLst/>
          </a:prstGeom>
          <a:noFill/>
        </p:spPr>
        <p:txBody>
          <a:bodyPr vertOverflow="overflow" vert="horz" wrap="square" rtlCol="0" anchor="t">
            <a:spAutoFit/>
          </a:bodyPr>
          <a:lstStyle/>
          <a:p>
            <a:pPr algn="l"/>
            <a:r>
              <a:rPr lang="en-US" sz="1400">
                <a:solidFill>
                  <a:srgbClr val="B0BEC5"/>
                </a:solidFill>
              </a:rPr>
              <a:t>Power Fx (Excel-like formulas) for variables,
conditions, and data transformations</a:t>
            </a:r>
          </a:p>
        </p:txBody>
      </p:sp>
      <p:sp>
        <p:nvSpPr>
          <p:cNvPr id="41" name="TextBox 40">
            <a:extLst>
              <a:ext uri="{FF2B5EF4-FFF2-40B4-BE49-F238E27FC236}">
                <a16:creationId xmlns:a16="http://schemas.microsoft.com/office/drawing/2014/main" id="{19EE840E-9227-4E23-8071-7B46DEEFE8B8}"/>
              </a:ext>
            </a:extLst>
          </p:cNvPr>
          <p:cNvSpPr txBox="1"/>
          <p:nvPr/>
        </p:nvSpPr>
        <p:spPr>
          <a:xfrm>
            <a:off x="6375400" y="1524000"/>
            <a:ext cx="5334000" cy="355600"/>
          </a:xfrm>
          <a:prstGeom prst="rect">
            <a:avLst/>
          </a:prstGeom>
          <a:noFill/>
        </p:spPr>
        <p:txBody>
          <a:bodyPr vertOverflow="overflow" vert="horz" wrap="square" rtlCol="0" anchor="t">
            <a:spAutoFit/>
          </a:bodyPr>
          <a:lstStyle/>
          <a:p>
            <a:pPr algn="l"/>
            <a:r>
              <a:rPr lang="en-US" sz="1600" b="1">
                <a:solidFill>
                  <a:srgbClr val="4FC3F7"/>
                </a:solidFill>
              </a:rPr>
              <a:t>Templates &amp; Details</a:t>
            </a:r>
          </a:p>
        </p:txBody>
      </p:sp>
      <p:sp>
        <p:nvSpPr>
          <p:cNvPr id="42" name="Rectangle: Rounded Corners 41">
            <a:extLst>
              <a:ext uri="{FF2B5EF4-FFF2-40B4-BE49-F238E27FC236}">
                <a16:creationId xmlns:a16="http://schemas.microsoft.com/office/drawing/2014/main" id="{E13C6374-6E83-4AF6-8867-06B671DD8C8C}"/>
              </a:ext>
            </a:extLst>
          </p:cNvPr>
          <p:cNvSpPr/>
          <p:nvPr/>
        </p:nvSpPr>
        <p:spPr>
          <a:xfrm>
            <a:off x="6375400" y="1930400"/>
            <a:ext cx="5207000" cy="787400"/>
          </a:xfrm>
          <a:prstGeom prst="roundRect">
            <a:avLst/>
          </a:prstGeom>
          <a:solidFill>
            <a:srgbClr val="1A2736"/>
          </a:solidFill>
          <a:ln w="12700" cap="flat" cmpd="sng" algn="ctr">
            <a:solidFill>
              <a:srgbClr val="2A3A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3" name="Oval 42">
            <a:extLst>
              <a:ext uri="{FF2B5EF4-FFF2-40B4-BE49-F238E27FC236}">
                <a16:creationId xmlns:a16="http://schemas.microsoft.com/office/drawing/2014/main" id="{223B25F2-AB52-4208-B3EB-AFF054933514}"/>
              </a:ext>
            </a:extLst>
          </p:cNvPr>
          <p:cNvSpPr/>
          <p:nvPr/>
        </p:nvSpPr>
        <p:spPr>
          <a:xfrm>
            <a:off x="6553200" y="2184400"/>
            <a:ext cx="228600" cy="228600"/>
          </a:xfrm>
          <a:prstGeom prst="ellipse">
            <a:avLst/>
          </a:prstGeom>
          <a:solidFill>
            <a:srgbClr val="4FC3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TextBox 43">
            <a:extLst>
              <a:ext uri="{FF2B5EF4-FFF2-40B4-BE49-F238E27FC236}">
                <a16:creationId xmlns:a16="http://schemas.microsoft.com/office/drawing/2014/main" id="{38CF6D7A-552A-4C6B-8382-75E531F9D920}"/>
              </a:ext>
            </a:extLst>
          </p:cNvPr>
          <p:cNvSpPr txBox="1"/>
          <p:nvPr/>
        </p:nvSpPr>
        <p:spPr>
          <a:xfrm>
            <a:off x="6908800" y="2006600"/>
            <a:ext cx="4445000" cy="279400"/>
          </a:xfrm>
          <a:prstGeom prst="rect">
            <a:avLst/>
          </a:prstGeom>
          <a:noFill/>
        </p:spPr>
        <p:txBody>
          <a:bodyPr vertOverflow="overflow" vert="horz" wrap="square" rtlCol="0" anchor="t">
            <a:spAutoFit/>
          </a:bodyPr>
          <a:lstStyle/>
          <a:p>
            <a:pPr algn="l"/>
            <a:r>
              <a:rPr lang="en-US" sz="1600" b="1">
                <a:solidFill>
                  <a:srgbClr val="FFFFFF"/>
                </a:solidFill>
              </a:rPr>
              <a:t>Sequential</a:t>
            </a:r>
          </a:p>
        </p:txBody>
      </p:sp>
      <p:sp>
        <p:nvSpPr>
          <p:cNvPr id="45" name="TextBox 44">
            <a:extLst>
              <a:ext uri="{FF2B5EF4-FFF2-40B4-BE49-F238E27FC236}">
                <a16:creationId xmlns:a16="http://schemas.microsoft.com/office/drawing/2014/main" id="{A137B81D-6FB1-449F-95EE-2DAB8BF90F0F}"/>
              </a:ext>
            </a:extLst>
          </p:cNvPr>
          <p:cNvSpPr txBox="1"/>
          <p:nvPr/>
        </p:nvSpPr>
        <p:spPr>
          <a:xfrm>
            <a:off x="6908800" y="2311400"/>
            <a:ext cx="4445000" cy="381000"/>
          </a:xfrm>
          <a:prstGeom prst="rect">
            <a:avLst/>
          </a:prstGeom>
          <a:noFill/>
        </p:spPr>
        <p:txBody>
          <a:bodyPr vertOverflow="overflow" vert="horz" wrap="square" rtlCol="0" anchor="t">
            <a:spAutoFit/>
          </a:bodyPr>
          <a:lstStyle/>
          <a:p>
            <a:pPr algn="l"/>
            <a:r>
              <a:rPr lang="en-US" sz="1400">
                <a:solidFill>
                  <a:srgbClr val="B0BEC5"/>
                </a:solidFill>
              </a:rPr>
              <a:t>Agents chained in a predefined
linear order</a:t>
            </a:r>
          </a:p>
        </p:txBody>
      </p:sp>
      <p:sp>
        <p:nvSpPr>
          <p:cNvPr id="46" name="Rectangle: Rounded Corners 45">
            <a:extLst>
              <a:ext uri="{FF2B5EF4-FFF2-40B4-BE49-F238E27FC236}">
                <a16:creationId xmlns:a16="http://schemas.microsoft.com/office/drawing/2014/main" id="{078DC57F-330E-4034-8653-F28B47D62106}"/>
              </a:ext>
            </a:extLst>
          </p:cNvPr>
          <p:cNvSpPr/>
          <p:nvPr/>
        </p:nvSpPr>
        <p:spPr>
          <a:xfrm>
            <a:off x="6375400" y="2819400"/>
            <a:ext cx="5207000" cy="787400"/>
          </a:xfrm>
          <a:prstGeom prst="roundRect">
            <a:avLst/>
          </a:prstGeom>
          <a:solidFill>
            <a:srgbClr val="1A2736"/>
          </a:solidFill>
          <a:ln w="12700" cap="flat" cmpd="sng" algn="ctr">
            <a:solidFill>
              <a:srgbClr val="2A3A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7" name="Oval 46">
            <a:extLst>
              <a:ext uri="{FF2B5EF4-FFF2-40B4-BE49-F238E27FC236}">
                <a16:creationId xmlns:a16="http://schemas.microsoft.com/office/drawing/2014/main" id="{07319200-7FF2-47EE-9527-B3068038A37A}"/>
              </a:ext>
            </a:extLst>
          </p:cNvPr>
          <p:cNvSpPr/>
          <p:nvPr/>
        </p:nvSpPr>
        <p:spPr>
          <a:xfrm>
            <a:off x="6553200" y="3073400"/>
            <a:ext cx="228600" cy="228600"/>
          </a:xfrm>
          <a:prstGeom prst="ellipse">
            <a:avLst/>
          </a:prstGeom>
          <a:solidFill>
            <a:srgbClr val="FFB7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TextBox 47">
            <a:extLst>
              <a:ext uri="{FF2B5EF4-FFF2-40B4-BE49-F238E27FC236}">
                <a16:creationId xmlns:a16="http://schemas.microsoft.com/office/drawing/2014/main" id="{DA5C21E2-DF82-4CD3-95DD-8BB1C409C354}"/>
              </a:ext>
            </a:extLst>
          </p:cNvPr>
          <p:cNvSpPr txBox="1"/>
          <p:nvPr/>
        </p:nvSpPr>
        <p:spPr>
          <a:xfrm>
            <a:off x="6908800" y="2895600"/>
            <a:ext cx="4445000" cy="279400"/>
          </a:xfrm>
          <a:prstGeom prst="rect">
            <a:avLst/>
          </a:prstGeom>
          <a:noFill/>
        </p:spPr>
        <p:txBody>
          <a:bodyPr vertOverflow="overflow" vert="horz" wrap="square" rtlCol="0" anchor="t">
            <a:spAutoFit/>
          </a:bodyPr>
          <a:lstStyle/>
          <a:p>
            <a:pPr algn="l"/>
            <a:r>
              <a:rPr lang="en-US" sz="1600" b="1">
                <a:solidFill>
                  <a:srgbClr val="FFFFFF"/>
                </a:solidFill>
              </a:rPr>
              <a:t>Group Chat</a:t>
            </a:r>
          </a:p>
        </p:txBody>
      </p:sp>
      <p:sp>
        <p:nvSpPr>
          <p:cNvPr id="49" name="TextBox 48">
            <a:extLst>
              <a:ext uri="{FF2B5EF4-FFF2-40B4-BE49-F238E27FC236}">
                <a16:creationId xmlns:a16="http://schemas.microsoft.com/office/drawing/2014/main" id="{54B92862-8067-4FDB-8704-F956A126A64A}"/>
              </a:ext>
            </a:extLst>
          </p:cNvPr>
          <p:cNvSpPr txBox="1"/>
          <p:nvPr/>
        </p:nvSpPr>
        <p:spPr>
          <a:xfrm>
            <a:off x="6908800" y="3200400"/>
            <a:ext cx="4445000" cy="381000"/>
          </a:xfrm>
          <a:prstGeom prst="rect">
            <a:avLst/>
          </a:prstGeom>
          <a:noFill/>
        </p:spPr>
        <p:txBody>
          <a:bodyPr vertOverflow="overflow" vert="horz" wrap="square" rtlCol="0" anchor="t">
            <a:spAutoFit/>
          </a:bodyPr>
          <a:lstStyle/>
          <a:p>
            <a:pPr algn="l"/>
            <a:r>
              <a:rPr lang="en-US" sz="1400">
                <a:solidFill>
                  <a:srgbClr val="B0BEC5"/>
                </a:solidFill>
              </a:rPr>
              <a:t>Multiple agents collaborate in a
shared conversation thread</a:t>
            </a:r>
          </a:p>
        </p:txBody>
      </p:sp>
      <p:sp>
        <p:nvSpPr>
          <p:cNvPr id="50" name="Rectangle: Rounded Corners 49">
            <a:extLst>
              <a:ext uri="{FF2B5EF4-FFF2-40B4-BE49-F238E27FC236}">
                <a16:creationId xmlns:a16="http://schemas.microsoft.com/office/drawing/2014/main" id="{78557D27-28C3-494C-AB4F-85C04F4F7219}"/>
              </a:ext>
            </a:extLst>
          </p:cNvPr>
          <p:cNvSpPr/>
          <p:nvPr/>
        </p:nvSpPr>
        <p:spPr>
          <a:xfrm>
            <a:off x="6375400" y="3708400"/>
            <a:ext cx="5207000" cy="787400"/>
          </a:xfrm>
          <a:prstGeom prst="roundRect">
            <a:avLst/>
          </a:prstGeom>
          <a:solidFill>
            <a:srgbClr val="1A2736"/>
          </a:solidFill>
          <a:ln w="12700" cap="flat" cmpd="sng" algn="ctr">
            <a:solidFill>
              <a:srgbClr val="2A3A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1" name="Oval 50">
            <a:extLst>
              <a:ext uri="{FF2B5EF4-FFF2-40B4-BE49-F238E27FC236}">
                <a16:creationId xmlns:a16="http://schemas.microsoft.com/office/drawing/2014/main" id="{B8B7E09B-8BF4-4BE4-892F-3D73989126D5}"/>
              </a:ext>
            </a:extLst>
          </p:cNvPr>
          <p:cNvSpPr/>
          <p:nvPr/>
        </p:nvSpPr>
        <p:spPr>
          <a:xfrm>
            <a:off x="6553200" y="3962400"/>
            <a:ext cx="228600" cy="228600"/>
          </a:xfrm>
          <a:prstGeom prst="ellipse">
            <a:avLst/>
          </a:prstGeom>
          <a:solidFill>
            <a:srgbClr val="81C78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2" name="TextBox 51">
            <a:extLst>
              <a:ext uri="{FF2B5EF4-FFF2-40B4-BE49-F238E27FC236}">
                <a16:creationId xmlns:a16="http://schemas.microsoft.com/office/drawing/2014/main" id="{BC8CE001-42DA-46CF-936E-7B38D2CB1DB5}"/>
              </a:ext>
            </a:extLst>
          </p:cNvPr>
          <p:cNvSpPr txBox="1"/>
          <p:nvPr/>
        </p:nvSpPr>
        <p:spPr>
          <a:xfrm>
            <a:off x="6908800" y="3784600"/>
            <a:ext cx="4445000" cy="279400"/>
          </a:xfrm>
          <a:prstGeom prst="rect">
            <a:avLst/>
          </a:prstGeom>
          <a:noFill/>
        </p:spPr>
        <p:txBody>
          <a:bodyPr vertOverflow="overflow" vert="horz" wrap="square" rtlCol="0" anchor="t">
            <a:spAutoFit/>
          </a:bodyPr>
          <a:lstStyle/>
          <a:p>
            <a:pPr algn="l"/>
            <a:r>
              <a:rPr lang="en-US" sz="1600" b="1">
                <a:solidFill>
                  <a:srgbClr val="FFFFFF"/>
                </a:solidFill>
              </a:rPr>
              <a:t>Human-in-the-Loop</a:t>
            </a:r>
          </a:p>
        </p:txBody>
      </p:sp>
      <p:sp>
        <p:nvSpPr>
          <p:cNvPr id="53" name="TextBox 52">
            <a:extLst>
              <a:ext uri="{FF2B5EF4-FFF2-40B4-BE49-F238E27FC236}">
                <a16:creationId xmlns:a16="http://schemas.microsoft.com/office/drawing/2014/main" id="{96FBA767-C549-458F-BC93-9308EC63824C}"/>
              </a:ext>
            </a:extLst>
          </p:cNvPr>
          <p:cNvSpPr txBox="1"/>
          <p:nvPr/>
        </p:nvSpPr>
        <p:spPr>
          <a:xfrm>
            <a:off x="6908800" y="4089400"/>
            <a:ext cx="4445000" cy="381000"/>
          </a:xfrm>
          <a:prstGeom prst="rect">
            <a:avLst/>
          </a:prstGeom>
          <a:noFill/>
        </p:spPr>
        <p:txBody>
          <a:bodyPr vertOverflow="overflow" vert="horz" wrap="square" rtlCol="0" anchor="t">
            <a:spAutoFit/>
          </a:bodyPr>
          <a:lstStyle/>
          <a:p>
            <a:pPr algn="l"/>
            <a:r>
              <a:rPr lang="en-US" sz="1400">
                <a:solidFill>
                  <a:srgbClr val="B0BEC5"/>
                </a:solidFill>
              </a:rPr>
              <a:t>Pause workflow for human review
or approval before continuing</a:t>
            </a:r>
          </a:p>
        </p:txBody>
      </p:sp>
      <p:sp>
        <p:nvSpPr>
          <p:cNvPr id="54" name="Rectangle: Rounded Corners 53">
            <a:extLst>
              <a:ext uri="{FF2B5EF4-FFF2-40B4-BE49-F238E27FC236}">
                <a16:creationId xmlns:a16="http://schemas.microsoft.com/office/drawing/2014/main" id="{E653EC5E-6D5B-4854-8450-DF0D865470AC}"/>
              </a:ext>
            </a:extLst>
          </p:cNvPr>
          <p:cNvSpPr/>
          <p:nvPr/>
        </p:nvSpPr>
        <p:spPr>
          <a:xfrm>
            <a:off x="6375400" y="4622800"/>
            <a:ext cx="5207000" cy="1295400"/>
          </a:xfrm>
          <a:prstGeom prst="roundRect">
            <a:avLst/>
          </a:prstGeom>
          <a:solidFill>
            <a:srgbClr val="0D2137"/>
          </a:solidFill>
          <a:ln w="12700" cap="flat" cmpd="sng" algn="ctr">
            <a:solidFill>
              <a:srgbClr val="4FC3F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5" name="TextBox 54">
            <a:extLst>
              <a:ext uri="{FF2B5EF4-FFF2-40B4-BE49-F238E27FC236}">
                <a16:creationId xmlns:a16="http://schemas.microsoft.com/office/drawing/2014/main" id="{ABB2AC42-F7E1-4A2D-8B2D-42B6A8A35EDF}"/>
              </a:ext>
            </a:extLst>
          </p:cNvPr>
          <p:cNvSpPr txBox="1"/>
          <p:nvPr/>
        </p:nvSpPr>
        <p:spPr>
          <a:xfrm>
            <a:off x="6553200" y="4724400"/>
            <a:ext cx="4826000" cy="279400"/>
          </a:xfrm>
          <a:prstGeom prst="rect">
            <a:avLst/>
          </a:prstGeom>
          <a:noFill/>
        </p:spPr>
        <p:txBody>
          <a:bodyPr vertOverflow="overflow" vert="horz" wrap="square" rtlCol="0" anchor="t">
            <a:spAutoFit/>
          </a:bodyPr>
          <a:lstStyle/>
          <a:p>
            <a:pPr algn="l"/>
            <a:r>
              <a:rPr lang="en-US" sz="1600" b="1">
                <a:solidFill>
                  <a:srgbClr val="4FC3F7"/>
                </a:solidFill>
              </a:rPr>
              <a:t>Key Details</a:t>
            </a:r>
          </a:p>
        </p:txBody>
      </p:sp>
      <p:sp>
        <p:nvSpPr>
          <p:cNvPr id="56" name="TextBox 55">
            <a:extLst>
              <a:ext uri="{FF2B5EF4-FFF2-40B4-BE49-F238E27FC236}">
                <a16:creationId xmlns:a16="http://schemas.microsoft.com/office/drawing/2014/main" id="{07C77AA9-AFB3-42B1-9E33-CCE59A69C82B}"/>
              </a:ext>
            </a:extLst>
          </p:cNvPr>
          <p:cNvSpPr txBox="1"/>
          <p:nvPr/>
        </p:nvSpPr>
        <p:spPr>
          <a:xfrm>
            <a:off x="6553200" y="5029200"/>
            <a:ext cx="4826000" cy="762000"/>
          </a:xfrm>
          <a:prstGeom prst="rect">
            <a:avLst/>
          </a:prstGeom>
          <a:noFill/>
        </p:spPr>
        <p:txBody>
          <a:bodyPr vertOverflow="overflow" vert="horz" wrap="square" rtlCol="0" anchor="t">
            <a:spAutoFit/>
          </a:bodyPr>
          <a:lstStyle/>
          <a:p>
            <a:pPr algn="l"/>
            <a:r>
              <a:rPr lang="en-US" sz="1400">
                <a:solidFill>
                  <a:srgbClr val="B0BEC5"/>
                </a:solidFill>
              </a:rPr>
              <a:t>Replaces deprecated Connected Agents
Token-only pricing — no compute charges
Bidirectional sync between visual and YAML</a:t>
            </a:r>
          </a:p>
        </p:txBody>
      </p:sp>
      <p:pic>
        <p:nvPicPr>
          <p:cNvPr id="57" name="Graphic 57" descr="Workflow flowchart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49000" y="381000"/>
            <a:ext cx="762000" cy="762000"/>
          </a:xfrm>
          <a:prstGeom prst="rect">
            <a:avLst/>
          </a:prstGeom>
        </p:spPr>
      </p:pic>
    </p:spTree>
    <p:extLst>
      <p:ext uri="{BB962C8B-B14F-4D97-AF65-F5344CB8AC3E}">
        <p14:creationId xmlns:p14="http://schemas.microsoft.com/office/powerpoint/2010/main" val="3125059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6F419B-41A4-474A-A77C-3639A6264917}"/>
              </a:ext>
            </a:extLst>
          </p:cNvPr>
          <p:cNvSpPr txBox="1"/>
          <p:nvPr/>
        </p:nvSpPr>
        <p:spPr>
          <a:xfrm>
            <a:off x="457200" y="254000"/>
            <a:ext cx="10160000" cy="762000"/>
          </a:xfrm>
          <a:prstGeom prst="rect">
            <a:avLst/>
          </a:prstGeom>
          <a:noFill/>
        </p:spPr>
        <p:txBody>
          <a:bodyPr vertOverflow="overflow" vert="horz" wrap="square" rtlCol="0" anchor="ctr" anchorCtr="0">
            <a:spAutoFit/>
          </a:bodyPr>
          <a:lstStyle/>
          <a:p>
            <a:pPr algn="l"/>
            <a:r>
              <a:rPr lang="en-US" sz="2800">
                <a:solidFill>
                  <a:srgbClr val="FFFFFF"/>
                </a:solidFill>
              </a:rPr>
              <a:t>Agent Framework — Workflow API</a:t>
            </a:r>
          </a:p>
        </p:txBody>
      </p:sp>
      <p:sp>
        <p:nvSpPr>
          <p:cNvPr id="3" name="TextBox 2">
            <a:extLst>
              <a:ext uri="{FF2B5EF4-FFF2-40B4-BE49-F238E27FC236}">
                <a16:creationId xmlns:a16="http://schemas.microsoft.com/office/drawing/2014/main" id="{D8D1D073-35E9-4934-9C27-24AEB5D8E4FB}"/>
              </a:ext>
            </a:extLst>
          </p:cNvPr>
          <p:cNvSpPr txBox="1"/>
          <p:nvPr/>
        </p:nvSpPr>
        <p:spPr>
          <a:xfrm>
            <a:off x="457200" y="1041400"/>
            <a:ext cx="8890000" cy="355600"/>
          </a:xfrm>
          <a:prstGeom prst="rect">
            <a:avLst/>
          </a:prstGeom>
          <a:noFill/>
        </p:spPr>
        <p:txBody>
          <a:bodyPr vertOverflow="overflow" vert="horz" wrap="square" rtlCol="0" anchor="t">
            <a:spAutoFit/>
          </a:bodyPr>
          <a:lstStyle/>
          <a:p>
            <a:pPr algn="l"/>
            <a:r>
              <a:rPr lang="en-US" sz="1400">
                <a:solidFill>
                  <a:srgbClr val="B0BEC5"/>
                </a:solidFill>
              </a:rPr>
              <a:t>Data-flow graph model • Successor to AutoGen + Semantic Kernel</a:t>
            </a:r>
          </a:p>
        </p:txBody>
      </p:sp>
      <p:sp>
        <p:nvSpPr>
          <p:cNvPr id="4" name="TextBox 3">
            <a:extLst>
              <a:ext uri="{FF2B5EF4-FFF2-40B4-BE49-F238E27FC236}">
                <a16:creationId xmlns:a16="http://schemas.microsoft.com/office/drawing/2014/main" id="{DD30922D-5AC4-4383-8308-485B44D76C24}"/>
              </a:ext>
            </a:extLst>
          </p:cNvPr>
          <p:cNvSpPr txBox="1"/>
          <p:nvPr/>
        </p:nvSpPr>
        <p:spPr>
          <a:xfrm>
            <a:off x="609600" y="1498600"/>
            <a:ext cx="5207000" cy="355600"/>
          </a:xfrm>
          <a:prstGeom prst="rect">
            <a:avLst/>
          </a:prstGeom>
          <a:noFill/>
        </p:spPr>
        <p:txBody>
          <a:bodyPr vertOverflow="overflow" vert="horz" wrap="square" rtlCol="0" anchor="t">
            <a:spAutoFit/>
          </a:bodyPr>
          <a:lstStyle/>
          <a:p>
            <a:pPr algn="l"/>
            <a:r>
              <a:rPr lang="en-US" sz="1600" b="1">
                <a:solidFill>
                  <a:srgbClr val="81C784"/>
                </a:solidFill>
              </a:rPr>
              <a:t>Superstep Execution Model</a:t>
            </a:r>
          </a:p>
        </p:txBody>
      </p:sp>
      <p:sp>
        <p:nvSpPr>
          <p:cNvPr id="5" name="Rectangle: Rounded Corners 4">
            <a:extLst>
              <a:ext uri="{FF2B5EF4-FFF2-40B4-BE49-F238E27FC236}">
                <a16:creationId xmlns:a16="http://schemas.microsoft.com/office/drawing/2014/main" id="{D01D1269-96C3-4243-ADE5-C0068AC0659C}"/>
              </a:ext>
            </a:extLst>
          </p:cNvPr>
          <p:cNvSpPr/>
          <p:nvPr/>
        </p:nvSpPr>
        <p:spPr>
          <a:xfrm>
            <a:off x="609600" y="1905000"/>
            <a:ext cx="5207000" cy="2286000"/>
          </a:xfrm>
          <a:prstGeom prst="roundRect">
            <a:avLst/>
          </a:prstGeom>
          <a:solidFill>
            <a:srgbClr val="1A2736"/>
          </a:solidFill>
          <a:ln w="12700" cap="flat" cmpd="sng" algn="ctr">
            <a:solidFill>
              <a:srgbClr val="2A3A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Oval 5">
            <a:extLst>
              <a:ext uri="{FF2B5EF4-FFF2-40B4-BE49-F238E27FC236}">
                <a16:creationId xmlns:a16="http://schemas.microsoft.com/office/drawing/2014/main" id="{D10F8D73-2378-4817-AFEE-549C7480D2CE}"/>
              </a:ext>
            </a:extLst>
          </p:cNvPr>
          <p:cNvSpPr/>
          <p:nvPr/>
        </p:nvSpPr>
        <p:spPr>
          <a:xfrm>
            <a:off x="914400" y="2222500"/>
            <a:ext cx="635000" cy="635000"/>
          </a:xfrm>
          <a:prstGeom prst="ellipse">
            <a:avLst/>
          </a:prstGeom>
          <a:solidFill>
            <a:srgbClr val="4FC3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0D1B2A"/>
                </a:solidFill>
              </a:rPr>
              <a:t>1</a:t>
            </a:r>
          </a:p>
        </p:txBody>
      </p:sp>
      <p:sp>
        <p:nvSpPr>
          <p:cNvPr id="7" name="TextBox 6">
            <a:extLst>
              <a:ext uri="{FF2B5EF4-FFF2-40B4-BE49-F238E27FC236}">
                <a16:creationId xmlns:a16="http://schemas.microsoft.com/office/drawing/2014/main" id="{278E0728-1B48-46A7-BEBB-ED832C1FC08B}"/>
              </a:ext>
            </a:extLst>
          </p:cNvPr>
          <p:cNvSpPr txBox="1"/>
          <p:nvPr/>
        </p:nvSpPr>
        <p:spPr>
          <a:xfrm>
            <a:off x="762000" y="2895600"/>
            <a:ext cx="952500" cy="508000"/>
          </a:xfrm>
          <a:prstGeom prst="rect">
            <a:avLst/>
          </a:prstGeom>
          <a:noFill/>
        </p:spPr>
        <p:txBody>
          <a:bodyPr vertOverflow="overflow" vert="horz" wrap="square" rtlCol="0" anchor="t">
            <a:spAutoFit/>
          </a:bodyPr>
          <a:lstStyle/>
          <a:p>
            <a:pPr algn="l"/>
            <a:r>
              <a:rPr lang="en-US" sz="1400">
                <a:solidFill>
                  <a:srgbClr val="B0BEC5"/>
                </a:solidFill>
              </a:rPr>
              <a:t>Collect
messages</a:t>
            </a:r>
          </a:p>
        </p:txBody>
      </p:sp>
      <p:sp>
        <p:nvSpPr>
          <p:cNvPr id="8" name="Arrow: Right 7">
            <a:extLst>
              <a:ext uri="{FF2B5EF4-FFF2-40B4-BE49-F238E27FC236}">
                <a16:creationId xmlns:a16="http://schemas.microsoft.com/office/drawing/2014/main" id="{3C1B4491-C98A-4C5B-A319-8686294B3EAE}"/>
              </a:ext>
            </a:extLst>
          </p:cNvPr>
          <p:cNvSpPr/>
          <p:nvPr/>
        </p:nvSpPr>
        <p:spPr>
          <a:xfrm>
            <a:off x="1651000" y="2438400"/>
            <a:ext cx="355600" cy="228600"/>
          </a:xfrm>
          <a:prstGeom prst="rightArrow">
            <a:avLst/>
          </a:prstGeom>
          <a:solidFill>
            <a:srgbClr val="4FC3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B7BAA90E-2300-4A33-B812-846359FEB51B}"/>
              </a:ext>
            </a:extLst>
          </p:cNvPr>
          <p:cNvSpPr/>
          <p:nvPr/>
        </p:nvSpPr>
        <p:spPr>
          <a:xfrm>
            <a:off x="2133600" y="2222500"/>
            <a:ext cx="635000" cy="635000"/>
          </a:xfrm>
          <a:prstGeom prst="ellipse">
            <a:avLst/>
          </a:prstGeom>
          <a:solidFill>
            <a:srgbClr val="FFB7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0D1B2A"/>
                </a:solidFill>
              </a:rPr>
              <a:t>2</a:t>
            </a:r>
          </a:p>
        </p:txBody>
      </p:sp>
      <p:sp>
        <p:nvSpPr>
          <p:cNvPr id="10" name="TextBox 9">
            <a:extLst>
              <a:ext uri="{FF2B5EF4-FFF2-40B4-BE49-F238E27FC236}">
                <a16:creationId xmlns:a16="http://schemas.microsoft.com/office/drawing/2014/main" id="{ED3E0AF1-C4F8-4565-B1AB-529802C7D134}"/>
              </a:ext>
            </a:extLst>
          </p:cNvPr>
          <p:cNvSpPr txBox="1"/>
          <p:nvPr/>
        </p:nvSpPr>
        <p:spPr>
          <a:xfrm>
            <a:off x="1968500" y="2895600"/>
            <a:ext cx="952500" cy="457200"/>
          </a:xfrm>
          <a:prstGeom prst="rect">
            <a:avLst/>
          </a:prstGeom>
          <a:noFill/>
        </p:spPr>
        <p:txBody>
          <a:bodyPr vertOverflow="overflow" vert="horz" wrap="square" rtlCol="0" anchor="t">
            <a:spAutoFit/>
          </a:bodyPr>
          <a:lstStyle/>
          <a:p>
            <a:pPr algn="ctr"/>
            <a:r>
              <a:rPr lang="en-US" sz="1400" dirty="0">
                <a:solidFill>
                  <a:srgbClr val="B0BEC5"/>
                </a:solidFill>
              </a:rPr>
              <a:t>Route via
edges</a:t>
            </a:r>
          </a:p>
        </p:txBody>
      </p:sp>
      <p:sp>
        <p:nvSpPr>
          <p:cNvPr id="11" name="Arrow: Right 10">
            <a:extLst>
              <a:ext uri="{FF2B5EF4-FFF2-40B4-BE49-F238E27FC236}">
                <a16:creationId xmlns:a16="http://schemas.microsoft.com/office/drawing/2014/main" id="{0C109D24-C42A-493E-AE4B-F3B83CDBA934}"/>
              </a:ext>
            </a:extLst>
          </p:cNvPr>
          <p:cNvSpPr/>
          <p:nvPr/>
        </p:nvSpPr>
        <p:spPr>
          <a:xfrm>
            <a:off x="2870200" y="2438400"/>
            <a:ext cx="355600" cy="228600"/>
          </a:xfrm>
          <a:prstGeom prst="rightArrow">
            <a:avLst/>
          </a:prstGeom>
          <a:solidFill>
            <a:srgbClr val="FFB7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Oval 11">
            <a:extLst>
              <a:ext uri="{FF2B5EF4-FFF2-40B4-BE49-F238E27FC236}">
                <a16:creationId xmlns:a16="http://schemas.microsoft.com/office/drawing/2014/main" id="{3C65A4AF-0199-4B4E-830F-CE20BC922816}"/>
              </a:ext>
            </a:extLst>
          </p:cNvPr>
          <p:cNvSpPr/>
          <p:nvPr/>
        </p:nvSpPr>
        <p:spPr>
          <a:xfrm>
            <a:off x="3352800" y="2222500"/>
            <a:ext cx="635000" cy="635000"/>
          </a:xfrm>
          <a:prstGeom prst="ellipse">
            <a:avLst/>
          </a:prstGeom>
          <a:solidFill>
            <a:srgbClr val="81C78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0D1B2A"/>
                </a:solidFill>
              </a:rPr>
              <a:t>3</a:t>
            </a:r>
          </a:p>
        </p:txBody>
      </p:sp>
      <p:sp>
        <p:nvSpPr>
          <p:cNvPr id="13" name="TextBox 12">
            <a:extLst>
              <a:ext uri="{FF2B5EF4-FFF2-40B4-BE49-F238E27FC236}">
                <a16:creationId xmlns:a16="http://schemas.microsoft.com/office/drawing/2014/main" id="{DFAC150C-5421-498D-9DA7-B8CA578F2FBB}"/>
              </a:ext>
            </a:extLst>
          </p:cNvPr>
          <p:cNvSpPr txBox="1"/>
          <p:nvPr/>
        </p:nvSpPr>
        <p:spPr>
          <a:xfrm>
            <a:off x="3200400" y="2895600"/>
            <a:ext cx="952500" cy="508000"/>
          </a:xfrm>
          <a:prstGeom prst="rect">
            <a:avLst/>
          </a:prstGeom>
          <a:noFill/>
        </p:spPr>
        <p:txBody>
          <a:bodyPr vertOverflow="overflow" vert="horz" wrap="square" rtlCol="0" anchor="t">
            <a:spAutoFit/>
          </a:bodyPr>
          <a:lstStyle/>
          <a:p>
            <a:pPr algn="l"/>
            <a:r>
              <a:rPr lang="en-US" sz="1400">
                <a:solidFill>
                  <a:srgbClr val="B0BEC5"/>
                </a:solidFill>
              </a:rPr>
              <a:t>Run
executors</a:t>
            </a:r>
          </a:p>
        </p:txBody>
      </p:sp>
      <p:sp>
        <p:nvSpPr>
          <p:cNvPr id="14" name="Arrow: Right 13">
            <a:extLst>
              <a:ext uri="{FF2B5EF4-FFF2-40B4-BE49-F238E27FC236}">
                <a16:creationId xmlns:a16="http://schemas.microsoft.com/office/drawing/2014/main" id="{B6733377-BAE9-49E6-A51A-D3A7CF451C43}"/>
              </a:ext>
            </a:extLst>
          </p:cNvPr>
          <p:cNvSpPr/>
          <p:nvPr/>
        </p:nvSpPr>
        <p:spPr>
          <a:xfrm>
            <a:off x="4089400" y="2438400"/>
            <a:ext cx="355600" cy="228600"/>
          </a:xfrm>
          <a:prstGeom prst="rightArrow">
            <a:avLst/>
          </a:prstGeom>
          <a:solidFill>
            <a:srgbClr val="81C78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Oval 14">
            <a:extLst>
              <a:ext uri="{FF2B5EF4-FFF2-40B4-BE49-F238E27FC236}">
                <a16:creationId xmlns:a16="http://schemas.microsoft.com/office/drawing/2014/main" id="{8BC68D05-E88E-43EF-9AE5-BAF7D6109451}"/>
              </a:ext>
            </a:extLst>
          </p:cNvPr>
          <p:cNvSpPr/>
          <p:nvPr/>
        </p:nvSpPr>
        <p:spPr>
          <a:xfrm>
            <a:off x="4572000" y="2222500"/>
            <a:ext cx="635000" cy="635000"/>
          </a:xfrm>
          <a:prstGeom prst="ellipse">
            <a:avLst/>
          </a:prstGeom>
          <a:solidFill>
            <a:srgbClr val="CE93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0D1B2A"/>
                </a:solidFill>
              </a:rPr>
              <a:t>4</a:t>
            </a:r>
          </a:p>
        </p:txBody>
      </p:sp>
      <p:sp>
        <p:nvSpPr>
          <p:cNvPr id="16" name="TextBox 15">
            <a:extLst>
              <a:ext uri="{FF2B5EF4-FFF2-40B4-BE49-F238E27FC236}">
                <a16:creationId xmlns:a16="http://schemas.microsoft.com/office/drawing/2014/main" id="{571D92BA-B82E-4922-BC6A-2CCB20077DC8}"/>
              </a:ext>
            </a:extLst>
          </p:cNvPr>
          <p:cNvSpPr txBox="1"/>
          <p:nvPr/>
        </p:nvSpPr>
        <p:spPr>
          <a:xfrm>
            <a:off x="4419600" y="2895600"/>
            <a:ext cx="952500" cy="508000"/>
          </a:xfrm>
          <a:prstGeom prst="rect">
            <a:avLst/>
          </a:prstGeom>
          <a:noFill/>
        </p:spPr>
        <p:txBody>
          <a:bodyPr vertOverflow="overflow" vert="horz" wrap="square" rtlCol="0" anchor="t">
            <a:spAutoFit/>
          </a:bodyPr>
          <a:lstStyle/>
          <a:p>
            <a:pPr algn="l"/>
            <a:r>
              <a:rPr lang="en-US" sz="1400">
                <a:solidFill>
                  <a:srgbClr val="B0BEC5"/>
                </a:solidFill>
              </a:rPr>
              <a:t>Queue
next step</a:t>
            </a:r>
          </a:p>
        </p:txBody>
      </p:sp>
      <p:sp>
        <p:nvSpPr>
          <p:cNvPr id="17" name="Rectangle: Rounded Corners 16">
            <a:extLst>
              <a:ext uri="{FF2B5EF4-FFF2-40B4-BE49-F238E27FC236}">
                <a16:creationId xmlns:a16="http://schemas.microsoft.com/office/drawing/2014/main" id="{AFB1ADCE-E8C9-4AE3-A187-05DF0DB9ACBA}"/>
              </a:ext>
            </a:extLst>
          </p:cNvPr>
          <p:cNvSpPr/>
          <p:nvPr/>
        </p:nvSpPr>
        <p:spPr>
          <a:xfrm>
            <a:off x="863600" y="4318000"/>
            <a:ext cx="4699000" cy="762000"/>
          </a:xfrm>
          <a:prstGeom prst="roundRect">
            <a:avLst/>
          </a:prstGeom>
          <a:solidFill>
            <a:srgbClr val="0D2137"/>
          </a:solidFill>
          <a:ln w="12700" cap="flat" cmpd="sng" algn="ctr">
            <a:solidFill>
              <a:srgbClr val="4FC3F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474E2C8E-ACDF-44E2-BBF5-B8CC0DB78490}"/>
              </a:ext>
            </a:extLst>
          </p:cNvPr>
          <p:cNvSpPr txBox="1"/>
          <p:nvPr/>
        </p:nvSpPr>
        <p:spPr>
          <a:xfrm>
            <a:off x="990600" y="4343400"/>
            <a:ext cx="4445000" cy="711200"/>
          </a:xfrm>
          <a:prstGeom prst="rect">
            <a:avLst/>
          </a:prstGeom>
          <a:noFill/>
        </p:spPr>
        <p:txBody>
          <a:bodyPr vertOverflow="overflow" vert="horz" wrap="square" rtlCol="0" anchor="ctr" anchorCtr="0">
            <a:spAutoFit/>
          </a:bodyPr>
          <a:lstStyle/>
          <a:p>
            <a:pPr algn="l"/>
            <a:r>
              <a:rPr lang="en-US" sz="1400">
                <a:solidFill>
                  <a:srgbClr val="4FC3F7"/>
                </a:solidFill>
              </a:rPr>
              <a:t>Checkpoint at each superstep boundary
Deterministic • No race conditions</a:t>
            </a:r>
          </a:p>
        </p:txBody>
      </p:sp>
      <p:sp>
        <p:nvSpPr>
          <p:cNvPr id="19" name="TextBox 18">
            <a:extLst>
              <a:ext uri="{FF2B5EF4-FFF2-40B4-BE49-F238E27FC236}">
                <a16:creationId xmlns:a16="http://schemas.microsoft.com/office/drawing/2014/main" id="{1289F087-CA86-4538-BDB6-D82570D2A9DC}"/>
              </a:ext>
            </a:extLst>
          </p:cNvPr>
          <p:cNvSpPr txBox="1"/>
          <p:nvPr/>
        </p:nvSpPr>
        <p:spPr>
          <a:xfrm>
            <a:off x="6248400" y="1498600"/>
            <a:ext cx="5334000" cy="355600"/>
          </a:xfrm>
          <a:prstGeom prst="rect">
            <a:avLst/>
          </a:prstGeom>
          <a:noFill/>
        </p:spPr>
        <p:txBody>
          <a:bodyPr vertOverflow="overflow" vert="horz" wrap="square" rtlCol="0" anchor="t">
            <a:spAutoFit/>
          </a:bodyPr>
          <a:lstStyle/>
          <a:p>
            <a:pPr algn="l"/>
            <a:r>
              <a:rPr lang="en-US" sz="1600" b="1">
                <a:solidFill>
                  <a:srgbClr val="81C784"/>
                </a:solidFill>
              </a:rPr>
              <a:t>Key Capabilities</a:t>
            </a:r>
          </a:p>
        </p:txBody>
      </p:sp>
      <p:sp>
        <p:nvSpPr>
          <p:cNvPr id="20" name="Rectangle: Rounded Corners 19">
            <a:extLst>
              <a:ext uri="{FF2B5EF4-FFF2-40B4-BE49-F238E27FC236}">
                <a16:creationId xmlns:a16="http://schemas.microsoft.com/office/drawing/2014/main" id="{C891B36B-0698-4535-B676-7F64EA8199E6}"/>
              </a:ext>
            </a:extLst>
          </p:cNvPr>
          <p:cNvSpPr/>
          <p:nvPr/>
        </p:nvSpPr>
        <p:spPr>
          <a:xfrm>
            <a:off x="6248400" y="1905000"/>
            <a:ext cx="5334000" cy="609600"/>
          </a:xfrm>
          <a:prstGeom prst="roundRect">
            <a:avLst/>
          </a:prstGeom>
          <a:solidFill>
            <a:srgbClr val="1A2736"/>
          </a:solidFill>
          <a:ln w="12700" cap="flat" cmpd="sng" algn="ctr">
            <a:solidFill>
              <a:srgbClr val="2A3A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Oval 20">
            <a:extLst>
              <a:ext uri="{FF2B5EF4-FFF2-40B4-BE49-F238E27FC236}">
                <a16:creationId xmlns:a16="http://schemas.microsoft.com/office/drawing/2014/main" id="{3BBE1715-E435-4FF8-90BA-0E0954699ABC}"/>
              </a:ext>
            </a:extLst>
          </p:cNvPr>
          <p:cNvSpPr/>
          <p:nvPr/>
        </p:nvSpPr>
        <p:spPr>
          <a:xfrm>
            <a:off x="6413500" y="2082800"/>
            <a:ext cx="254000" cy="254000"/>
          </a:xfrm>
          <a:prstGeom prst="ellipse">
            <a:avLst/>
          </a:prstGeom>
          <a:solidFill>
            <a:srgbClr val="4FC3F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B5813E9C-0CA3-4DC1-8A8C-2D1EF24C4253}"/>
              </a:ext>
            </a:extLst>
          </p:cNvPr>
          <p:cNvSpPr txBox="1"/>
          <p:nvPr/>
        </p:nvSpPr>
        <p:spPr>
          <a:xfrm>
            <a:off x="6794500" y="1955800"/>
            <a:ext cx="4572000" cy="279400"/>
          </a:xfrm>
          <a:prstGeom prst="rect">
            <a:avLst/>
          </a:prstGeom>
          <a:noFill/>
        </p:spPr>
        <p:txBody>
          <a:bodyPr vertOverflow="overflow" vert="horz" wrap="square" rtlCol="0" anchor="t">
            <a:spAutoFit/>
          </a:bodyPr>
          <a:lstStyle/>
          <a:p>
            <a:pPr algn="l"/>
            <a:r>
              <a:rPr lang="en-US" sz="1600" b="1">
                <a:solidFill>
                  <a:srgbClr val="FFFFFF"/>
                </a:solidFill>
              </a:rPr>
              <a:t>3 Executor Types</a:t>
            </a:r>
          </a:p>
        </p:txBody>
      </p:sp>
      <p:sp>
        <p:nvSpPr>
          <p:cNvPr id="23" name="TextBox 22">
            <a:extLst>
              <a:ext uri="{FF2B5EF4-FFF2-40B4-BE49-F238E27FC236}">
                <a16:creationId xmlns:a16="http://schemas.microsoft.com/office/drawing/2014/main" id="{69B2E9C3-DBCA-4199-AFB0-4CC6C6EEA3EA}"/>
              </a:ext>
            </a:extLst>
          </p:cNvPr>
          <p:cNvSpPr txBox="1"/>
          <p:nvPr/>
        </p:nvSpPr>
        <p:spPr>
          <a:xfrm>
            <a:off x="6794500" y="2235200"/>
            <a:ext cx="4572000" cy="254000"/>
          </a:xfrm>
          <a:prstGeom prst="rect">
            <a:avLst/>
          </a:prstGeom>
          <a:noFill/>
        </p:spPr>
        <p:txBody>
          <a:bodyPr vertOverflow="overflow" vert="horz" wrap="square" rtlCol="0" anchor="t">
            <a:spAutoFit/>
          </a:bodyPr>
          <a:lstStyle/>
          <a:p>
            <a:pPr algn="l"/>
            <a:r>
              <a:rPr lang="en-US" sz="1400">
                <a:solidFill>
                  <a:srgbClr val="B0BEC5"/>
                </a:solidFill>
              </a:rPr>
              <a:t>Custom logic, AI agents, sub-workflows</a:t>
            </a:r>
          </a:p>
        </p:txBody>
      </p:sp>
      <p:sp>
        <p:nvSpPr>
          <p:cNvPr id="24" name="Rectangle: Rounded Corners 23">
            <a:extLst>
              <a:ext uri="{FF2B5EF4-FFF2-40B4-BE49-F238E27FC236}">
                <a16:creationId xmlns:a16="http://schemas.microsoft.com/office/drawing/2014/main" id="{6C4B4522-64D6-4289-ABC6-078907A64154}"/>
              </a:ext>
            </a:extLst>
          </p:cNvPr>
          <p:cNvSpPr/>
          <p:nvPr/>
        </p:nvSpPr>
        <p:spPr>
          <a:xfrm>
            <a:off x="6248400" y="2616200"/>
            <a:ext cx="5334000" cy="609600"/>
          </a:xfrm>
          <a:prstGeom prst="roundRect">
            <a:avLst/>
          </a:prstGeom>
          <a:solidFill>
            <a:srgbClr val="1A2736"/>
          </a:solidFill>
          <a:ln w="12700" cap="flat" cmpd="sng" algn="ctr">
            <a:solidFill>
              <a:srgbClr val="2A3A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Oval 24">
            <a:extLst>
              <a:ext uri="{FF2B5EF4-FFF2-40B4-BE49-F238E27FC236}">
                <a16:creationId xmlns:a16="http://schemas.microsoft.com/office/drawing/2014/main" id="{C202A051-4CB3-4A35-8C50-147FB20C114E}"/>
              </a:ext>
            </a:extLst>
          </p:cNvPr>
          <p:cNvSpPr/>
          <p:nvPr/>
        </p:nvSpPr>
        <p:spPr>
          <a:xfrm>
            <a:off x="6413500" y="2794000"/>
            <a:ext cx="254000" cy="254000"/>
          </a:xfrm>
          <a:prstGeom prst="ellipse">
            <a:avLst/>
          </a:prstGeom>
          <a:solidFill>
            <a:srgbClr val="FFB7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28DFFB89-B326-4A50-906B-FBCF20A7E7D2}"/>
              </a:ext>
            </a:extLst>
          </p:cNvPr>
          <p:cNvSpPr txBox="1"/>
          <p:nvPr/>
        </p:nvSpPr>
        <p:spPr>
          <a:xfrm>
            <a:off x="6794500" y="2667000"/>
            <a:ext cx="4572000" cy="279400"/>
          </a:xfrm>
          <a:prstGeom prst="rect">
            <a:avLst/>
          </a:prstGeom>
          <a:noFill/>
        </p:spPr>
        <p:txBody>
          <a:bodyPr vertOverflow="overflow" vert="horz" wrap="square" rtlCol="0" anchor="t">
            <a:spAutoFit/>
          </a:bodyPr>
          <a:lstStyle/>
          <a:p>
            <a:pPr algn="l"/>
            <a:r>
              <a:rPr lang="en-US" sz="1600" b="1">
                <a:solidFill>
                  <a:srgbClr val="FFFFFF"/>
                </a:solidFill>
              </a:rPr>
              <a:t>5 Edge Types</a:t>
            </a:r>
          </a:p>
        </p:txBody>
      </p:sp>
      <p:sp>
        <p:nvSpPr>
          <p:cNvPr id="27" name="TextBox 26">
            <a:extLst>
              <a:ext uri="{FF2B5EF4-FFF2-40B4-BE49-F238E27FC236}">
                <a16:creationId xmlns:a16="http://schemas.microsoft.com/office/drawing/2014/main" id="{AF89C64E-BD17-49A1-9C8C-32AE4357493A}"/>
              </a:ext>
            </a:extLst>
          </p:cNvPr>
          <p:cNvSpPr txBox="1"/>
          <p:nvPr/>
        </p:nvSpPr>
        <p:spPr>
          <a:xfrm>
            <a:off x="6794500" y="2946400"/>
            <a:ext cx="4572000" cy="254000"/>
          </a:xfrm>
          <a:prstGeom prst="rect">
            <a:avLst/>
          </a:prstGeom>
          <a:noFill/>
        </p:spPr>
        <p:txBody>
          <a:bodyPr vertOverflow="overflow" vert="horz" wrap="square" rtlCol="0" anchor="t">
            <a:spAutoFit/>
          </a:bodyPr>
          <a:lstStyle/>
          <a:p>
            <a:pPr algn="l"/>
            <a:r>
              <a:rPr lang="en-US" sz="1400">
                <a:solidFill>
                  <a:srgbClr val="B0BEC5"/>
                </a:solidFill>
              </a:rPr>
              <a:t>Direct, conditional, switch, fan-out, fan-in</a:t>
            </a:r>
          </a:p>
        </p:txBody>
      </p:sp>
      <p:sp>
        <p:nvSpPr>
          <p:cNvPr id="28" name="Rectangle: Rounded Corners 27">
            <a:extLst>
              <a:ext uri="{FF2B5EF4-FFF2-40B4-BE49-F238E27FC236}">
                <a16:creationId xmlns:a16="http://schemas.microsoft.com/office/drawing/2014/main" id="{DFC522C5-9CF3-4B23-9112-F930E6521351}"/>
              </a:ext>
            </a:extLst>
          </p:cNvPr>
          <p:cNvSpPr/>
          <p:nvPr/>
        </p:nvSpPr>
        <p:spPr>
          <a:xfrm>
            <a:off x="6248400" y="3327400"/>
            <a:ext cx="5334000" cy="609600"/>
          </a:xfrm>
          <a:prstGeom prst="roundRect">
            <a:avLst/>
          </a:prstGeom>
          <a:solidFill>
            <a:srgbClr val="1A2736"/>
          </a:solidFill>
          <a:ln w="12700" cap="flat" cmpd="sng" algn="ctr">
            <a:solidFill>
              <a:srgbClr val="2A3A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Oval 28">
            <a:extLst>
              <a:ext uri="{FF2B5EF4-FFF2-40B4-BE49-F238E27FC236}">
                <a16:creationId xmlns:a16="http://schemas.microsoft.com/office/drawing/2014/main" id="{82BADCCC-79C6-44F2-87CE-F0347B526B41}"/>
              </a:ext>
            </a:extLst>
          </p:cNvPr>
          <p:cNvSpPr/>
          <p:nvPr/>
        </p:nvSpPr>
        <p:spPr>
          <a:xfrm>
            <a:off x="6413500" y="3505200"/>
            <a:ext cx="254000" cy="254000"/>
          </a:xfrm>
          <a:prstGeom prst="ellipse">
            <a:avLst/>
          </a:prstGeom>
          <a:solidFill>
            <a:srgbClr val="81C78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TextBox 29">
            <a:extLst>
              <a:ext uri="{FF2B5EF4-FFF2-40B4-BE49-F238E27FC236}">
                <a16:creationId xmlns:a16="http://schemas.microsoft.com/office/drawing/2014/main" id="{73E3F549-758D-4243-B255-E085069F7217}"/>
              </a:ext>
            </a:extLst>
          </p:cNvPr>
          <p:cNvSpPr txBox="1"/>
          <p:nvPr/>
        </p:nvSpPr>
        <p:spPr>
          <a:xfrm>
            <a:off x="6794500" y="3378200"/>
            <a:ext cx="4572000" cy="279400"/>
          </a:xfrm>
          <a:prstGeom prst="rect">
            <a:avLst/>
          </a:prstGeom>
          <a:noFill/>
        </p:spPr>
        <p:txBody>
          <a:bodyPr vertOverflow="overflow" vert="horz" wrap="square" rtlCol="0" anchor="t">
            <a:spAutoFit/>
          </a:bodyPr>
          <a:lstStyle/>
          <a:p>
            <a:pPr algn="l"/>
            <a:r>
              <a:rPr lang="en-US" sz="1600" b="1">
                <a:solidFill>
                  <a:srgbClr val="FFFFFF"/>
                </a:solidFill>
              </a:rPr>
              <a:t>5 Pattern Builders</a:t>
            </a:r>
          </a:p>
        </p:txBody>
      </p:sp>
      <p:sp>
        <p:nvSpPr>
          <p:cNvPr id="31" name="TextBox 30">
            <a:extLst>
              <a:ext uri="{FF2B5EF4-FFF2-40B4-BE49-F238E27FC236}">
                <a16:creationId xmlns:a16="http://schemas.microsoft.com/office/drawing/2014/main" id="{27E10DBB-559B-4348-91F8-7FA4233F7FF0}"/>
              </a:ext>
            </a:extLst>
          </p:cNvPr>
          <p:cNvSpPr txBox="1"/>
          <p:nvPr/>
        </p:nvSpPr>
        <p:spPr>
          <a:xfrm>
            <a:off x="6794500" y="3657600"/>
            <a:ext cx="4572000" cy="254000"/>
          </a:xfrm>
          <a:prstGeom prst="rect">
            <a:avLst/>
          </a:prstGeom>
          <a:noFill/>
        </p:spPr>
        <p:txBody>
          <a:bodyPr vertOverflow="overflow" vert="horz" wrap="square" rtlCol="0" anchor="t">
            <a:spAutoFit/>
          </a:bodyPr>
          <a:lstStyle/>
          <a:p>
            <a:pPr algn="l"/>
            <a:r>
              <a:rPr lang="en-US" sz="1400">
                <a:solidFill>
                  <a:srgbClr val="B0BEC5"/>
                </a:solidFill>
              </a:rPr>
              <a:t>Sequential, Concurrent, Handoff, GroupChat, Magentic</a:t>
            </a:r>
          </a:p>
        </p:txBody>
      </p:sp>
      <p:sp>
        <p:nvSpPr>
          <p:cNvPr id="32" name="Rectangle: Rounded Corners 31">
            <a:extLst>
              <a:ext uri="{FF2B5EF4-FFF2-40B4-BE49-F238E27FC236}">
                <a16:creationId xmlns:a16="http://schemas.microsoft.com/office/drawing/2014/main" id="{F442F952-2E1E-4A06-B3D5-D8590C67605A}"/>
              </a:ext>
            </a:extLst>
          </p:cNvPr>
          <p:cNvSpPr/>
          <p:nvPr/>
        </p:nvSpPr>
        <p:spPr>
          <a:xfrm>
            <a:off x="6248400" y="4038600"/>
            <a:ext cx="5334000" cy="609600"/>
          </a:xfrm>
          <a:prstGeom prst="roundRect">
            <a:avLst/>
          </a:prstGeom>
          <a:solidFill>
            <a:srgbClr val="1A2736"/>
          </a:solidFill>
          <a:ln w="12700" cap="flat" cmpd="sng" algn="ctr">
            <a:solidFill>
              <a:srgbClr val="2A3A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Oval 32">
            <a:extLst>
              <a:ext uri="{FF2B5EF4-FFF2-40B4-BE49-F238E27FC236}">
                <a16:creationId xmlns:a16="http://schemas.microsoft.com/office/drawing/2014/main" id="{0548C327-4283-44D1-A747-9B5BAC1D1F8D}"/>
              </a:ext>
            </a:extLst>
          </p:cNvPr>
          <p:cNvSpPr/>
          <p:nvPr/>
        </p:nvSpPr>
        <p:spPr>
          <a:xfrm>
            <a:off x="6413500" y="4216400"/>
            <a:ext cx="254000" cy="254000"/>
          </a:xfrm>
          <a:prstGeom prst="ellipse">
            <a:avLst/>
          </a:prstGeom>
          <a:solidFill>
            <a:srgbClr val="CE93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TextBox 33">
            <a:extLst>
              <a:ext uri="{FF2B5EF4-FFF2-40B4-BE49-F238E27FC236}">
                <a16:creationId xmlns:a16="http://schemas.microsoft.com/office/drawing/2014/main" id="{C3787B72-7588-46E3-A9A6-78727F8201FC}"/>
              </a:ext>
            </a:extLst>
          </p:cNvPr>
          <p:cNvSpPr txBox="1"/>
          <p:nvPr/>
        </p:nvSpPr>
        <p:spPr>
          <a:xfrm>
            <a:off x="6794500" y="4089400"/>
            <a:ext cx="4572000" cy="279400"/>
          </a:xfrm>
          <a:prstGeom prst="rect">
            <a:avLst/>
          </a:prstGeom>
          <a:noFill/>
        </p:spPr>
        <p:txBody>
          <a:bodyPr vertOverflow="overflow" vert="horz" wrap="square" rtlCol="0" anchor="t">
            <a:spAutoFit/>
          </a:bodyPr>
          <a:lstStyle/>
          <a:p>
            <a:pPr algn="l"/>
            <a:r>
              <a:rPr lang="en-US" sz="1600" b="1">
                <a:solidFill>
                  <a:srgbClr val="FFFFFF"/>
                </a:solidFill>
              </a:rPr>
              <a:t>Built-in HITL</a:t>
            </a:r>
          </a:p>
        </p:txBody>
      </p:sp>
      <p:sp>
        <p:nvSpPr>
          <p:cNvPr id="35" name="TextBox 34">
            <a:extLst>
              <a:ext uri="{FF2B5EF4-FFF2-40B4-BE49-F238E27FC236}">
                <a16:creationId xmlns:a16="http://schemas.microsoft.com/office/drawing/2014/main" id="{DD7F5211-449F-465D-AB51-DF97D55E4231}"/>
              </a:ext>
            </a:extLst>
          </p:cNvPr>
          <p:cNvSpPr txBox="1"/>
          <p:nvPr/>
        </p:nvSpPr>
        <p:spPr>
          <a:xfrm>
            <a:off x="6794500" y="4368800"/>
            <a:ext cx="4572000" cy="254000"/>
          </a:xfrm>
          <a:prstGeom prst="rect">
            <a:avLst/>
          </a:prstGeom>
          <a:noFill/>
        </p:spPr>
        <p:txBody>
          <a:bodyPr vertOverflow="overflow" vert="horz" wrap="square" rtlCol="0" anchor="t">
            <a:spAutoFit/>
          </a:bodyPr>
          <a:lstStyle/>
          <a:p>
            <a:pPr algn="l"/>
            <a:r>
              <a:rPr lang="en-US" sz="1400" dirty="0">
                <a:solidFill>
                  <a:srgbClr val="B0BEC5"/>
                </a:solidFill>
              </a:rPr>
              <a:t>Pause for human input with checkpoint persistence</a:t>
            </a:r>
          </a:p>
        </p:txBody>
      </p:sp>
      <p:sp>
        <p:nvSpPr>
          <p:cNvPr id="36" name="TextBox 35">
            <a:extLst>
              <a:ext uri="{FF2B5EF4-FFF2-40B4-BE49-F238E27FC236}">
                <a16:creationId xmlns:a16="http://schemas.microsoft.com/office/drawing/2014/main" id="{D2EE5D89-5A1F-4C24-A418-BF40941814D8}"/>
              </a:ext>
            </a:extLst>
          </p:cNvPr>
          <p:cNvSpPr txBox="1"/>
          <p:nvPr/>
        </p:nvSpPr>
        <p:spPr>
          <a:xfrm>
            <a:off x="609600" y="5207000"/>
            <a:ext cx="10972800" cy="355600"/>
          </a:xfrm>
          <a:prstGeom prst="rect">
            <a:avLst/>
          </a:prstGeom>
          <a:noFill/>
        </p:spPr>
        <p:txBody>
          <a:bodyPr vertOverflow="overflow" vert="horz" wrap="square" rtlCol="0" anchor="t">
            <a:spAutoFit/>
          </a:bodyPr>
          <a:lstStyle/>
          <a:p>
            <a:pPr algn="l"/>
            <a:r>
              <a:rPr lang="en-US" sz="1400">
                <a:solidFill>
                  <a:srgbClr val="78909C"/>
                </a:solidFill>
              </a:rPr>
              <a:t>Python + C#  •  Public Preview  •  Successor to AutoGen + Semantic Kernel Agent Framework</a:t>
            </a:r>
          </a:p>
        </p:txBody>
      </p:sp>
      <p:pic>
        <p:nvPicPr>
          <p:cNvPr id="37" name="Graphic 37" descr="Network graph icon for workflow API"/>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49000" y="381000"/>
            <a:ext cx="762000" cy="762000"/>
          </a:xfrm>
          <a:prstGeom prst="rect">
            <a:avLst/>
          </a:prstGeom>
        </p:spPr>
      </p:pic>
    </p:spTree>
    <p:extLst>
      <p:ext uri="{BB962C8B-B14F-4D97-AF65-F5344CB8AC3E}">
        <p14:creationId xmlns:p14="http://schemas.microsoft.com/office/powerpoint/2010/main" val="4047415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F926C-EB04-4878-D691-2B673EE46289}"/>
              </a:ext>
            </a:extLst>
          </p:cNvPr>
          <p:cNvSpPr>
            <a:spLocks noGrp="1"/>
          </p:cNvSpPr>
          <p:nvPr>
            <p:ph type="title"/>
          </p:nvPr>
        </p:nvSpPr>
        <p:spPr>
          <a:xfrm>
            <a:off x="457200" y="152400"/>
            <a:ext cx="8890000" cy="457200"/>
          </a:xfrm>
        </p:spPr>
        <p:txBody>
          <a:bodyPr/>
          <a:lstStyle/>
          <a:p>
            <a:pPr>
              <a:buNone/>
            </a:pPr>
            <a:r>
              <a:rPr lang="en-US" sz="2400" b="1" dirty="0"/>
              <a:t>Agent2Agent (A2A) Protocol</a:t>
            </a:r>
          </a:p>
        </p:txBody>
      </p:sp>
      <p:sp>
        <p:nvSpPr>
          <p:cNvPr id="50" name="Sub"/>
          <p:cNvSpPr/>
          <p:nvPr/>
        </p:nvSpPr>
        <p:spPr>
          <a:xfrm>
            <a:off x="457200" y="609600"/>
            <a:ext cx="10515600" cy="304800"/>
          </a:xfrm>
          <a:prstGeom prst="rect">
            <a:avLst/>
          </a:prstGeom>
          <a:noFill/>
          <a:ln w="0">
            <a:noFill/>
          </a:ln>
        </p:spPr>
        <p:txBody>
          <a:bodyPr wrap="square" lIns="36000" anchor="ctr"/>
          <a:lstStyle/>
          <a:p>
            <a:pPr algn="l"/>
            <a:r>
              <a:rPr lang="en-US" sz="1400" dirty="0">
                <a:solidFill>
                  <a:srgbClr val="78909C"/>
                </a:solidFill>
              </a:rPr>
              <a:t>Open standard (v1.0.0) | Linux Foundation | Agent-to-Agent communication</a:t>
            </a:r>
          </a:p>
        </p:txBody>
      </p:sp>
      <p:sp>
        <p:nvSpPr>
          <p:cNvPr id="60" name="A2A"/>
          <p:cNvSpPr/>
          <p:nvPr/>
        </p:nvSpPr>
        <p:spPr>
          <a:xfrm>
            <a:off x="457200" y="1837623"/>
            <a:ext cx="3810000" cy="1981200"/>
          </a:xfrm>
          <a:prstGeom prst="roundRect">
            <a:avLst/>
          </a:prstGeom>
          <a:solidFill>
            <a:srgbClr val="1A2736"/>
          </a:solidFill>
          <a:ln w="19050">
            <a:solidFill>
              <a:srgbClr val="4FC3F7"/>
            </a:solidFill>
          </a:ln>
        </p:spPr>
        <p:txBody>
          <a:bodyPr wrap="square" lIns="91440" tIns="72000" rIns="91440" bIns="45720"/>
          <a:lstStyle/>
          <a:p>
            <a:pPr algn="ctr">
              <a:buNone/>
            </a:pPr>
            <a:r>
              <a:rPr lang="en-US" sz="2000" b="1" dirty="0">
                <a:solidFill>
                  <a:srgbClr val="4FC3F7"/>
                </a:solidFill>
              </a:rPr>
              <a:t>A2A</a:t>
            </a:r>
          </a:p>
          <a:p>
            <a:pPr algn="ctr">
              <a:buNone/>
            </a:pPr>
            <a:r>
              <a:rPr lang="en-US" sz="1400" dirty="0">
                <a:solidFill>
                  <a:srgbClr val="E8ECF1"/>
                </a:solidFill>
              </a:rPr>
              <a:t>Agent ↔ Agent</a:t>
            </a:r>
          </a:p>
          <a:p>
            <a:pPr algn="ctr">
              <a:buNone/>
            </a:pPr>
            <a:r>
              <a:rPr lang="en-US" sz="1200" dirty="0">
                <a:solidFill>
                  <a:srgbClr val="78909C"/>
                </a:solidFill>
              </a:rPr>
              <a:t>The "public internet"</a:t>
            </a:r>
          </a:p>
          <a:p>
            <a:pPr algn="ctr">
              <a:buNone/>
            </a:pPr>
            <a:r>
              <a:rPr lang="en-US" sz="1200" dirty="0">
                <a:solidFill>
                  <a:srgbClr val="78909C"/>
                </a:solidFill>
              </a:rPr>
              <a:t>between agents</a:t>
            </a:r>
          </a:p>
          <a:p>
            <a:pPr algn="ctr">
              <a:buNone/>
            </a:pPr>
            <a:endParaRPr lang="en-US" sz="800" dirty="0"/>
          </a:p>
          <a:p>
            <a:pPr algn="ctr">
              <a:buNone/>
            </a:pPr>
            <a:r>
              <a:rPr lang="en-US" sz="1200" dirty="0">
                <a:solidFill>
                  <a:srgbClr val="B0BEC5"/>
                </a:solidFill>
              </a:rPr>
              <a:t>Task-based, multi-turn</a:t>
            </a:r>
          </a:p>
          <a:p>
            <a:pPr algn="ctr">
              <a:buNone/>
            </a:pPr>
            <a:r>
              <a:rPr lang="en-US" sz="1200" dirty="0">
                <a:solidFill>
                  <a:srgbClr val="B0BEC5"/>
                </a:solidFill>
              </a:rPr>
              <a:t>Potentially long-running</a:t>
            </a:r>
          </a:p>
        </p:txBody>
      </p:sp>
      <p:sp>
        <p:nvSpPr>
          <p:cNvPr id="61" name="MCP"/>
          <p:cNvSpPr/>
          <p:nvPr/>
        </p:nvSpPr>
        <p:spPr>
          <a:xfrm>
            <a:off x="4724400" y="1837623"/>
            <a:ext cx="3810000" cy="1981200"/>
          </a:xfrm>
          <a:prstGeom prst="roundRect">
            <a:avLst/>
          </a:prstGeom>
          <a:solidFill>
            <a:srgbClr val="1A2736"/>
          </a:solidFill>
          <a:ln w="19050">
            <a:solidFill>
              <a:srgbClr val="CE93D8"/>
            </a:solidFill>
          </a:ln>
        </p:spPr>
        <p:txBody>
          <a:bodyPr wrap="square" lIns="91440" tIns="72000" rIns="91440" bIns="45720"/>
          <a:lstStyle/>
          <a:p>
            <a:pPr algn="ctr">
              <a:buNone/>
            </a:pPr>
            <a:r>
              <a:rPr lang="en-US" sz="2000" b="1" dirty="0">
                <a:solidFill>
                  <a:srgbClr val="CE93D8"/>
                </a:solidFill>
              </a:rPr>
              <a:t>MCP</a:t>
            </a:r>
          </a:p>
          <a:p>
            <a:pPr algn="ctr">
              <a:buNone/>
            </a:pPr>
            <a:r>
              <a:rPr lang="en-US" sz="1400" dirty="0">
                <a:solidFill>
                  <a:srgbClr val="E8ECF1"/>
                </a:solidFill>
              </a:rPr>
              <a:t>Agent ↔ Tool</a:t>
            </a:r>
          </a:p>
          <a:p>
            <a:pPr algn="ctr">
              <a:buNone/>
            </a:pPr>
            <a:r>
              <a:rPr lang="en-US" sz="1200" dirty="0">
                <a:solidFill>
                  <a:srgbClr val="78909C"/>
                </a:solidFill>
              </a:rPr>
              <a:t>The "how-to" for using</a:t>
            </a:r>
          </a:p>
          <a:p>
            <a:pPr algn="ctr">
              <a:buNone/>
            </a:pPr>
            <a:r>
              <a:rPr lang="en-US" sz="1200" dirty="0">
                <a:solidFill>
                  <a:srgbClr val="78909C"/>
                </a:solidFill>
              </a:rPr>
              <a:t>a specific tool</a:t>
            </a:r>
          </a:p>
          <a:p>
            <a:pPr algn="ctr">
              <a:buNone/>
            </a:pPr>
            <a:endParaRPr lang="en-US" sz="800" dirty="0"/>
          </a:p>
          <a:p>
            <a:pPr algn="ctr">
              <a:buNone/>
            </a:pPr>
            <a:r>
              <a:rPr lang="en-US" sz="1200" dirty="0">
                <a:solidFill>
                  <a:srgbClr val="B0BEC5"/>
                </a:solidFill>
              </a:rPr>
              <a:t>Request/response</a:t>
            </a:r>
          </a:p>
          <a:p>
            <a:pPr algn="ctr">
              <a:buNone/>
            </a:pPr>
            <a:r>
              <a:rPr lang="en-US" sz="1200" dirty="0">
                <a:solidFill>
                  <a:srgbClr val="B0BEC5"/>
                </a:solidFill>
              </a:rPr>
              <a:t>Function call style</a:t>
            </a:r>
          </a:p>
        </p:txBody>
      </p:sp>
      <p:sp>
        <p:nvSpPr>
          <p:cNvPr id="62" name="Comp"/>
          <p:cNvSpPr/>
          <p:nvPr/>
        </p:nvSpPr>
        <p:spPr>
          <a:xfrm>
            <a:off x="4267200" y="2523423"/>
            <a:ext cx="457200" cy="381000"/>
          </a:xfrm>
          <a:prstGeom prst="roundRect">
            <a:avLst/>
          </a:prstGeom>
          <a:solidFill>
            <a:srgbClr val="1A2736"/>
          </a:solidFill>
          <a:ln w="12700">
            <a:solidFill>
              <a:srgbClr val="FFB74D"/>
            </a:solidFill>
          </a:ln>
        </p:spPr>
        <p:txBody>
          <a:bodyPr wrap="square" lIns="18000" rIns="18000" anchor="ctr"/>
          <a:lstStyle/>
          <a:p>
            <a:pPr algn="ctr"/>
            <a:r>
              <a:rPr lang="en-US" sz="1000" b="1" dirty="0">
                <a:solidFill>
                  <a:srgbClr val="FFB74D"/>
                </a:solidFill>
              </a:rPr>
              <a:t>↔</a:t>
            </a:r>
          </a:p>
        </p:txBody>
      </p:sp>
      <p:sp>
        <p:nvSpPr>
          <p:cNvPr id="70" name="Concepts"/>
          <p:cNvSpPr/>
          <p:nvPr/>
        </p:nvSpPr>
        <p:spPr>
          <a:xfrm>
            <a:off x="8991600" y="1837623"/>
            <a:ext cx="2743200" cy="1981200"/>
          </a:xfrm>
          <a:prstGeom prst="roundRect">
            <a:avLst/>
          </a:prstGeom>
          <a:solidFill>
            <a:srgbClr val="1A2736"/>
          </a:solidFill>
          <a:ln w="0">
            <a:noFill/>
          </a:ln>
        </p:spPr>
        <p:txBody>
          <a:bodyPr wrap="square" lIns="91440" tIns="72000" rIns="91440" bIns="45720"/>
          <a:lstStyle/>
          <a:p>
            <a:pPr>
              <a:buNone/>
            </a:pPr>
            <a:r>
              <a:rPr lang="en-US" sz="1400" b="1" dirty="0">
                <a:solidFill>
                  <a:srgbClr val="4FC3F7"/>
                </a:solidFill>
              </a:rPr>
              <a:t>Core Concepts</a:t>
            </a:r>
          </a:p>
          <a:p>
            <a:pPr>
              <a:buFont typeface="Arial"/>
              <a:buChar char="•"/>
            </a:pPr>
            <a:r>
              <a:rPr lang="en-US" sz="1200" b="1" dirty="0">
                <a:solidFill>
                  <a:srgbClr val="E8ECF1"/>
                </a:solidFill>
              </a:rPr>
              <a:t>Agent Card</a:t>
            </a:r>
            <a:r>
              <a:rPr lang="en-US" sz="1200" dirty="0">
                <a:solidFill>
                  <a:srgbClr val="B0BEC5"/>
                </a:solidFill>
              </a:rPr>
              <a:t> — JSON metadata</a:t>
            </a:r>
          </a:p>
          <a:p>
            <a:pPr>
              <a:buFont typeface="Arial"/>
              <a:buChar char="•"/>
            </a:pPr>
            <a:r>
              <a:rPr lang="en-US" sz="1200" b="1" dirty="0">
                <a:solidFill>
                  <a:srgbClr val="E8ECF1"/>
                </a:solidFill>
              </a:rPr>
              <a:t>Task</a:t>
            </a:r>
            <a:r>
              <a:rPr lang="en-US" sz="1200" dirty="0">
                <a:solidFill>
                  <a:srgbClr val="B0BEC5"/>
                </a:solidFill>
              </a:rPr>
              <a:t> — Work unit lifecycle</a:t>
            </a:r>
          </a:p>
          <a:p>
            <a:pPr>
              <a:buFont typeface="Arial"/>
              <a:buChar char="•"/>
            </a:pPr>
            <a:r>
              <a:rPr lang="en-US" sz="1200" b="1" dirty="0">
                <a:solidFill>
                  <a:srgbClr val="E8ECF1"/>
                </a:solidFill>
              </a:rPr>
              <a:t>Message</a:t>
            </a:r>
            <a:r>
              <a:rPr lang="en-US" sz="1200" dirty="0">
                <a:solidFill>
                  <a:srgbClr val="B0BEC5"/>
                </a:solidFill>
              </a:rPr>
              <a:t> — Comm turn</a:t>
            </a:r>
          </a:p>
          <a:p>
            <a:pPr>
              <a:buFont typeface="Arial"/>
              <a:buChar char="•"/>
            </a:pPr>
            <a:r>
              <a:rPr lang="en-US" sz="1200" b="1" dirty="0">
                <a:solidFill>
                  <a:srgbClr val="E8ECF1"/>
                </a:solidFill>
              </a:rPr>
              <a:t>Artifact</a:t>
            </a:r>
            <a:r>
              <a:rPr lang="en-US" sz="1200" dirty="0">
                <a:solidFill>
                  <a:srgbClr val="B0BEC5"/>
                </a:solidFill>
              </a:rPr>
              <a:t> — Output data</a:t>
            </a:r>
          </a:p>
          <a:p>
            <a:pPr>
              <a:buFont typeface="Arial"/>
              <a:buChar char="•"/>
            </a:pPr>
            <a:r>
              <a:rPr lang="en-US" sz="1200" b="1" dirty="0">
                <a:solidFill>
                  <a:srgbClr val="E8ECF1"/>
                </a:solidFill>
              </a:rPr>
              <a:t>Streaming</a:t>
            </a:r>
            <a:r>
              <a:rPr lang="en-US" sz="1200" dirty="0">
                <a:solidFill>
                  <a:srgbClr val="B0BEC5"/>
                </a:solidFill>
              </a:rPr>
              <a:t> — SSE / gRPC</a:t>
            </a:r>
          </a:p>
        </p:txBody>
      </p:sp>
      <p:sp>
        <p:nvSpPr>
          <p:cNvPr id="80" name="Bindings"/>
          <p:cNvSpPr/>
          <p:nvPr/>
        </p:nvSpPr>
        <p:spPr>
          <a:xfrm>
            <a:off x="457200" y="4047423"/>
            <a:ext cx="11277600" cy="381000"/>
          </a:xfrm>
          <a:prstGeom prst="roundRect">
            <a:avLst/>
          </a:prstGeom>
          <a:solidFill>
            <a:srgbClr val="1A2736"/>
          </a:solidFill>
          <a:ln w="6350">
            <a:solidFill>
              <a:srgbClr val="4FC3F7"/>
            </a:solidFill>
          </a:ln>
        </p:spPr>
        <p:txBody>
          <a:bodyPr wrap="square" lIns="91440" anchor="ctr"/>
          <a:lstStyle/>
          <a:p>
            <a:pPr algn="ctr">
              <a:buNone/>
            </a:pPr>
            <a:r>
              <a:rPr lang="en-US" sz="1400" b="1" dirty="0">
                <a:solidFill>
                  <a:srgbClr val="4FC3F7"/>
                </a:solidFill>
              </a:rPr>
              <a:t>Protocol Bindings:  </a:t>
            </a:r>
            <a:r>
              <a:rPr lang="en-US" sz="1400" dirty="0">
                <a:solidFill>
                  <a:srgbClr val="B0BEC5"/>
                </a:solidFill>
              </a:rPr>
              <a:t>JSON-RPC 2.0   |   gRPC   |   HTTP+JSON/REST</a:t>
            </a:r>
          </a:p>
        </p:txBody>
      </p:sp>
      <p:sp>
        <p:nvSpPr>
          <p:cNvPr id="85" name="Insight"/>
          <p:cNvSpPr/>
          <p:nvPr/>
        </p:nvSpPr>
        <p:spPr>
          <a:xfrm>
            <a:off x="457200" y="4580823"/>
            <a:ext cx="11277600" cy="457200"/>
          </a:xfrm>
          <a:prstGeom prst="rect">
            <a:avLst/>
          </a:prstGeom>
          <a:noFill/>
          <a:ln w="0">
            <a:noFill/>
          </a:ln>
        </p:spPr>
        <p:txBody>
          <a:bodyPr wrap="square" lIns="91440" anchor="ctr"/>
          <a:lstStyle/>
          <a:p>
            <a:pPr>
              <a:buNone/>
            </a:pPr>
            <a:r>
              <a:rPr lang="en-US" sz="1400" dirty="0">
                <a:solidFill>
                  <a:srgbClr val="FFB74D"/>
                </a:solidFill>
              </a:rPr>
              <a:t>Key Insight:  </a:t>
            </a:r>
            <a:r>
              <a:rPr lang="en-US" sz="1400" dirty="0">
                <a:solidFill>
                  <a:srgbClr val="B0BEC5"/>
                </a:solidFill>
              </a:rPr>
              <a:t>A2A is outward-facing (between agents). MCP is inward-facing (agent-to-tools). They work together: an A2A Server may use MCP internally to invoke tools.</a:t>
            </a:r>
          </a:p>
        </p:txBody>
      </p:sp>
      <p:pic>
        <p:nvPicPr>
          <p:cNvPr id="86" name="Graphic 86" descr="Network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30000" y="101600"/>
            <a:ext cx="508000" cy="508000"/>
          </a:xfrm>
          <a:prstGeom prst="rect">
            <a:avLst/>
          </a:prstGeom>
        </p:spPr>
      </p:pic>
    </p:spTree>
    <p:extLst>
      <p:ext uri="{BB962C8B-B14F-4D97-AF65-F5344CB8AC3E}">
        <p14:creationId xmlns:p14="http://schemas.microsoft.com/office/powerpoint/2010/main" val="3093930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0B47D-D20A-4619-0BB9-A05F5B38E9F9}"/>
              </a:ext>
            </a:extLst>
          </p:cNvPr>
          <p:cNvSpPr>
            <a:spLocks noGrp="1"/>
          </p:cNvSpPr>
          <p:nvPr>
            <p:ph type="title"/>
          </p:nvPr>
        </p:nvSpPr>
        <p:spPr>
          <a:xfrm>
            <a:off x="457200" y="254000"/>
            <a:ext cx="10160000" cy="914400"/>
          </a:xfrm>
        </p:spPr>
        <p:txBody>
          <a:bodyPr>
            <a:normAutofit/>
          </a:bodyPr>
          <a:lstStyle/>
          <a:p>
            <a:r>
              <a:rPr lang="en-US" sz="2800"/>
              <a:t>In-Process vs A2A Communication</a:t>
            </a:r>
          </a:p>
        </p:txBody>
      </p:sp>
      <p:graphicFrame>
        <p:nvGraphicFramePr>
          <p:cNvPr id="4" name="Table 3">
            <a:extLst>
              <a:ext uri="{FF2B5EF4-FFF2-40B4-BE49-F238E27FC236}">
                <a16:creationId xmlns:a16="http://schemas.microsoft.com/office/drawing/2014/main" id="{30714FD9-863E-4814-A627-279338ADB6B6}"/>
              </a:ext>
            </a:extLst>
          </p:cNvPr>
          <p:cNvGraphicFramePr>
            <a:graphicFrameLocks noGrp="1"/>
          </p:cNvGraphicFramePr>
          <p:nvPr>
            <p:extLst>
              <p:ext uri="{D42A27DB-BD31-4B8C-83A1-F6EECF244321}">
                <p14:modId xmlns:p14="http://schemas.microsoft.com/office/powerpoint/2010/main" val="3138648867"/>
              </p:ext>
            </p:extLst>
          </p:nvPr>
        </p:nvGraphicFramePr>
        <p:xfrm>
          <a:off x="457200" y="1524000"/>
          <a:ext cx="11277600" cy="3937000"/>
        </p:xfrm>
        <a:graphic>
          <a:graphicData uri="http://schemas.openxmlformats.org/drawingml/2006/table">
            <a:tbl>
              <a:tblPr firstRow="1" bandRow="1">
                <a:tableStyleId>{5C22544A-7EE6-4342-B048-85BDC9FD1C3A}</a:tableStyleId>
              </a:tblPr>
              <a:tblGrid>
                <a:gridCol w="3759200">
                  <a:extLst>
                    <a:ext uri="{9D8B030D-6E8A-4147-A177-3AD203B41FA5}">
                      <a16:colId xmlns:a16="http://schemas.microsoft.com/office/drawing/2014/main" val="3343261324"/>
                    </a:ext>
                  </a:extLst>
                </a:gridCol>
                <a:gridCol w="3759200">
                  <a:extLst>
                    <a:ext uri="{9D8B030D-6E8A-4147-A177-3AD203B41FA5}">
                      <a16:colId xmlns:a16="http://schemas.microsoft.com/office/drawing/2014/main" val="3467743923"/>
                    </a:ext>
                  </a:extLst>
                </a:gridCol>
                <a:gridCol w="3759200">
                  <a:extLst>
                    <a:ext uri="{9D8B030D-6E8A-4147-A177-3AD203B41FA5}">
                      <a16:colId xmlns:a16="http://schemas.microsoft.com/office/drawing/2014/main" val="3806080875"/>
                    </a:ext>
                  </a:extLst>
                </a:gridCol>
              </a:tblGrid>
              <a:tr h="492125">
                <a:tc>
                  <a:txBody>
                    <a:bodyPr/>
                    <a:lstStyle/>
                    <a:p>
                      <a:pPr algn="ctr"/>
                      <a:r>
                        <a:rPr lang="en-US" sz="1400" b="1">
                          <a:solidFill>
                            <a:srgbClr val="4FC3F7"/>
                          </a:solidFill>
                        </a:rPr>
                        <a:t>Aspect</a:t>
                      </a:r>
                    </a:p>
                  </a:txBody>
                  <a:tcPr anchor="ctr">
                    <a:solidFill>
                      <a:srgbClr val="1A2736"/>
                    </a:solidFill>
                  </a:tcPr>
                </a:tc>
                <a:tc>
                  <a:txBody>
                    <a:bodyPr/>
                    <a:lstStyle/>
                    <a:p>
                      <a:pPr algn="ctr"/>
                      <a:r>
                        <a:rPr lang="en-US" sz="1400" b="1">
                          <a:solidFill>
                            <a:srgbClr val="4FC3F7"/>
                          </a:solidFill>
                        </a:rPr>
                        <a:t>In-Process (SK/AF)</a:t>
                      </a:r>
                    </a:p>
                  </a:txBody>
                  <a:tcPr anchor="ctr">
                    <a:solidFill>
                      <a:srgbClr val="1A2736"/>
                    </a:solidFill>
                  </a:tcPr>
                </a:tc>
                <a:tc>
                  <a:txBody>
                    <a:bodyPr/>
                    <a:lstStyle/>
                    <a:p>
                      <a:pPr algn="ctr"/>
                      <a:r>
                        <a:rPr lang="en-US" sz="1400" b="1">
                          <a:solidFill>
                            <a:srgbClr val="4FC3F7"/>
                          </a:solidFill>
                        </a:rPr>
                        <a:t>A2A (Inter-Process)</a:t>
                      </a:r>
                    </a:p>
                  </a:txBody>
                  <a:tcPr anchor="ctr">
                    <a:solidFill>
                      <a:srgbClr val="1A2736"/>
                    </a:solidFill>
                  </a:tcPr>
                </a:tc>
                <a:extLst>
                  <a:ext uri="{0D108BD9-81ED-4DB2-BD59-A6C34878D82A}">
                    <a16:rowId xmlns:a16="http://schemas.microsoft.com/office/drawing/2014/main" val="3420097030"/>
                  </a:ext>
                </a:extLst>
              </a:tr>
              <a:tr h="492125">
                <a:tc>
                  <a:txBody>
                    <a:bodyPr/>
                    <a:lstStyle/>
                    <a:p>
                      <a:pPr algn="l"/>
                      <a:r>
                        <a:rPr lang="en-US" sz="1400" b="1">
                          <a:solidFill>
                            <a:srgbClr val="E8ECF1"/>
                          </a:solidFill>
                        </a:rPr>
                        <a:t>Latency</a:t>
                      </a:r>
                    </a:p>
                  </a:txBody>
                  <a:tcPr anchor="ctr">
                    <a:solidFill>
                      <a:srgbClr val="1A2736"/>
                    </a:solidFill>
                  </a:tcPr>
                </a:tc>
                <a:tc>
                  <a:txBody>
                    <a:bodyPr/>
                    <a:lstStyle/>
                    <a:p>
                      <a:pPr algn="ctr"/>
                      <a:r>
                        <a:rPr lang="en-US" sz="1400">
                          <a:solidFill>
                            <a:srgbClr val="B0BEC5"/>
                          </a:solidFill>
                        </a:rPr>
                        <a:t>Nanoseconds</a:t>
                      </a:r>
                    </a:p>
                  </a:txBody>
                  <a:tcPr anchor="ctr">
                    <a:solidFill>
                      <a:srgbClr val="1A2736"/>
                    </a:solidFill>
                  </a:tcPr>
                </a:tc>
                <a:tc>
                  <a:txBody>
                    <a:bodyPr/>
                    <a:lstStyle/>
                    <a:p>
                      <a:pPr algn="ctr"/>
                      <a:r>
                        <a:rPr lang="en-US" sz="1400">
                          <a:solidFill>
                            <a:srgbClr val="B0BEC5"/>
                          </a:solidFill>
                        </a:rPr>
                        <a:t>Milliseconds to seconds</a:t>
                      </a:r>
                    </a:p>
                  </a:txBody>
                  <a:tcPr anchor="ctr">
                    <a:solidFill>
                      <a:srgbClr val="1A2736"/>
                    </a:solidFill>
                  </a:tcPr>
                </a:tc>
                <a:extLst>
                  <a:ext uri="{0D108BD9-81ED-4DB2-BD59-A6C34878D82A}">
                    <a16:rowId xmlns:a16="http://schemas.microsoft.com/office/drawing/2014/main" val="2813274503"/>
                  </a:ext>
                </a:extLst>
              </a:tr>
              <a:tr h="492125">
                <a:tc>
                  <a:txBody>
                    <a:bodyPr/>
                    <a:lstStyle/>
                    <a:p>
                      <a:pPr algn="l"/>
                      <a:r>
                        <a:rPr lang="en-US" sz="1400" b="1">
                          <a:solidFill>
                            <a:srgbClr val="E8ECF1"/>
                          </a:solidFill>
                        </a:rPr>
                        <a:t>Reliability</a:t>
                      </a:r>
                    </a:p>
                  </a:txBody>
                  <a:tcPr anchor="ctr">
                    <a:solidFill>
                      <a:srgbClr val="162231"/>
                    </a:solidFill>
                  </a:tcPr>
                </a:tc>
                <a:tc>
                  <a:txBody>
                    <a:bodyPr/>
                    <a:lstStyle/>
                    <a:p>
                      <a:pPr algn="ctr"/>
                      <a:r>
                        <a:rPr lang="en-US" sz="1400">
                          <a:solidFill>
                            <a:srgbClr val="B0BEC5"/>
                          </a:solidFill>
                        </a:rPr>
                        <a:t>Single process failure</a:t>
                      </a:r>
                    </a:p>
                  </a:txBody>
                  <a:tcPr anchor="ctr">
                    <a:solidFill>
                      <a:srgbClr val="162231"/>
                    </a:solidFill>
                  </a:tcPr>
                </a:tc>
                <a:tc>
                  <a:txBody>
                    <a:bodyPr/>
                    <a:lstStyle/>
                    <a:p>
                      <a:pPr algn="ctr"/>
                      <a:r>
                        <a:rPr lang="en-US" sz="1400">
                          <a:solidFill>
                            <a:srgbClr val="B0BEC5"/>
                          </a:solidFill>
                        </a:rPr>
                        <a:t>Independent failure domains</a:t>
                      </a:r>
                    </a:p>
                  </a:txBody>
                  <a:tcPr anchor="ctr">
                    <a:solidFill>
                      <a:srgbClr val="162231"/>
                    </a:solidFill>
                  </a:tcPr>
                </a:tc>
                <a:extLst>
                  <a:ext uri="{0D108BD9-81ED-4DB2-BD59-A6C34878D82A}">
                    <a16:rowId xmlns:a16="http://schemas.microsoft.com/office/drawing/2014/main" val="964481242"/>
                  </a:ext>
                </a:extLst>
              </a:tr>
              <a:tr h="492125">
                <a:tc>
                  <a:txBody>
                    <a:bodyPr/>
                    <a:lstStyle/>
                    <a:p>
                      <a:pPr algn="l"/>
                      <a:r>
                        <a:rPr lang="en-US" sz="1400" b="1">
                          <a:solidFill>
                            <a:srgbClr val="E8ECF1"/>
                          </a:solidFill>
                        </a:rPr>
                        <a:t>Scalability</a:t>
                      </a:r>
                    </a:p>
                  </a:txBody>
                  <a:tcPr anchor="ctr">
                    <a:solidFill>
                      <a:srgbClr val="1A2736"/>
                    </a:solidFill>
                  </a:tcPr>
                </a:tc>
                <a:tc>
                  <a:txBody>
                    <a:bodyPr/>
                    <a:lstStyle/>
                    <a:p>
                      <a:pPr algn="ctr"/>
                      <a:r>
                        <a:rPr lang="en-US" sz="1400">
                          <a:solidFill>
                            <a:srgbClr val="B0BEC5"/>
                          </a:solidFill>
                        </a:rPr>
                        <a:t>Scales as one unit</a:t>
                      </a:r>
                    </a:p>
                  </a:txBody>
                  <a:tcPr anchor="ctr">
                    <a:solidFill>
                      <a:srgbClr val="1A2736"/>
                    </a:solidFill>
                  </a:tcPr>
                </a:tc>
                <a:tc>
                  <a:txBody>
                    <a:bodyPr/>
                    <a:lstStyle/>
                    <a:p>
                      <a:pPr algn="ctr"/>
                      <a:r>
                        <a:rPr lang="en-US" sz="1400">
                          <a:solidFill>
                            <a:srgbClr val="B0BEC5"/>
                          </a:solidFill>
                        </a:rPr>
                        <a:t>Independently scalable</a:t>
                      </a:r>
                    </a:p>
                  </a:txBody>
                  <a:tcPr anchor="ctr">
                    <a:solidFill>
                      <a:srgbClr val="1A2736"/>
                    </a:solidFill>
                  </a:tcPr>
                </a:tc>
                <a:extLst>
                  <a:ext uri="{0D108BD9-81ED-4DB2-BD59-A6C34878D82A}">
                    <a16:rowId xmlns:a16="http://schemas.microsoft.com/office/drawing/2014/main" val="1611628560"/>
                  </a:ext>
                </a:extLst>
              </a:tr>
              <a:tr h="492125">
                <a:tc>
                  <a:txBody>
                    <a:bodyPr/>
                    <a:lstStyle/>
                    <a:p>
                      <a:pPr algn="l"/>
                      <a:r>
                        <a:rPr lang="en-US" sz="1400" b="1">
                          <a:solidFill>
                            <a:srgbClr val="E8ECF1"/>
                          </a:solidFill>
                        </a:rPr>
                        <a:t>Framework</a:t>
                      </a:r>
                    </a:p>
                  </a:txBody>
                  <a:tcPr anchor="ctr">
                    <a:solidFill>
                      <a:srgbClr val="162231"/>
                    </a:solidFill>
                  </a:tcPr>
                </a:tc>
                <a:tc>
                  <a:txBody>
                    <a:bodyPr/>
                    <a:lstStyle/>
                    <a:p>
                      <a:pPr algn="ctr"/>
                      <a:r>
                        <a:rPr lang="en-US" sz="1400">
                          <a:solidFill>
                            <a:srgbClr val="B0BEC5"/>
                          </a:solidFill>
                        </a:rPr>
                        <a:t>Same language required</a:t>
                      </a:r>
                    </a:p>
                  </a:txBody>
                  <a:tcPr anchor="ctr">
                    <a:solidFill>
                      <a:srgbClr val="162231"/>
                    </a:solidFill>
                  </a:tcPr>
                </a:tc>
                <a:tc>
                  <a:txBody>
                    <a:bodyPr/>
                    <a:lstStyle/>
                    <a:p>
                      <a:pPr algn="ctr"/>
                      <a:r>
                        <a:rPr lang="en-US" sz="1400">
                          <a:solidFill>
                            <a:srgbClr val="B0BEC5"/>
                          </a:solidFill>
                        </a:rPr>
                        <a:t>Any framework, any language</a:t>
                      </a:r>
                    </a:p>
                  </a:txBody>
                  <a:tcPr anchor="ctr">
                    <a:solidFill>
                      <a:srgbClr val="162231"/>
                    </a:solidFill>
                  </a:tcPr>
                </a:tc>
                <a:extLst>
                  <a:ext uri="{0D108BD9-81ED-4DB2-BD59-A6C34878D82A}">
                    <a16:rowId xmlns:a16="http://schemas.microsoft.com/office/drawing/2014/main" val="2615751087"/>
                  </a:ext>
                </a:extLst>
              </a:tr>
              <a:tr h="492125">
                <a:tc>
                  <a:txBody>
                    <a:bodyPr/>
                    <a:lstStyle/>
                    <a:p>
                      <a:pPr algn="l"/>
                      <a:r>
                        <a:rPr lang="en-US" sz="1400" b="1">
                          <a:solidFill>
                            <a:srgbClr val="E8ECF1"/>
                          </a:solidFill>
                        </a:rPr>
                        <a:t>Deployment</a:t>
                      </a:r>
                    </a:p>
                  </a:txBody>
                  <a:tcPr anchor="ctr">
                    <a:solidFill>
                      <a:srgbClr val="1A2736"/>
                    </a:solidFill>
                  </a:tcPr>
                </a:tc>
                <a:tc>
                  <a:txBody>
                    <a:bodyPr/>
                    <a:lstStyle/>
                    <a:p>
                      <a:pPr algn="ctr"/>
                      <a:r>
                        <a:rPr lang="en-US" sz="1400">
                          <a:solidFill>
                            <a:srgbClr val="B0BEC5"/>
                          </a:solidFill>
                        </a:rPr>
                        <a:t>Single deployment</a:t>
                      </a:r>
                    </a:p>
                  </a:txBody>
                  <a:tcPr anchor="ctr">
                    <a:solidFill>
                      <a:srgbClr val="1A2736"/>
                    </a:solidFill>
                  </a:tcPr>
                </a:tc>
                <a:tc>
                  <a:txBody>
                    <a:bodyPr/>
                    <a:lstStyle/>
                    <a:p>
                      <a:pPr algn="ctr"/>
                      <a:r>
                        <a:rPr lang="en-US" sz="1400">
                          <a:solidFill>
                            <a:srgbClr val="B0BEC5"/>
                          </a:solidFill>
                        </a:rPr>
                        <a:t>Independent per agent</a:t>
                      </a:r>
                    </a:p>
                  </a:txBody>
                  <a:tcPr anchor="ctr">
                    <a:solidFill>
                      <a:srgbClr val="1A2736"/>
                    </a:solidFill>
                  </a:tcPr>
                </a:tc>
                <a:extLst>
                  <a:ext uri="{0D108BD9-81ED-4DB2-BD59-A6C34878D82A}">
                    <a16:rowId xmlns:a16="http://schemas.microsoft.com/office/drawing/2014/main" val="4212338135"/>
                  </a:ext>
                </a:extLst>
              </a:tr>
              <a:tr h="492125">
                <a:tc>
                  <a:txBody>
                    <a:bodyPr/>
                    <a:lstStyle/>
                    <a:p>
                      <a:pPr algn="l"/>
                      <a:r>
                        <a:rPr lang="en-US" sz="1400" b="1">
                          <a:solidFill>
                            <a:srgbClr val="E8ECF1"/>
                          </a:solidFill>
                        </a:rPr>
                        <a:t>Security</a:t>
                      </a:r>
                    </a:p>
                  </a:txBody>
                  <a:tcPr anchor="ctr">
                    <a:solidFill>
                      <a:srgbClr val="162231"/>
                    </a:solidFill>
                  </a:tcPr>
                </a:tc>
                <a:tc>
                  <a:txBody>
                    <a:bodyPr/>
                    <a:lstStyle/>
                    <a:p>
                      <a:pPr algn="ctr"/>
                      <a:r>
                        <a:rPr lang="en-US" sz="1400">
                          <a:solidFill>
                            <a:srgbClr val="B0BEC5"/>
                          </a:solidFill>
                        </a:rPr>
                        <a:t>In-process trust</a:t>
                      </a:r>
                    </a:p>
                  </a:txBody>
                  <a:tcPr anchor="ctr">
                    <a:solidFill>
                      <a:srgbClr val="162231"/>
                    </a:solidFill>
                  </a:tcPr>
                </a:tc>
                <a:tc>
                  <a:txBody>
                    <a:bodyPr/>
                    <a:lstStyle/>
                    <a:p>
                      <a:pPr algn="ctr"/>
                      <a:r>
                        <a:rPr lang="en-US" sz="1400">
                          <a:solidFill>
                            <a:srgbClr val="B0BEC5"/>
                          </a:solidFill>
                        </a:rPr>
                        <a:t>Network auth (OAuth, mTLS)</a:t>
                      </a:r>
                    </a:p>
                  </a:txBody>
                  <a:tcPr anchor="ctr">
                    <a:solidFill>
                      <a:srgbClr val="162231"/>
                    </a:solidFill>
                  </a:tcPr>
                </a:tc>
                <a:extLst>
                  <a:ext uri="{0D108BD9-81ED-4DB2-BD59-A6C34878D82A}">
                    <a16:rowId xmlns:a16="http://schemas.microsoft.com/office/drawing/2014/main" val="3429179544"/>
                  </a:ext>
                </a:extLst>
              </a:tr>
              <a:tr h="492125">
                <a:tc>
                  <a:txBody>
                    <a:bodyPr/>
                    <a:lstStyle/>
                    <a:p>
                      <a:pPr algn="l"/>
                      <a:r>
                        <a:rPr lang="en-US" sz="1400" b="1">
                          <a:solidFill>
                            <a:srgbClr val="E8ECF1"/>
                          </a:solidFill>
                        </a:rPr>
                        <a:t>Team Ownership</a:t>
                      </a:r>
                    </a:p>
                  </a:txBody>
                  <a:tcPr anchor="ctr">
                    <a:solidFill>
                      <a:srgbClr val="1A2736"/>
                    </a:solidFill>
                  </a:tcPr>
                </a:tc>
                <a:tc>
                  <a:txBody>
                    <a:bodyPr/>
                    <a:lstStyle/>
                    <a:p>
                      <a:pPr algn="ctr"/>
                      <a:r>
                        <a:rPr lang="en-US" sz="1400">
                          <a:solidFill>
                            <a:srgbClr val="B0BEC5"/>
                          </a:solidFill>
                        </a:rPr>
                        <a:t>Same team</a:t>
                      </a:r>
                    </a:p>
                  </a:txBody>
                  <a:tcPr anchor="ctr">
                    <a:solidFill>
                      <a:srgbClr val="1A2736"/>
                    </a:solidFill>
                  </a:tcPr>
                </a:tc>
                <a:tc>
                  <a:txBody>
                    <a:bodyPr/>
                    <a:lstStyle/>
                    <a:p>
                      <a:pPr algn="ctr"/>
                      <a:r>
                        <a:rPr lang="en-US" sz="1400">
                          <a:solidFill>
                            <a:srgbClr val="B0BEC5"/>
                          </a:solidFill>
                        </a:rPr>
                        <a:t>Different teams/orgs</a:t>
                      </a:r>
                    </a:p>
                  </a:txBody>
                  <a:tcPr anchor="ctr">
                    <a:solidFill>
                      <a:srgbClr val="1A2736"/>
                    </a:solidFill>
                  </a:tcPr>
                </a:tc>
                <a:extLst>
                  <a:ext uri="{0D108BD9-81ED-4DB2-BD59-A6C34878D82A}">
                    <a16:rowId xmlns:a16="http://schemas.microsoft.com/office/drawing/2014/main" val="3547453012"/>
                  </a:ext>
                </a:extLst>
              </a:tr>
            </a:tbl>
          </a:graphicData>
        </a:graphic>
      </p:graphicFrame>
      <p:sp>
        <p:nvSpPr>
          <p:cNvPr id="5" name="Rectangle: Rounded Corners 4">
            <a:extLst>
              <a:ext uri="{FF2B5EF4-FFF2-40B4-BE49-F238E27FC236}">
                <a16:creationId xmlns:a16="http://schemas.microsoft.com/office/drawing/2014/main" id="{90C04AC4-5003-4DF3-A0B8-17197C19BB64}"/>
              </a:ext>
            </a:extLst>
          </p:cNvPr>
          <p:cNvSpPr/>
          <p:nvPr/>
        </p:nvSpPr>
        <p:spPr>
          <a:xfrm>
            <a:off x="457200" y="5588000"/>
            <a:ext cx="5461000" cy="1016000"/>
          </a:xfrm>
          <a:prstGeom prst="roundRect">
            <a:avLst/>
          </a:prstGeom>
          <a:solidFill>
            <a:srgbClr val="1A2736"/>
          </a:solidFill>
          <a:ln w="25400" cap="flat" cmpd="sng" algn="ctr">
            <a:solidFill>
              <a:srgbClr val="81C78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5E1B38D0-D031-4F73-9C64-1BB1F2B09E93}"/>
              </a:ext>
            </a:extLst>
          </p:cNvPr>
          <p:cNvSpPr txBox="1"/>
          <p:nvPr/>
        </p:nvSpPr>
        <p:spPr>
          <a:xfrm>
            <a:off x="609600" y="5626100"/>
            <a:ext cx="5156200" cy="304800"/>
          </a:xfrm>
          <a:prstGeom prst="rect">
            <a:avLst/>
          </a:prstGeom>
          <a:noFill/>
        </p:spPr>
        <p:txBody>
          <a:bodyPr vertOverflow="overflow" vert="horz" wrap="square" rtlCol="0" anchor="t">
            <a:spAutoFit/>
          </a:bodyPr>
          <a:lstStyle/>
          <a:p>
            <a:pPr algn="l"/>
            <a:r>
              <a:rPr lang="en-US" sz="1400" b="1">
                <a:solidFill>
                  <a:srgbClr val="81C784"/>
                </a:solidFill>
              </a:rPr>
              <a:t>Use In-Process When:</a:t>
            </a:r>
          </a:p>
        </p:txBody>
      </p:sp>
      <p:sp>
        <p:nvSpPr>
          <p:cNvPr id="7" name="TextBox 6">
            <a:extLst>
              <a:ext uri="{FF2B5EF4-FFF2-40B4-BE49-F238E27FC236}">
                <a16:creationId xmlns:a16="http://schemas.microsoft.com/office/drawing/2014/main" id="{B85BDAB8-DB5E-4A23-9086-C6C9FA55D883}"/>
              </a:ext>
            </a:extLst>
          </p:cNvPr>
          <p:cNvSpPr txBox="1"/>
          <p:nvPr/>
        </p:nvSpPr>
        <p:spPr>
          <a:xfrm>
            <a:off x="609600" y="5943600"/>
            <a:ext cx="5156200" cy="584200"/>
          </a:xfrm>
          <a:prstGeom prst="rect">
            <a:avLst/>
          </a:prstGeom>
          <a:noFill/>
        </p:spPr>
        <p:txBody>
          <a:bodyPr vertOverflow="overflow" vert="horz" wrap="square" rtlCol="0" anchor="t">
            <a:spAutoFit/>
          </a:bodyPr>
          <a:lstStyle/>
          <a:p>
            <a:pPr algn="l"/>
            <a:r>
              <a:rPr lang="en-US" sz="1400">
                <a:solidFill>
                  <a:srgbClr val="B0BEC5"/>
                </a:solidFill>
              </a:rPr>
              <a:t>Same team, same stack, low latency, simple deployment, shared state, prototyping</a:t>
            </a:r>
          </a:p>
        </p:txBody>
      </p:sp>
      <p:sp>
        <p:nvSpPr>
          <p:cNvPr id="8" name="Rectangle: Rounded Corners 7">
            <a:extLst>
              <a:ext uri="{FF2B5EF4-FFF2-40B4-BE49-F238E27FC236}">
                <a16:creationId xmlns:a16="http://schemas.microsoft.com/office/drawing/2014/main" id="{BF59B6D8-20A1-44FB-9787-5C4EBAEABEC7}"/>
              </a:ext>
            </a:extLst>
          </p:cNvPr>
          <p:cNvSpPr/>
          <p:nvPr/>
        </p:nvSpPr>
        <p:spPr>
          <a:xfrm>
            <a:off x="6273800" y="5588000"/>
            <a:ext cx="5461000" cy="1016000"/>
          </a:xfrm>
          <a:prstGeom prst="roundRect">
            <a:avLst/>
          </a:prstGeom>
          <a:solidFill>
            <a:srgbClr val="1A2736"/>
          </a:solidFill>
          <a:ln w="25400" cap="flat" cmpd="sng" algn="ctr">
            <a:solidFill>
              <a:srgbClr val="4FC3F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98B22ABA-10CD-4E04-A5E5-41A2AEA61754}"/>
              </a:ext>
            </a:extLst>
          </p:cNvPr>
          <p:cNvSpPr txBox="1"/>
          <p:nvPr/>
        </p:nvSpPr>
        <p:spPr>
          <a:xfrm>
            <a:off x="6426200" y="5626100"/>
            <a:ext cx="5156200" cy="304800"/>
          </a:xfrm>
          <a:prstGeom prst="rect">
            <a:avLst/>
          </a:prstGeom>
          <a:noFill/>
        </p:spPr>
        <p:txBody>
          <a:bodyPr vertOverflow="overflow" vert="horz" wrap="square" rtlCol="0" anchor="t">
            <a:spAutoFit/>
          </a:bodyPr>
          <a:lstStyle/>
          <a:p>
            <a:pPr algn="l"/>
            <a:r>
              <a:rPr lang="en-US" sz="1400" b="1">
                <a:solidFill>
                  <a:srgbClr val="4FC3F7"/>
                </a:solidFill>
              </a:rPr>
              <a:t>Use A2A When:</a:t>
            </a:r>
          </a:p>
        </p:txBody>
      </p:sp>
      <p:sp>
        <p:nvSpPr>
          <p:cNvPr id="10" name="TextBox 9">
            <a:extLst>
              <a:ext uri="{FF2B5EF4-FFF2-40B4-BE49-F238E27FC236}">
                <a16:creationId xmlns:a16="http://schemas.microsoft.com/office/drawing/2014/main" id="{66BDBB78-CE6D-4AF9-9830-C89A1438F573}"/>
              </a:ext>
            </a:extLst>
          </p:cNvPr>
          <p:cNvSpPr txBox="1"/>
          <p:nvPr/>
        </p:nvSpPr>
        <p:spPr>
          <a:xfrm>
            <a:off x="6426200" y="5943600"/>
            <a:ext cx="5156200" cy="584200"/>
          </a:xfrm>
          <a:prstGeom prst="rect">
            <a:avLst/>
          </a:prstGeom>
          <a:noFill/>
        </p:spPr>
        <p:txBody>
          <a:bodyPr vertOverflow="overflow" vert="horz" wrap="square" rtlCol="0" anchor="t">
            <a:spAutoFit/>
          </a:bodyPr>
          <a:lstStyle/>
          <a:p>
            <a:pPr algn="l"/>
            <a:r>
              <a:rPr lang="en-US" sz="1400">
                <a:solidFill>
                  <a:srgbClr val="B0BEC5"/>
                </a:solidFill>
              </a:rPr>
              <a:t>Different teams, polyglot systems, independent scaling, security boundaries, async tasks</a:t>
            </a:r>
          </a:p>
        </p:txBody>
      </p:sp>
    </p:spTree>
    <p:extLst>
      <p:ext uri="{BB962C8B-B14F-4D97-AF65-F5344CB8AC3E}">
        <p14:creationId xmlns:p14="http://schemas.microsoft.com/office/powerpoint/2010/main" val="1692490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AC2FF-C406-B0BD-4D77-DD801534D29F}"/>
              </a:ext>
            </a:extLst>
          </p:cNvPr>
          <p:cNvSpPr>
            <a:spLocks noGrp="1"/>
          </p:cNvSpPr>
          <p:nvPr>
            <p:ph type="title"/>
          </p:nvPr>
        </p:nvSpPr>
        <p:spPr>
          <a:xfrm>
            <a:off x="457200" y="152400"/>
            <a:ext cx="8890000" cy="457200"/>
          </a:xfrm>
        </p:spPr>
        <p:txBody>
          <a:bodyPr/>
          <a:lstStyle/>
          <a:p>
            <a:pPr>
              <a:buNone/>
            </a:pPr>
            <a:r>
              <a:rPr lang="en-US" sz="2400" b="1" dirty="0"/>
              <a:t>Hybrid Architecture</a:t>
            </a:r>
          </a:p>
        </p:txBody>
      </p:sp>
      <p:sp>
        <p:nvSpPr>
          <p:cNvPr id="50" name="Sub"/>
          <p:cNvSpPr/>
          <p:nvPr/>
        </p:nvSpPr>
        <p:spPr>
          <a:xfrm>
            <a:off x="457200" y="609600"/>
            <a:ext cx="10515600" cy="304800"/>
          </a:xfrm>
          <a:prstGeom prst="rect">
            <a:avLst/>
          </a:prstGeom>
          <a:noFill/>
          <a:ln w="0">
            <a:noFill/>
          </a:ln>
        </p:spPr>
        <p:txBody>
          <a:bodyPr wrap="square" lIns="36000" anchor="ctr"/>
          <a:lstStyle/>
          <a:p>
            <a:pPr algn="l"/>
            <a:r>
              <a:rPr lang="en-US" sz="1400" dirty="0">
                <a:solidFill>
                  <a:srgbClr val="78909C"/>
                </a:solidFill>
              </a:rPr>
              <a:t>In-process orchestration within services + A2A for cross-team communication</a:t>
            </a:r>
          </a:p>
        </p:txBody>
      </p:sp>
      <p:sp>
        <p:nvSpPr>
          <p:cNvPr id="55" name="User"/>
          <p:cNvSpPr/>
          <p:nvPr/>
        </p:nvSpPr>
        <p:spPr>
          <a:xfrm>
            <a:off x="1746183" y="1752600"/>
            <a:ext cx="1371600" cy="685800"/>
          </a:xfrm>
          <a:prstGeom prst="roundRect">
            <a:avLst/>
          </a:prstGeom>
          <a:solidFill>
            <a:srgbClr val="4FC3F7"/>
          </a:solidFill>
          <a:ln w="0">
            <a:noFill/>
          </a:ln>
        </p:spPr>
        <p:txBody>
          <a:bodyPr wrap="square" lIns="36000" tIns="36000" rIns="36000" bIns="36000" anchor="ctr"/>
          <a:lstStyle/>
          <a:p>
            <a:pPr algn="ctr"/>
            <a:r>
              <a:rPr lang="en-US" sz="1600" b="1" dirty="0">
                <a:solidFill>
                  <a:srgbClr val="0F1923"/>
                </a:solidFill>
              </a:rPr>
              <a:t>User / Frontend</a:t>
            </a:r>
          </a:p>
        </p:txBody>
      </p:sp>
      <p:sp>
        <p:nvSpPr>
          <p:cNvPr id="56" name="Ar1"/>
          <p:cNvSpPr/>
          <p:nvPr/>
        </p:nvSpPr>
        <p:spPr>
          <a:xfrm>
            <a:off x="3193983" y="2057400"/>
            <a:ext cx="304800" cy="152400"/>
          </a:xfrm>
          <a:prstGeom prst="rightArrow">
            <a:avLst/>
          </a:prstGeom>
          <a:solidFill>
            <a:srgbClr val="4FC3F7"/>
          </a:solidFill>
          <a:ln w="0">
            <a:noFill/>
          </a:ln>
        </p:spPr>
        <p:txBody>
          <a:bodyPr/>
          <a:lstStyle/>
          <a:p>
            <a:endParaRPr lang="en-US"/>
          </a:p>
        </p:txBody>
      </p:sp>
      <p:sp>
        <p:nvSpPr>
          <p:cNvPr id="57" name="OrcBg"/>
          <p:cNvSpPr/>
          <p:nvPr/>
        </p:nvSpPr>
        <p:spPr>
          <a:xfrm>
            <a:off x="3574983" y="1752600"/>
            <a:ext cx="4114800" cy="2819400"/>
          </a:xfrm>
          <a:prstGeom prst="roundRect">
            <a:avLst/>
          </a:prstGeom>
          <a:solidFill>
            <a:srgbClr val="1A2736"/>
          </a:solidFill>
          <a:ln w="19050">
            <a:solidFill>
              <a:srgbClr val="FFB74D"/>
            </a:solidFill>
          </a:ln>
        </p:spPr>
        <p:txBody>
          <a:bodyPr/>
          <a:lstStyle/>
          <a:p>
            <a:endParaRPr lang="en-US"/>
          </a:p>
        </p:txBody>
      </p:sp>
      <p:sp>
        <p:nvSpPr>
          <p:cNvPr id="58" name="OrcLabel"/>
          <p:cNvSpPr/>
          <p:nvPr/>
        </p:nvSpPr>
        <p:spPr>
          <a:xfrm>
            <a:off x="3651183" y="1828800"/>
            <a:ext cx="3962400" cy="304800"/>
          </a:xfrm>
          <a:prstGeom prst="rect">
            <a:avLst/>
          </a:prstGeom>
          <a:noFill/>
          <a:ln w="0">
            <a:noFill/>
          </a:ln>
        </p:spPr>
        <p:txBody>
          <a:bodyPr wrap="square" anchor="ctr"/>
          <a:lstStyle/>
          <a:p>
            <a:pPr algn="l"/>
            <a:r>
              <a:rPr lang="en-US" sz="1600" b="1" dirty="0">
                <a:solidFill>
                  <a:srgbClr val="FFB74D"/>
                </a:solidFill>
              </a:rPr>
              <a:t>Orchestrator Agent (ASP.NET)</a:t>
            </a:r>
          </a:p>
        </p:txBody>
      </p:sp>
      <p:sp>
        <p:nvSpPr>
          <p:cNvPr id="60" name="InProc1"/>
          <p:cNvSpPr/>
          <p:nvPr/>
        </p:nvSpPr>
        <p:spPr>
          <a:xfrm>
            <a:off x="4244340" y="2362199"/>
            <a:ext cx="2500162" cy="513949"/>
          </a:xfrm>
          <a:prstGeom prst="roundRect">
            <a:avLst/>
          </a:prstGeom>
          <a:solidFill>
            <a:srgbClr val="162231"/>
          </a:solidFill>
          <a:ln w="12700">
            <a:solidFill>
              <a:srgbClr val="81C784"/>
            </a:solidFill>
          </a:ln>
        </p:spPr>
        <p:txBody>
          <a:bodyPr wrap="square" lIns="36000" tIns="36000" rIns="36000" bIns="36000" anchor="ctr"/>
          <a:lstStyle/>
          <a:p>
            <a:pPr algn="ctr"/>
            <a:r>
              <a:rPr lang="en-US" sz="1200" b="1" dirty="0">
                <a:solidFill>
                  <a:srgbClr val="81C784"/>
                </a:solidFill>
              </a:rPr>
              <a:t>In-Process Agent 1
(SK / Agent Framework)</a:t>
            </a:r>
          </a:p>
        </p:txBody>
      </p:sp>
      <p:sp>
        <p:nvSpPr>
          <p:cNvPr id="61" name="InProc2"/>
          <p:cNvSpPr/>
          <p:nvPr/>
        </p:nvSpPr>
        <p:spPr>
          <a:xfrm>
            <a:off x="4244340" y="2971800"/>
            <a:ext cx="2500162" cy="685800"/>
          </a:xfrm>
          <a:prstGeom prst="roundRect">
            <a:avLst/>
          </a:prstGeom>
          <a:solidFill>
            <a:srgbClr val="162231"/>
          </a:solidFill>
          <a:ln w="12700">
            <a:solidFill>
              <a:srgbClr val="81C784"/>
            </a:solidFill>
          </a:ln>
        </p:spPr>
        <p:txBody>
          <a:bodyPr wrap="square" lIns="36000" tIns="36000" rIns="36000" bIns="36000" anchor="ctr"/>
          <a:lstStyle/>
          <a:p>
            <a:pPr algn="ctr"/>
            <a:r>
              <a:rPr lang="en-US" sz="1200" b="1" dirty="0">
                <a:solidFill>
                  <a:srgbClr val="81C784"/>
                </a:solidFill>
              </a:rPr>
              <a:t>In-Process Agent 2
(SK / Agent Framework)</a:t>
            </a:r>
          </a:p>
        </p:txBody>
      </p:sp>
      <p:sp>
        <p:nvSpPr>
          <p:cNvPr id="62" name="InProc3"/>
          <p:cNvSpPr/>
          <p:nvPr/>
        </p:nvSpPr>
        <p:spPr>
          <a:xfrm>
            <a:off x="4229902" y="3753251"/>
            <a:ext cx="2500162" cy="685800"/>
          </a:xfrm>
          <a:prstGeom prst="roundRect">
            <a:avLst/>
          </a:prstGeom>
          <a:solidFill>
            <a:srgbClr val="162231"/>
          </a:solidFill>
          <a:ln w="12700">
            <a:solidFill>
              <a:srgbClr val="81C784"/>
            </a:solidFill>
          </a:ln>
        </p:spPr>
        <p:txBody>
          <a:bodyPr wrap="square" lIns="36000" tIns="36000" rIns="36000" bIns="36000" anchor="ctr"/>
          <a:lstStyle/>
          <a:p>
            <a:pPr algn="ctr"/>
            <a:r>
              <a:rPr lang="en-US" sz="1200" b="1" dirty="0">
                <a:solidFill>
                  <a:srgbClr val="81C784"/>
                </a:solidFill>
              </a:rPr>
              <a:t>In-Process Agent 3
(SK / Agent Framework)</a:t>
            </a:r>
          </a:p>
        </p:txBody>
      </p:sp>
      <p:sp>
        <p:nvSpPr>
          <p:cNvPr id="63" name="InProcLbl"/>
          <p:cNvSpPr/>
          <p:nvPr/>
        </p:nvSpPr>
        <p:spPr>
          <a:xfrm>
            <a:off x="3727383" y="2133600"/>
            <a:ext cx="1752600" cy="152400"/>
          </a:xfrm>
          <a:prstGeom prst="rect">
            <a:avLst/>
          </a:prstGeom>
          <a:noFill/>
          <a:ln w="0">
            <a:noFill/>
          </a:ln>
        </p:spPr>
        <p:txBody>
          <a:bodyPr wrap="square" anchor="ctr"/>
          <a:lstStyle/>
          <a:p>
            <a:pPr algn="l"/>
            <a:r>
              <a:rPr lang="en-US" sz="1000" dirty="0">
                <a:solidFill>
                  <a:srgbClr val="81C784"/>
                </a:solidFill>
              </a:rPr>
              <a:t>IN-PROCESS</a:t>
            </a:r>
          </a:p>
        </p:txBody>
      </p:sp>
      <p:sp>
        <p:nvSpPr>
          <p:cNvPr id="64" name="A2ALbl"/>
          <p:cNvSpPr/>
          <p:nvPr/>
        </p:nvSpPr>
        <p:spPr>
          <a:xfrm>
            <a:off x="5632383" y="2133600"/>
            <a:ext cx="1828800" cy="152400"/>
          </a:xfrm>
          <a:prstGeom prst="rect">
            <a:avLst/>
          </a:prstGeom>
          <a:noFill/>
          <a:ln w="0">
            <a:noFill/>
          </a:ln>
        </p:spPr>
        <p:txBody>
          <a:bodyPr wrap="square" anchor="ctr"/>
          <a:lstStyle/>
          <a:p>
            <a:pPr algn="r"/>
            <a:r>
              <a:rPr lang="en-US" sz="1000" dirty="0">
                <a:solidFill>
                  <a:srgbClr val="4FC3F7"/>
                </a:solidFill>
              </a:rPr>
              <a:t>A2A PROTOCOL →</a:t>
            </a:r>
          </a:p>
        </p:txBody>
      </p:sp>
      <p:sp>
        <p:nvSpPr>
          <p:cNvPr id="65" name="A2Ar1"/>
          <p:cNvSpPr/>
          <p:nvPr/>
        </p:nvSpPr>
        <p:spPr>
          <a:xfrm>
            <a:off x="7765983" y="2286000"/>
            <a:ext cx="381000" cy="152400"/>
          </a:xfrm>
          <a:prstGeom prst="rightArrow">
            <a:avLst/>
          </a:prstGeom>
          <a:solidFill>
            <a:srgbClr val="4FC3F7"/>
          </a:solidFill>
          <a:ln w="0">
            <a:noFill/>
          </a:ln>
        </p:spPr>
        <p:txBody>
          <a:bodyPr/>
          <a:lstStyle/>
          <a:p>
            <a:endParaRPr lang="en-US"/>
          </a:p>
        </p:txBody>
      </p:sp>
      <p:sp>
        <p:nvSpPr>
          <p:cNvPr id="66" name="A2Ar2"/>
          <p:cNvSpPr/>
          <p:nvPr/>
        </p:nvSpPr>
        <p:spPr>
          <a:xfrm>
            <a:off x="7765983" y="2743200"/>
            <a:ext cx="381000" cy="152400"/>
          </a:xfrm>
          <a:prstGeom prst="rightArrow">
            <a:avLst/>
          </a:prstGeom>
          <a:solidFill>
            <a:srgbClr val="4FC3F7"/>
          </a:solidFill>
          <a:ln w="0">
            <a:noFill/>
          </a:ln>
        </p:spPr>
        <p:txBody>
          <a:bodyPr/>
          <a:lstStyle/>
          <a:p>
            <a:endParaRPr lang="en-US"/>
          </a:p>
        </p:txBody>
      </p:sp>
      <p:sp>
        <p:nvSpPr>
          <p:cNvPr id="67" name="A2Ar3"/>
          <p:cNvSpPr/>
          <p:nvPr/>
        </p:nvSpPr>
        <p:spPr>
          <a:xfrm>
            <a:off x="7765983" y="3200400"/>
            <a:ext cx="381000" cy="152400"/>
          </a:xfrm>
          <a:prstGeom prst="rightArrow">
            <a:avLst/>
          </a:prstGeom>
          <a:solidFill>
            <a:srgbClr val="4FC3F7"/>
          </a:solidFill>
          <a:ln w="0">
            <a:noFill/>
          </a:ln>
        </p:spPr>
        <p:txBody>
          <a:bodyPr/>
          <a:lstStyle/>
          <a:p>
            <a:endParaRPr lang="en-US"/>
          </a:p>
        </p:txBody>
      </p:sp>
      <p:sp>
        <p:nvSpPr>
          <p:cNvPr id="68" name="Ln1"/>
          <p:cNvSpPr/>
          <p:nvPr/>
        </p:nvSpPr>
        <p:spPr>
          <a:xfrm>
            <a:off x="7689783" y="2362200"/>
            <a:ext cx="152400" cy="19050"/>
          </a:xfrm>
          <a:prstGeom prst="rect">
            <a:avLst/>
          </a:prstGeom>
          <a:solidFill>
            <a:srgbClr val="4FC3F7"/>
          </a:solidFill>
          <a:ln w="0">
            <a:noFill/>
          </a:ln>
        </p:spPr>
        <p:txBody>
          <a:bodyPr/>
          <a:lstStyle/>
          <a:p>
            <a:endParaRPr lang="en-US"/>
          </a:p>
        </p:txBody>
      </p:sp>
      <p:sp>
        <p:nvSpPr>
          <p:cNvPr id="69" name="Ln2"/>
          <p:cNvSpPr/>
          <p:nvPr/>
        </p:nvSpPr>
        <p:spPr>
          <a:xfrm>
            <a:off x="7689783" y="2819400"/>
            <a:ext cx="152400" cy="19050"/>
          </a:xfrm>
          <a:prstGeom prst="rect">
            <a:avLst/>
          </a:prstGeom>
          <a:solidFill>
            <a:srgbClr val="4FC3F7"/>
          </a:solidFill>
          <a:ln w="0">
            <a:noFill/>
          </a:ln>
        </p:spPr>
        <p:txBody>
          <a:bodyPr/>
          <a:lstStyle/>
          <a:p>
            <a:endParaRPr lang="en-US"/>
          </a:p>
        </p:txBody>
      </p:sp>
      <p:sp>
        <p:nvSpPr>
          <p:cNvPr id="70" name="Ln3"/>
          <p:cNvSpPr/>
          <p:nvPr/>
        </p:nvSpPr>
        <p:spPr>
          <a:xfrm>
            <a:off x="7689783" y="3276600"/>
            <a:ext cx="152400" cy="19050"/>
          </a:xfrm>
          <a:prstGeom prst="rect">
            <a:avLst/>
          </a:prstGeom>
          <a:solidFill>
            <a:srgbClr val="4FC3F7"/>
          </a:solidFill>
          <a:ln w="0">
            <a:noFill/>
          </a:ln>
        </p:spPr>
        <p:txBody>
          <a:bodyPr/>
          <a:lstStyle/>
          <a:p>
            <a:endParaRPr lang="en-US"/>
          </a:p>
        </p:txBody>
      </p:sp>
      <p:sp>
        <p:nvSpPr>
          <p:cNvPr id="75" name="ExtA"/>
          <p:cNvSpPr/>
          <p:nvPr/>
        </p:nvSpPr>
        <p:spPr>
          <a:xfrm>
            <a:off x="8223183" y="2133600"/>
            <a:ext cx="2133600" cy="457200"/>
          </a:xfrm>
          <a:prstGeom prst="roundRect">
            <a:avLst/>
          </a:prstGeom>
          <a:solidFill>
            <a:srgbClr val="1A2736"/>
          </a:solidFill>
          <a:ln w="19050">
            <a:solidFill>
              <a:srgbClr val="4FC3F7"/>
            </a:solidFill>
          </a:ln>
        </p:spPr>
        <p:txBody>
          <a:bodyPr wrap="square" lIns="54000" anchor="ctr"/>
          <a:lstStyle/>
          <a:p>
            <a:pPr algn="ctr"/>
            <a:r>
              <a:rPr lang="en-US" sz="1400" b="1" dirty="0">
                <a:solidFill>
                  <a:srgbClr val="4FC3F7"/>
                </a:solidFill>
              </a:rPr>
              <a:t>External Agent A</a:t>
            </a:r>
          </a:p>
          <a:p>
            <a:pPr algn="ctr"/>
            <a:r>
              <a:rPr lang="en-US" sz="1200" dirty="0">
                <a:solidFill>
                  <a:srgbClr val="78909C"/>
                </a:solidFill>
              </a:rPr>
              <a:t>(Python / LangGraph)</a:t>
            </a:r>
          </a:p>
        </p:txBody>
      </p:sp>
      <p:sp>
        <p:nvSpPr>
          <p:cNvPr id="76" name="ExtB"/>
          <p:cNvSpPr/>
          <p:nvPr/>
        </p:nvSpPr>
        <p:spPr>
          <a:xfrm>
            <a:off x="8223183" y="2667000"/>
            <a:ext cx="2133600" cy="457200"/>
          </a:xfrm>
          <a:prstGeom prst="roundRect">
            <a:avLst/>
          </a:prstGeom>
          <a:solidFill>
            <a:srgbClr val="1A2736"/>
          </a:solidFill>
          <a:ln w="19050">
            <a:solidFill>
              <a:srgbClr val="CE93D8"/>
            </a:solidFill>
          </a:ln>
        </p:spPr>
        <p:txBody>
          <a:bodyPr wrap="square" lIns="54000" anchor="ctr"/>
          <a:lstStyle/>
          <a:p>
            <a:pPr algn="ctr"/>
            <a:r>
              <a:rPr lang="en-US" sz="1400" b="1" dirty="0">
                <a:solidFill>
                  <a:srgbClr val="CE93D8"/>
                </a:solidFill>
              </a:rPr>
              <a:t>External Agent B</a:t>
            </a:r>
          </a:p>
          <a:p>
            <a:pPr algn="ctr"/>
            <a:r>
              <a:rPr lang="en-US" sz="1200" dirty="0">
                <a:solidFill>
                  <a:srgbClr val="78909C"/>
                </a:solidFill>
              </a:rPr>
              <a:t>(Java Service)</a:t>
            </a:r>
          </a:p>
        </p:txBody>
      </p:sp>
      <p:sp>
        <p:nvSpPr>
          <p:cNvPr id="77" name="ExtC"/>
          <p:cNvSpPr/>
          <p:nvPr/>
        </p:nvSpPr>
        <p:spPr>
          <a:xfrm>
            <a:off x="8223183" y="3200400"/>
            <a:ext cx="2133600" cy="457200"/>
          </a:xfrm>
          <a:prstGeom prst="roundRect">
            <a:avLst/>
          </a:prstGeom>
          <a:solidFill>
            <a:srgbClr val="1A2736"/>
          </a:solidFill>
          <a:ln w="19050">
            <a:solidFill>
              <a:srgbClr val="FFB74D"/>
            </a:solidFill>
          </a:ln>
        </p:spPr>
        <p:txBody>
          <a:bodyPr wrap="square" lIns="54000" anchor="ctr"/>
          <a:lstStyle/>
          <a:p>
            <a:pPr algn="ctr"/>
            <a:r>
              <a:rPr lang="en-US" sz="1400" b="1" dirty="0">
                <a:solidFill>
                  <a:srgbClr val="FFB74D"/>
                </a:solidFill>
              </a:rPr>
              <a:t>Vendor Agent C</a:t>
            </a:r>
          </a:p>
          <a:p>
            <a:pPr algn="ctr"/>
            <a:r>
              <a:rPr lang="en-US" sz="1200" dirty="0">
                <a:solidFill>
                  <a:srgbClr val="78909C"/>
                </a:solidFill>
              </a:rPr>
              <a:t>(Any Framework)</a:t>
            </a:r>
          </a:p>
        </p:txBody>
      </p:sp>
      <p:sp>
        <p:nvSpPr>
          <p:cNvPr id="85" name="KeyPt"/>
          <p:cNvSpPr/>
          <p:nvPr/>
        </p:nvSpPr>
        <p:spPr>
          <a:xfrm>
            <a:off x="533400" y="4953000"/>
            <a:ext cx="11277600" cy="609600"/>
          </a:xfrm>
          <a:prstGeom prst="roundRect">
            <a:avLst/>
          </a:prstGeom>
          <a:solidFill>
            <a:srgbClr val="1A2736"/>
          </a:solidFill>
          <a:ln w="0">
            <a:noFill/>
          </a:ln>
        </p:spPr>
        <p:txBody>
          <a:bodyPr wrap="square" lIns="91440" tIns="45720" rIns="91440" bIns="45720"/>
          <a:lstStyle/>
          <a:p>
            <a:pPr>
              <a:buNone/>
            </a:pPr>
            <a:r>
              <a:rPr lang="en-US" sz="1600" b="1" dirty="0">
                <a:solidFill>
                  <a:srgbClr val="FFB74D"/>
                </a:solidFill>
              </a:rPr>
              <a:t>Enterprise Pattern</a:t>
            </a:r>
          </a:p>
          <a:p>
            <a:pPr>
              <a:buFont typeface="Arial"/>
              <a:buChar char="•"/>
            </a:pPr>
            <a:r>
              <a:rPr lang="en-US" sz="1400" dirty="0">
                <a:solidFill>
                  <a:srgbClr val="B0BEC5"/>
                </a:solidFill>
              </a:rPr>
              <a:t>In-process orchestration (SK or Agent Framework) within each service for low latency</a:t>
            </a:r>
          </a:p>
          <a:p>
            <a:pPr>
              <a:buFont typeface="Arial"/>
              <a:buChar char="•"/>
            </a:pPr>
            <a:r>
              <a:rPr lang="en-US" sz="1400" dirty="0">
                <a:solidFill>
                  <a:srgbClr val="B0BEC5"/>
                </a:solidFill>
              </a:rPr>
              <a:t>A2A protocol for cross-team, cross-language, cross-organization communication</a:t>
            </a:r>
          </a:p>
        </p:txBody>
      </p:sp>
      <p:pic>
        <p:nvPicPr>
          <p:cNvPr id="86" name="Graphic 86" descr="Connections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49000" y="381000"/>
            <a:ext cx="762000" cy="762000"/>
          </a:xfrm>
          <a:prstGeom prst="rect">
            <a:avLst/>
          </a:prstGeom>
        </p:spPr>
      </p:pic>
    </p:spTree>
    <p:extLst>
      <p:ext uri="{BB962C8B-B14F-4D97-AF65-F5344CB8AC3E}">
        <p14:creationId xmlns:p14="http://schemas.microsoft.com/office/powerpoint/2010/main" val="2501999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F16BF-9155-DDCA-5E6F-BEE6F3E31CE4}"/>
              </a:ext>
            </a:extLst>
          </p:cNvPr>
          <p:cNvSpPr>
            <a:spLocks noGrp="1"/>
          </p:cNvSpPr>
          <p:nvPr>
            <p:ph type="title"/>
          </p:nvPr>
        </p:nvSpPr>
        <p:spPr>
          <a:xfrm>
            <a:off x="457200" y="152400"/>
            <a:ext cx="8890000" cy="457200"/>
          </a:xfrm>
        </p:spPr>
        <p:txBody>
          <a:bodyPr/>
          <a:lstStyle/>
          <a:p>
            <a:pPr>
              <a:buNone/>
            </a:pPr>
            <a:r>
              <a:rPr lang="en-US" sz="2400" b="1" dirty="0"/>
              <a:t>Key Takeaways &amp; Recommendations</a:t>
            </a:r>
          </a:p>
        </p:txBody>
      </p:sp>
      <p:sp>
        <p:nvSpPr>
          <p:cNvPr id="50" name="Card0"/>
          <p:cNvSpPr/>
          <p:nvPr/>
        </p:nvSpPr>
        <p:spPr>
          <a:xfrm>
            <a:off x="266700" y="711200"/>
            <a:ext cx="3683000" cy="2794000"/>
          </a:xfrm>
          <a:prstGeom prst="roundRect">
            <a:avLst/>
          </a:prstGeom>
          <a:solidFill>
            <a:srgbClr val="1A2736"/>
          </a:solidFill>
          <a:ln w="12700">
            <a:solidFill>
              <a:srgbClr val="4FC3F7"/>
            </a:solidFill>
          </a:ln>
        </p:spPr>
        <p:txBody>
          <a:bodyPr wrap="square" lIns="91440" tIns="72000" rIns="91440" bIns="45720"/>
          <a:lstStyle/>
          <a:p>
            <a:pPr>
              <a:buNone/>
            </a:pPr>
            <a:r>
              <a:rPr lang="en-US" sz="2800" b="1" dirty="0">
                <a:solidFill>
                  <a:srgbClr val="4FC3F7">
                    <a:alpha val="30000"/>
                  </a:srgbClr>
                </a:solidFill>
              </a:rPr>
              <a:t>1</a:t>
            </a:r>
            <a:r>
              <a:rPr lang="en-US" sz="1600" b="1" dirty="0">
                <a:solidFill>
                  <a:srgbClr val="4FC3F7"/>
                </a:solidFill>
              </a:rPr>
              <a:t>  Microsoft Is Consolidating</a:t>
            </a:r>
          </a:p>
          <a:p>
            <a:pPr>
              <a:buNone/>
            </a:pPr>
            <a:endParaRPr lang="en-US" sz="600" dirty="0"/>
          </a:p>
          <a:p>
            <a:pPr>
              <a:buNone/>
            </a:pPr>
            <a:r>
              <a:rPr lang="en-US" sz="1400" dirty="0">
                <a:solidFill>
                  <a:srgbClr val="B0BEC5"/>
                </a:solidFill>
              </a:rPr>
              <a:t>Agent Framework is the successor to both AutoGen and SK. It is the strategic direction for new enterprise development.</a:t>
            </a:r>
          </a:p>
        </p:txBody>
      </p:sp>
      <p:sp>
        <p:nvSpPr>
          <p:cNvPr id="51" name="Card1"/>
          <p:cNvSpPr/>
          <p:nvPr/>
        </p:nvSpPr>
        <p:spPr>
          <a:xfrm>
            <a:off x="4254500" y="711200"/>
            <a:ext cx="3683000" cy="2794000"/>
          </a:xfrm>
          <a:prstGeom prst="roundRect">
            <a:avLst/>
          </a:prstGeom>
          <a:solidFill>
            <a:srgbClr val="1A2736"/>
          </a:solidFill>
          <a:ln w="12700">
            <a:solidFill>
              <a:srgbClr val="81C784"/>
            </a:solidFill>
          </a:ln>
        </p:spPr>
        <p:txBody>
          <a:bodyPr wrap="square" lIns="91440" tIns="72000" rIns="91440" bIns="45720"/>
          <a:lstStyle/>
          <a:p>
            <a:pPr>
              <a:buNone/>
            </a:pPr>
            <a:r>
              <a:rPr lang="en-US" sz="2800" b="1" dirty="0">
                <a:solidFill>
                  <a:srgbClr val="81C784">
                    <a:alpha val="30000"/>
                  </a:srgbClr>
                </a:solidFill>
              </a:rPr>
              <a:t>2</a:t>
            </a:r>
            <a:r>
              <a:rPr lang="en-US" sz="1600" b="1" dirty="0">
                <a:solidFill>
                  <a:srgbClr val="81C784"/>
                </a:solidFill>
              </a:rPr>
              <a:t>  Five Standardized Patterns</a:t>
            </a:r>
          </a:p>
          <a:p>
            <a:pPr>
              <a:buNone/>
            </a:pPr>
            <a:endParaRPr lang="en-US" sz="600" dirty="0"/>
          </a:p>
          <a:p>
            <a:pPr>
              <a:buNone/>
            </a:pPr>
            <a:r>
              <a:rPr lang="en-US" sz="1400" dirty="0">
                <a:solidFill>
                  <a:srgbClr val="B0BEC5"/>
                </a:solidFill>
              </a:rPr>
              <a:t>Sequential, Concurrent, Handoff, Group Chat, and Magentic are now officially codified in Azure Architecture Center.</a:t>
            </a:r>
          </a:p>
        </p:txBody>
      </p:sp>
      <p:sp>
        <p:nvSpPr>
          <p:cNvPr id="52" name="Card2"/>
          <p:cNvSpPr/>
          <p:nvPr/>
        </p:nvSpPr>
        <p:spPr>
          <a:xfrm>
            <a:off x="8242300" y="711200"/>
            <a:ext cx="3683000" cy="2794000"/>
          </a:xfrm>
          <a:prstGeom prst="roundRect">
            <a:avLst/>
          </a:prstGeom>
          <a:solidFill>
            <a:srgbClr val="1A2736"/>
          </a:solidFill>
          <a:ln w="12700">
            <a:solidFill>
              <a:srgbClr val="FFB74D"/>
            </a:solidFill>
          </a:ln>
        </p:spPr>
        <p:txBody>
          <a:bodyPr wrap="square" lIns="91440" tIns="72000" rIns="91440" bIns="45720"/>
          <a:lstStyle/>
          <a:p>
            <a:pPr>
              <a:buNone/>
            </a:pPr>
            <a:r>
              <a:rPr lang="en-US" sz="2800" b="1" dirty="0">
                <a:solidFill>
                  <a:srgbClr val="FFB74D">
                    <a:alpha val="30000"/>
                  </a:srgbClr>
                </a:solidFill>
              </a:rPr>
              <a:t>3</a:t>
            </a:r>
            <a:r>
              <a:rPr lang="en-US" sz="1600" b="1" dirty="0">
                <a:solidFill>
                  <a:srgbClr val="FFB74D"/>
                </a:solidFill>
              </a:rPr>
              <a:t>  Strong Foundry Compatibility</a:t>
            </a:r>
          </a:p>
          <a:p>
            <a:pPr>
              <a:buNone/>
            </a:pPr>
            <a:endParaRPr lang="en-US" sz="600" dirty="0"/>
          </a:p>
          <a:p>
            <a:pPr>
              <a:buNone/>
            </a:pPr>
            <a:r>
              <a:rPr lang="en-US" sz="1400" dirty="0">
                <a:solidFill>
                  <a:srgbClr val="B0BEC5"/>
                </a:solidFill>
              </a:rPr>
              <a:t>All three primary frameworks have first-class Azure AI Foundry integration. No vendor lock-in concerns.</a:t>
            </a:r>
          </a:p>
        </p:txBody>
      </p:sp>
      <p:sp>
        <p:nvSpPr>
          <p:cNvPr id="53" name="Card3"/>
          <p:cNvSpPr/>
          <p:nvPr/>
        </p:nvSpPr>
        <p:spPr>
          <a:xfrm>
            <a:off x="266700" y="3708400"/>
            <a:ext cx="3683000" cy="2794000"/>
          </a:xfrm>
          <a:prstGeom prst="roundRect">
            <a:avLst/>
          </a:prstGeom>
          <a:solidFill>
            <a:srgbClr val="1A2736"/>
          </a:solidFill>
          <a:ln w="12700">
            <a:solidFill>
              <a:srgbClr val="CE93D8"/>
            </a:solidFill>
          </a:ln>
        </p:spPr>
        <p:txBody>
          <a:bodyPr wrap="square" lIns="91440" tIns="72000" rIns="91440" bIns="45720"/>
          <a:lstStyle/>
          <a:p>
            <a:pPr>
              <a:buNone/>
            </a:pPr>
            <a:r>
              <a:rPr lang="en-US" sz="2800" b="1" dirty="0">
                <a:solidFill>
                  <a:srgbClr val="CE93D8">
                    <a:alpha val="30000"/>
                  </a:srgbClr>
                </a:solidFill>
              </a:rPr>
              <a:t>4</a:t>
            </a:r>
            <a:r>
              <a:rPr lang="en-US" sz="1600" b="1" dirty="0">
                <a:solidFill>
                  <a:srgbClr val="CE93D8"/>
                </a:solidFill>
              </a:rPr>
              <a:t>  A2A Is the Standard</a:t>
            </a:r>
          </a:p>
          <a:p>
            <a:pPr>
              <a:buNone/>
            </a:pPr>
            <a:endParaRPr lang="en-US" sz="600" dirty="0"/>
          </a:p>
          <a:p>
            <a:pPr>
              <a:buNone/>
            </a:pPr>
            <a:r>
              <a:rPr lang="en-US" sz="1400" dirty="0">
                <a:solidFill>
                  <a:srgbClr val="B0BEC5"/>
                </a:solidFill>
              </a:rPr>
              <a:t>The A2A protocol (v1.0.0, Linux Foundation) is the emerging standard. Microsoft provides first-class ASP.NET support.</a:t>
            </a:r>
          </a:p>
        </p:txBody>
      </p:sp>
      <p:sp>
        <p:nvSpPr>
          <p:cNvPr id="54" name="Card4"/>
          <p:cNvSpPr/>
          <p:nvPr/>
        </p:nvSpPr>
        <p:spPr>
          <a:xfrm>
            <a:off x="4254500" y="3708400"/>
            <a:ext cx="3683000" cy="2794000"/>
          </a:xfrm>
          <a:prstGeom prst="roundRect">
            <a:avLst/>
          </a:prstGeom>
          <a:solidFill>
            <a:srgbClr val="1A2736"/>
          </a:solidFill>
          <a:ln w="12700">
            <a:solidFill>
              <a:srgbClr val="EF5350"/>
            </a:solidFill>
          </a:ln>
        </p:spPr>
        <p:txBody>
          <a:bodyPr wrap="square" lIns="91440" tIns="72000" rIns="91440" bIns="45720"/>
          <a:lstStyle/>
          <a:p>
            <a:pPr>
              <a:buNone/>
            </a:pPr>
            <a:r>
              <a:rPr lang="en-US" sz="2800" b="1" dirty="0">
                <a:solidFill>
                  <a:srgbClr val="EF5350">
                    <a:alpha val="30000"/>
                  </a:srgbClr>
                </a:solidFill>
              </a:rPr>
              <a:t>5</a:t>
            </a:r>
            <a:r>
              <a:rPr lang="en-US" sz="1600" b="1" dirty="0">
                <a:solidFill>
                  <a:srgbClr val="EF5350"/>
                </a:solidFill>
              </a:rPr>
              <a:t>  Hybrid Is Recommended</a:t>
            </a:r>
          </a:p>
          <a:p>
            <a:pPr>
              <a:buNone/>
            </a:pPr>
            <a:endParaRPr lang="en-US" sz="600" dirty="0"/>
          </a:p>
          <a:p>
            <a:pPr>
              <a:buNone/>
            </a:pPr>
            <a:r>
              <a:rPr lang="en-US" sz="1400" dirty="0">
                <a:solidFill>
                  <a:srgbClr val="B0BEC5"/>
                </a:solidFill>
              </a:rPr>
              <a:t>In-process orchestration within services + A2A for cross-team/cross-language communication.</a:t>
            </a:r>
          </a:p>
        </p:txBody>
      </p:sp>
      <p:sp>
        <p:nvSpPr>
          <p:cNvPr id="55" name="Card5"/>
          <p:cNvSpPr/>
          <p:nvPr/>
        </p:nvSpPr>
        <p:spPr>
          <a:xfrm>
            <a:off x="8242300" y="3708400"/>
            <a:ext cx="3683000" cy="2794000"/>
          </a:xfrm>
          <a:prstGeom prst="roundRect">
            <a:avLst/>
          </a:prstGeom>
          <a:solidFill>
            <a:srgbClr val="1A2736"/>
          </a:solidFill>
          <a:ln w="12700">
            <a:solidFill>
              <a:srgbClr val="4DD0E1"/>
            </a:solidFill>
          </a:ln>
        </p:spPr>
        <p:txBody>
          <a:bodyPr wrap="square" lIns="91440" tIns="72000" rIns="91440" bIns="45720"/>
          <a:lstStyle/>
          <a:p>
            <a:pPr>
              <a:buNone/>
            </a:pPr>
            <a:r>
              <a:rPr lang="en-US" sz="2800" b="1" dirty="0">
                <a:solidFill>
                  <a:srgbClr val="4DD0E1">
                    <a:alpha val="30000"/>
                  </a:srgbClr>
                </a:solidFill>
              </a:rPr>
              <a:t>6</a:t>
            </a:r>
            <a:r>
              <a:rPr lang="en-US" sz="1600" b="1" dirty="0">
                <a:solidFill>
                  <a:srgbClr val="4DD0E1"/>
                </a:solidFill>
              </a:rPr>
              <a:t>  Everything Is in Preview</a:t>
            </a:r>
          </a:p>
          <a:p>
            <a:pPr>
              <a:buNone/>
            </a:pPr>
            <a:endParaRPr lang="en-US" sz="600" dirty="0"/>
          </a:p>
          <a:p>
            <a:pPr>
              <a:buNone/>
            </a:pPr>
            <a:r>
              <a:rPr lang="en-US" sz="1400" dirty="0">
                <a:solidFill>
                  <a:srgbClr val="B0BEC5"/>
                </a:solidFill>
              </a:rPr>
              <a:t>Agent Framework is in public preview. SK Agents are experimental. Plan for API changes. LangGraph core is GA.</a:t>
            </a:r>
          </a:p>
        </p:txBody>
      </p:sp>
      <p:pic>
        <p:nvPicPr>
          <p:cNvPr id="56" name="Graphic 56" descr="Lightbulb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30000" y="101600"/>
            <a:ext cx="508000" cy="508000"/>
          </a:xfrm>
          <a:prstGeom prst="rect">
            <a:avLst/>
          </a:prstGeom>
        </p:spPr>
      </p:pic>
    </p:spTree>
    <p:extLst>
      <p:ext uri="{BB962C8B-B14F-4D97-AF65-F5344CB8AC3E}">
        <p14:creationId xmlns:p14="http://schemas.microsoft.com/office/powerpoint/2010/main" val="3044211300"/>
      </p:ext>
    </p:extLst>
  </p:cSld>
  <p:clrMapOvr>
    <a:masterClrMapping/>
  </p:clrMapOvr>
</p:sld>
</file>

<file path=ppt/theme/theme1.xml><?xml version="1.0" encoding="utf-8"?>
<a:theme xmlns:a="http://schemas.openxmlformats.org/drawingml/2006/main" name="Office Theme">
  <a:themeElements>
    <a:clrScheme name="Enterprise AI">
      <a:dk1>
        <a:srgbClr val="E8ECF1"/>
      </a:dk1>
      <a:lt1>
        <a:srgbClr val="0F1923"/>
      </a:lt1>
      <a:dk2>
        <a:srgbClr val="B0BEC5"/>
      </a:dk2>
      <a:lt2>
        <a:srgbClr val="1A2736"/>
      </a:lt2>
      <a:accent1>
        <a:srgbClr val="4FC3F7"/>
      </a:accent1>
      <a:accent2>
        <a:srgbClr val="81C784"/>
      </a:accent2>
      <a:accent3>
        <a:srgbClr val="FFB74D"/>
      </a:accent3>
      <a:accent4>
        <a:srgbClr val="CE93D8"/>
      </a:accent4>
      <a:accent5>
        <a:srgbClr val="EF5350"/>
      </a:accent5>
      <a:accent6>
        <a:srgbClr val="4DD0E1"/>
      </a:accent6>
      <a:hlink>
        <a:srgbClr val="0563C1"/>
      </a:hlink>
      <a:folHlink>
        <a:srgbClr val="954F72"/>
      </a:folHlink>
    </a:clrScheme>
    <a:fontScheme name="Enterprise AI">
      <a:majorFont>
        <a:latin typeface="Segoe UI Semibold"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2ddd7e2-e222-45fa-9d55-369e51267403}">
  <we:reference id="WA200010001" version="1.0.0.1" store="en-US" storeType="OMEX"/>
  <we:alternateReferences/>
  <we:properties>
    <we:property name="Microsoft.Office.CampaignId" value="&quot;none&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ocument_x0020_Purpose xmlns="f577acbf-5b0b-4b4f-9948-268e97f8d3a4">Informational</Document_x0020_Purpose>
    <Initiatives xmlns="f577acbf-5b0b-4b4f-9948-268e97f8d3a4"/>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D401524DC532D42A0E0ED886331A72B" ma:contentTypeVersion="13" ma:contentTypeDescription="Create a new document." ma:contentTypeScope="" ma:versionID="d936d863d335d354da51eb78ca1ae338">
  <xsd:schema xmlns:xsd="http://www.w3.org/2001/XMLSchema" xmlns:xs="http://www.w3.org/2001/XMLSchema" xmlns:p="http://schemas.microsoft.com/office/2006/metadata/properties" xmlns:ns2="f577acbf-5b0b-4b4f-9948-268e97f8d3a4" xmlns:ns3="b1e4d6ee-9f6f-43f8-a618-24f3d84da28f" targetNamespace="http://schemas.microsoft.com/office/2006/metadata/properties" ma:root="true" ma:fieldsID="5fbac08d56b1b04aa33acbc31e882ce9" ns2:_="" ns3:_="">
    <xsd:import namespace="f577acbf-5b0b-4b4f-9948-268e97f8d3a4"/>
    <xsd:import namespace="b1e4d6ee-9f6f-43f8-a618-24f3d84da28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3:LastSharedByUser" minOccurs="0"/>
                <xsd:element ref="ns3:LastSharedByTime" minOccurs="0"/>
                <xsd:element ref="ns2:Document_x0020_Purpose" minOccurs="0"/>
                <xsd:element ref="ns2:Initiatives" minOccurs="0"/>
                <xsd:element ref="ns2:MediaServiceDateTaken" minOccurs="0"/>
                <xsd:element ref="ns2:MediaServiceAutoTags"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77acbf-5b0b-4b4f-9948-268e97f8d3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ocument_x0020_Purpose" ma:index="14" nillable="true" ma:displayName="Document Purpose" ma:default="Informational" ma:format="Dropdown" ma:internalName="Document_x0020_Purpose">
      <xsd:simpleType>
        <xsd:restriction base="dms:Choice">
          <xsd:enumeration value="Informational"/>
          <xsd:enumeration value="Feature Spec"/>
          <xsd:enumeration value="Engineering Design"/>
          <xsd:enumeration value="Planning"/>
        </xsd:restriction>
      </xsd:simpleType>
    </xsd:element>
    <xsd:element name="Initiatives" ma:index="15" nillable="true" ma:displayName="Initiatives" ma:description="List of initiatives related to this document" ma:internalName="Initiatives">
      <xsd:complexType>
        <xsd:complexContent>
          <xsd:extension base="dms:MultiChoice">
            <xsd:sequence>
              <xsd:element name="Value" maxOccurs="unbounded" minOccurs="0" nillable="true">
                <xsd:simpleType>
                  <xsd:restriction base="dms:Choice">
                    <xsd:enumeration value="Add-in MAU"/>
                    <xsd:enumeration value="Custom Functions"/>
                    <xsd:enumeration value="Data &amp; Analytics"/>
                    <xsd:enumeration value="DevEx: Portals &amp; Programs"/>
                    <xsd:enumeration value="DevEx: Tools &amp; Libraries"/>
                    <xsd:enumeration value="Engineering"/>
                    <xsd:enumeration value="Excel API"/>
                    <xsd:enumeration value="In-Market Support"/>
                    <xsd:enumeration value="Maker Access"/>
                    <xsd:enumeration value="SDX Runtime &amp; Partners"/>
                    <xsd:enumeration value="SDX Service Delivery"/>
                    <xsd:enumeration value="SDX API &amp; Pipeline"/>
                    <xsd:enumeration value="Shield &amp; OCE"/>
                  </xsd:restriction>
                </xsd:simpleType>
              </xsd:element>
            </xsd:sequence>
          </xsd:extension>
        </xsd:complexContent>
      </xsd:complex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MediaServiceAutoTags" ma:internalName="MediaServiceAutoTags" ma:readOnly="true">
      <xsd:simpleType>
        <xsd:restriction base="dms:Text"/>
      </xsd:simpleType>
    </xsd:element>
    <xsd:element name="MediaServiceOCR" ma:index="18" nillable="true" ma:displayName="MediaServiceOCR" ma:internalName="MediaServiceOCR" ma:readOnly="true">
      <xsd:simpleType>
        <xsd:restriction base="dms:Note">
          <xsd:maxLength value="255"/>
        </xsd:restriction>
      </xsd:simpleType>
    </xsd:element>
    <xsd:element name="MediaServiceLocation" ma:index="19" nillable="true" ma:displayName="MediaServic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e4d6ee-9f6f-43f8-a618-24f3d84da28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LastSharedByUser" ma:index="12" nillable="true" ma:displayName="Last Shared By User" ma:hidden="true" ma:internalName="LastSharedByUser" ma:readOnly="true">
      <xsd:simpleType>
        <xsd:restriction base="dms:Note"/>
      </xsd:simpleType>
    </xsd:element>
    <xsd:element name="LastSharedByTime" ma:index="13"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1AFCC0-734A-4A90-A597-A1CB34860DCD}">
  <ds:schemaRefs>
    <ds:schemaRef ds:uri="http://schemas.microsoft.com/sharepoint/v3/contenttype/forms"/>
  </ds:schemaRefs>
</ds:datastoreItem>
</file>

<file path=customXml/itemProps2.xml><?xml version="1.0" encoding="utf-8"?>
<ds:datastoreItem xmlns:ds="http://schemas.openxmlformats.org/officeDocument/2006/customXml" ds:itemID="{617AB1FA-2F28-4684-9230-02ACEB6C0B0A}">
  <ds:schemaRefs>
    <ds:schemaRef ds:uri="b1e4d6ee-9f6f-43f8-a618-24f3d84da28f"/>
    <ds:schemaRef ds:uri="http://purl.org/dc/terms/"/>
    <ds:schemaRef ds:uri="http://schemas.openxmlformats.org/package/2006/metadata/core-properties"/>
    <ds:schemaRef ds:uri="f577acbf-5b0b-4b4f-9948-268e97f8d3a4"/>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A79EAE08-AAD0-49B9-BF66-164C225CC5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577acbf-5b0b-4b4f-9948-268e97f8d3a4"/>
    <ds:schemaRef ds:uri="b1e4d6ee-9f6f-43f8-a618-24f3d84da2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1644</TotalTime>
  <Words>12212</Words>
  <Application>Microsoft Office PowerPoint</Application>
  <PresentationFormat>Widescreen</PresentationFormat>
  <Paragraphs>570</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Segoe UI</vt:lpstr>
      <vt:lpstr>Segoe UI Semibold</vt:lpstr>
      <vt:lpstr>Office Theme</vt:lpstr>
      <vt:lpstr>Multi-Agent Enterprise Architecture</vt:lpstr>
      <vt:lpstr>Agenda</vt:lpstr>
      <vt:lpstr>Start Simple: The Complexity Spectrum</vt:lpstr>
      <vt:lpstr>Sequential Orchestration</vt:lpstr>
      <vt:lpstr>Concurrent Orchestration</vt:lpstr>
      <vt:lpstr>Handoff Orchestration</vt:lpstr>
      <vt:lpstr>Group Chat Orchestration</vt:lpstr>
      <vt:lpstr>Magentic Orchestration</vt:lpstr>
      <vt:lpstr>Pattern Comparison Matrix</vt:lpstr>
      <vt:lpstr>Library Ecosystem &amp; Pattern Support</vt:lpstr>
      <vt:lpstr>Azure AI Foundry Compatibility</vt:lpstr>
      <vt:lpstr>PowerPoint Presentation</vt:lpstr>
      <vt:lpstr>PowerPoint Presentation</vt:lpstr>
      <vt:lpstr>Agent2Agent (A2A) Protocol</vt:lpstr>
      <vt:lpstr>In-Process vs A2A Communication</vt:lpstr>
      <vt:lpstr>Hybrid Architecture</vt:lpstr>
      <vt:lpstr>Key Takeaways &amp;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dc:creator>
  <cp:lastModifiedBy>Shawn Gaul</cp:lastModifiedBy>
  <cp:revision>5</cp:revision>
  <dcterms:created xsi:type="dcterms:W3CDTF">2018-06-07T21:39:02Z</dcterms:created>
  <dcterms:modified xsi:type="dcterms:W3CDTF">2026-03-20T17:52:30Z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0x010100CD401524DC532D42A0E0ED886331A72B</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t-dahop@microsoft.com</vt:lpwstr>
  </property>
  <property fmtid="{D5CDD505-2E9C-101B-9397-08002B2CF9AE}" pid="6" name="MSIP_Label_f42aa342-8706-4288-bd11-ebb85995028c_SetDate">
    <vt:lpwstr>2018-06-18T13:45:27.3782680Z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