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0"/>
  </p:notesMasterIdLst>
  <p:sldIdLst>
    <p:sldId id="279" r:id="rId5"/>
    <p:sldId id="257" r:id="rId6"/>
    <p:sldId id="258" r:id="rId7"/>
    <p:sldId id="264" r:id="rId8"/>
    <p:sldId id="265" r:id="rId9"/>
    <p:sldId id="266" r:id="rId10"/>
    <p:sldId id="267" r:id="rId11"/>
    <p:sldId id="268" r:id="rId12"/>
    <p:sldId id="280" r:id="rId13"/>
    <p:sldId id="281" r:id="rId14"/>
    <p:sldId id="282" r:id="rId15"/>
    <p:sldId id="286" r:id="rId16"/>
    <p:sldId id="273" r:id="rId17"/>
    <p:sldId id="284" r:id="rId18"/>
    <p:sldId id="28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7275A-5004-4488-BB2B-8541C3EB84DB}" v="6" dt="2018-08-08T09:05:58.3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5" autoAdjust="0"/>
    <p:restoredTop sz="96247" autoAdjust="0"/>
  </p:normalViewPr>
  <p:slideViewPr>
    <p:cSldViewPr snapToGrid="0" snapToObjects="1">
      <p:cViewPr varScale="1">
        <p:scale>
          <a:sx n="99" d="100"/>
          <a:sy n="99" d="100"/>
        </p:scale>
        <p:origin x="108" y="2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286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EC2CF0-787B-48FE-8994-1394BFF3954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73E670-C469-43C0-98EC-08E4C325C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514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73E670-C469-43C0-98EC-08E4C325C9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57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73E670-C469-43C0-98EC-08E4C325C9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38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F1923"/>
            </a:gs>
            <a:gs pos="100000">
              <a:srgbClr val="16223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4FC3F7"/>
              </a:gs>
              <a:gs pos="50000">
                <a:srgbClr val="CE93D8"/>
              </a:gs>
              <a:gs pos="100000">
                <a:srgbClr val="4DD0E1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02" name="CornerAccent"/>
          <p:cNvSpPr/>
          <p:nvPr/>
        </p:nvSpPr>
        <p:spPr>
          <a:xfrm>
            <a:off x="10972800" y="6400800"/>
            <a:ext cx="1219200" cy="457200"/>
          </a:xfrm>
          <a:prstGeom prst="rect">
            <a:avLst/>
          </a:prstGeom>
          <a:gradFill>
            <a:gsLst>
              <a:gs pos="0">
                <a:srgbClr val="4FC3F7">
                  <a:alpha val="0"/>
                </a:srgbClr>
              </a:gs>
              <a:gs pos="100000">
                <a:srgbClr val="4FC3F7">
                  <a:alpha val="1500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CF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B0BEC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B0BEC5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B0BEC5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B0BEC5"/>
          </a:solidFill>
        </a:defRPr>
      </a:defPPr>
      <a:lvl1pPr marL="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B0BEC5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FAFEE-90DB-2992-3ACD-E0046B8989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/>
              <a:t>Multi-Agent Enterprise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6E4E80-76A4-C9A9-3466-C18F5DFF31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/>
              <a:t>Orchestration Patterns, Library Ecosystem, Azure AI Foundry &amp; A2A Communication</a:t>
            </a:r>
          </a:p>
        </p:txBody>
      </p:sp>
      <p:pic>
        <p:nvPicPr>
          <p:cNvPr id="4" name="Graphic 4" descr="AI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61000" y="53340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53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3A755-D30B-C182-762A-424F65568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Agenda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99DD336-E747-4D6B-B499-FDF93824353F}"/>
              </a:ext>
            </a:extLst>
          </p:cNvPr>
          <p:cNvSpPr/>
          <p:nvPr/>
        </p:nvSpPr>
        <p:spPr>
          <a:xfrm>
            <a:off x="609600" y="1778000"/>
            <a:ext cx="2438400" cy="2540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11BBA6-0555-46DB-8E63-3703A5001A59}"/>
              </a:ext>
            </a:extLst>
          </p:cNvPr>
          <p:cNvSpPr/>
          <p:nvPr/>
        </p:nvSpPr>
        <p:spPr>
          <a:xfrm>
            <a:off x="609600" y="1778000"/>
            <a:ext cx="2438400" cy="76200"/>
          </a:xfrm>
          <a:prstGeom prst="rect">
            <a:avLst/>
          </a:prstGeom>
          <a:solidFill>
            <a:srgbClr val="4FC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8AAC-3EAC-4F29-952E-B87099C48651}"/>
              </a:ext>
            </a:extLst>
          </p:cNvPr>
          <p:cNvSpPr txBox="1"/>
          <p:nvPr/>
        </p:nvSpPr>
        <p:spPr>
          <a:xfrm>
            <a:off x="762000" y="2095500"/>
            <a:ext cx="2133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4FC3F7"/>
                </a:solidFill>
              </a:rPr>
              <a:t>Orchestration
Patterns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CBF2BB-C9CE-447C-9B12-CD6B96D6AA41}"/>
              </a:ext>
            </a:extLst>
          </p:cNvPr>
          <p:cNvSpPr txBox="1"/>
          <p:nvPr/>
        </p:nvSpPr>
        <p:spPr>
          <a:xfrm>
            <a:off x="762000" y="3048000"/>
            <a:ext cx="21336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5 standardized patterns
from Azure Architecture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760F10-EBCC-4118-8F40-EF2A1050801D}"/>
              </a:ext>
            </a:extLst>
          </p:cNvPr>
          <p:cNvSpPr/>
          <p:nvPr/>
        </p:nvSpPr>
        <p:spPr>
          <a:xfrm>
            <a:off x="3505200" y="1778000"/>
            <a:ext cx="2438400" cy="2540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81C78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E46344-96C7-4E04-8062-3AFB7135DC98}"/>
              </a:ext>
            </a:extLst>
          </p:cNvPr>
          <p:cNvSpPr/>
          <p:nvPr/>
        </p:nvSpPr>
        <p:spPr>
          <a:xfrm>
            <a:off x="3505200" y="1778000"/>
            <a:ext cx="2438400" cy="76200"/>
          </a:xfrm>
          <a:prstGeom prst="rect">
            <a:avLst/>
          </a:prstGeom>
          <a:solidFill>
            <a:srgbClr val="81C78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64985-85ED-4B5A-8C84-6E31D27F54C5}"/>
              </a:ext>
            </a:extLst>
          </p:cNvPr>
          <p:cNvSpPr txBox="1"/>
          <p:nvPr/>
        </p:nvSpPr>
        <p:spPr>
          <a:xfrm>
            <a:off x="3657600" y="2095500"/>
            <a:ext cx="2133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81C784"/>
                </a:solidFill>
              </a:rPr>
              <a:t>Library
Ecosystem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0AC2C-AA4F-45DD-8460-BE0DCA89FAF4}"/>
              </a:ext>
            </a:extLst>
          </p:cNvPr>
          <p:cNvSpPr txBox="1"/>
          <p:nvPr/>
        </p:nvSpPr>
        <p:spPr>
          <a:xfrm>
            <a:off x="3657600" y="3048000"/>
            <a:ext cx="21336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LangGraph, Semantic Kernel,
Agent Framework &amp; more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3D6ECB-4C0A-4047-BDFD-7B666372423A}"/>
              </a:ext>
            </a:extLst>
          </p:cNvPr>
          <p:cNvSpPr/>
          <p:nvPr/>
        </p:nvSpPr>
        <p:spPr>
          <a:xfrm>
            <a:off x="6400800" y="1778000"/>
            <a:ext cx="2438400" cy="2540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FFB7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922543-0C21-4DB6-A423-5AA069114256}"/>
              </a:ext>
            </a:extLst>
          </p:cNvPr>
          <p:cNvSpPr/>
          <p:nvPr/>
        </p:nvSpPr>
        <p:spPr>
          <a:xfrm>
            <a:off x="6400800" y="1778000"/>
            <a:ext cx="2438400" cy="76200"/>
          </a:xfrm>
          <a:prstGeom prst="rect">
            <a:avLst/>
          </a:prstGeom>
          <a:solidFill>
            <a:srgbClr val="FFB7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7B18EC-0324-464B-B607-A8D5B312CB33}"/>
              </a:ext>
            </a:extLst>
          </p:cNvPr>
          <p:cNvSpPr txBox="1"/>
          <p:nvPr/>
        </p:nvSpPr>
        <p:spPr>
          <a:xfrm>
            <a:off x="6553200" y="2095500"/>
            <a:ext cx="2133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FB74D"/>
                </a:solidFill>
              </a:rPr>
              <a:t>Azure AI
Foundry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0C376A-C389-45F1-BBBA-56A49BC42395}"/>
              </a:ext>
            </a:extLst>
          </p:cNvPr>
          <p:cNvSpPr txBox="1"/>
          <p:nvPr/>
        </p:nvSpPr>
        <p:spPr>
          <a:xfrm>
            <a:off x="6553200" y="3048000"/>
            <a:ext cx="21336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Compatibility matrix
&amp; integration paths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54D6320-2C70-4C89-8B89-71A84365E227}"/>
              </a:ext>
            </a:extLst>
          </p:cNvPr>
          <p:cNvSpPr/>
          <p:nvPr/>
        </p:nvSpPr>
        <p:spPr>
          <a:xfrm>
            <a:off x="9296400" y="1778000"/>
            <a:ext cx="2438400" cy="2540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CE93D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7A11B4-9FEB-41B2-A256-D243A8358385}"/>
              </a:ext>
            </a:extLst>
          </p:cNvPr>
          <p:cNvSpPr/>
          <p:nvPr/>
        </p:nvSpPr>
        <p:spPr>
          <a:xfrm>
            <a:off x="9296400" y="1778000"/>
            <a:ext cx="2438400" cy="76200"/>
          </a:xfrm>
          <a:prstGeom prst="rect">
            <a:avLst/>
          </a:prstGeom>
          <a:solidFill>
            <a:srgbClr val="CE93D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928785-0629-4865-992F-C578740E4509}"/>
              </a:ext>
            </a:extLst>
          </p:cNvPr>
          <p:cNvSpPr txBox="1"/>
          <p:nvPr/>
        </p:nvSpPr>
        <p:spPr>
          <a:xfrm>
            <a:off x="9448800" y="2095500"/>
            <a:ext cx="2133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CE93D8"/>
                </a:solidFill>
              </a:rPr>
              <a:t>A2A
Communication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54ED8-2BF3-4AA1-9FF4-F10578FD762B}"/>
              </a:ext>
            </a:extLst>
          </p:cNvPr>
          <p:cNvSpPr txBox="1"/>
          <p:nvPr/>
        </p:nvSpPr>
        <p:spPr>
          <a:xfrm>
            <a:off x="9448800" y="3048000"/>
            <a:ext cx="21336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Protocol, ASP.NET,
hybrid architecture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16D0B5-DEDF-4821-A25C-B97ECA990E56}"/>
              </a:ext>
            </a:extLst>
          </p:cNvPr>
          <p:cNvSpPr txBox="1"/>
          <p:nvPr/>
        </p:nvSpPr>
        <p:spPr>
          <a:xfrm>
            <a:off x="11176000" y="5842000"/>
            <a:ext cx="76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FC3F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446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63562-5D69-DC5F-B3F6-455FB63B5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/>
              <a:t>Start Simple: The Complexity Spectrum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465F0A-1286-48CC-A745-EAB6F723E67E}"/>
              </a:ext>
            </a:extLst>
          </p:cNvPr>
          <p:cNvSpPr/>
          <p:nvPr/>
        </p:nvSpPr>
        <p:spPr>
          <a:xfrm>
            <a:off x="762000" y="4064000"/>
            <a:ext cx="3302000" cy="2032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81C78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BDC114-A050-4463-8EA5-85C4AB10B750}"/>
              </a:ext>
            </a:extLst>
          </p:cNvPr>
          <p:cNvSpPr txBox="1"/>
          <p:nvPr/>
        </p:nvSpPr>
        <p:spPr>
          <a:xfrm>
            <a:off x="952500" y="42164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81C784"/>
                </a:solidFill>
              </a:rPr>
              <a:t>Direct Model Call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71D210-6FF4-4E65-B6D6-704A8EA2E420}"/>
              </a:ext>
            </a:extLst>
          </p:cNvPr>
          <p:cNvSpPr txBox="1"/>
          <p:nvPr/>
        </p:nvSpPr>
        <p:spPr>
          <a:xfrm>
            <a:off x="952500" y="46736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E8ECF1"/>
                </a:solidFill>
              </a:rPr>
              <a:t>Single LLM call with
a well-crafted prompt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D39A6-B01A-47A1-9569-DC683860FD45}"/>
              </a:ext>
            </a:extLst>
          </p:cNvPr>
          <p:cNvSpPr txBox="1"/>
          <p:nvPr/>
        </p:nvSpPr>
        <p:spPr>
          <a:xfrm>
            <a:off x="952500" y="53340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78909C"/>
                </a:solidFill>
              </a:rPr>
              <a:t>Classification, summarization,
translation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CDBACF6-2E59-4660-BD08-9A1788BFB4BD}"/>
              </a:ext>
            </a:extLst>
          </p:cNvPr>
          <p:cNvSpPr/>
          <p:nvPr/>
        </p:nvSpPr>
        <p:spPr>
          <a:xfrm>
            <a:off x="4445000" y="2921000"/>
            <a:ext cx="3302000" cy="3175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FFB7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64A10-9221-4EEF-A51C-23CBFDF82851}"/>
              </a:ext>
            </a:extLst>
          </p:cNvPr>
          <p:cNvSpPr txBox="1"/>
          <p:nvPr/>
        </p:nvSpPr>
        <p:spPr>
          <a:xfrm>
            <a:off x="4635500" y="30734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FB74D"/>
                </a:solidFill>
              </a:rPr>
              <a:t>Single Agent + Tools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C78C62-CF13-48CB-981A-E5B80008FD01}"/>
              </a:ext>
            </a:extLst>
          </p:cNvPr>
          <p:cNvSpPr txBox="1"/>
          <p:nvPr/>
        </p:nvSpPr>
        <p:spPr>
          <a:xfrm>
            <a:off x="4635500" y="35306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E8ECF1"/>
                </a:solidFill>
              </a:rPr>
              <a:t>One agent that reasons
and selects from tools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E823CC-5844-4061-A4AF-FF77E0CB45EC}"/>
              </a:ext>
            </a:extLst>
          </p:cNvPr>
          <p:cNvSpPr txBox="1"/>
          <p:nvPr/>
        </p:nvSpPr>
        <p:spPr>
          <a:xfrm>
            <a:off x="4635500" y="41910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78909C"/>
                </a:solidFill>
              </a:rPr>
              <a:t>Dynamic tool use within
a single domain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A55E12-D6F0-4E30-BB5C-113077753340}"/>
              </a:ext>
            </a:extLst>
          </p:cNvPr>
          <p:cNvSpPr/>
          <p:nvPr/>
        </p:nvSpPr>
        <p:spPr>
          <a:xfrm>
            <a:off x="8128000" y="1778000"/>
            <a:ext cx="3302000" cy="4318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AAF7C6-B7B9-40C7-9437-76D2465CCF1A}"/>
              </a:ext>
            </a:extLst>
          </p:cNvPr>
          <p:cNvSpPr txBox="1"/>
          <p:nvPr/>
        </p:nvSpPr>
        <p:spPr>
          <a:xfrm>
            <a:off x="8318500" y="19304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4FC3F7"/>
                </a:solidFill>
              </a:rPr>
              <a:t>Multi-Agent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2FA7C0-F792-4193-8687-45335AC5D49E}"/>
              </a:ext>
            </a:extLst>
          </p:cNvPr>
          <p:cNvSpPr txBox="1"/>
          <p:nvPr/>
        </p:nvSpPr>
        <p:spPr>
          <a:xfrm>
            <a:off x="8318500" y="23876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E8ECF1"/>
                </a:solidFill>
              </a:rPr>
              <a:t>Specialized agents
coordinate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377E0-42B0-4A61-9B1D-6C91B93D022B}"/>
              </a:ext>
            </a:extLst>
          </p:cNvPr>
          <p:cNvSpPr txBox="1"/>
          <p:nvPr/>
        </p:nvSpPr>
        <p:spPr>
          <a:xfrm>
            <a:off x="8318500" y="3048000"/>
            <a:ext cx="2921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78909C"/>
                </a:solidFill>
              </a:rPr>
              <a:t>Cross-functional problems,
parallel specialization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EAA1E73-843B-4A24-9558-A68FF5278F83}"/>
              </a:ext>
            </a:extLst>
          </p:cNvPr>
          <p:cNvSpPr/>
          <p:nvPr/>
        </p:nvSpPr>
        <p:spPr>
          <a:xfrm>
            <a:off x="4089400" y="4699000"/>
            <a:ext cx="355600" cy="254000"/>
          </a:xfrm>
          <a:prstGeom prst="rightArrow">
            <a:avLst/>
          </a:prstGeom>
          <a:solidFill>
            <a:srgbClr val="4FC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F5B7F17A-C0F9-4DA5-943F-706B3A321BA7}"/>
              </a:ext>
            </a:extLst>
          </p:cNvPr>
          <p:cNvSpPr/>
          <p:nvPr/>
        </p:nvSpPr>
        <p:spPr>
          <a:xfrm>
            <a:off x="7772400" y="3937000"/>
            <a:ext cx="355600" cy="254000"/>
          </a:xfrm>
          <a:prstGeom prst="rightArrow">
            <a:avLst/>
          </a:prstGeom>
          <a:solidFill>
            <a:srgbClr val="4FC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35F415-2722-4A34-9404-7E61A795DBB1}"/>
              </a:ext>
            </a:extLst>
          </p:cNvPr>
          <p:cNvSpPr txBox="1"/>
          <p:nvPr/>
        </p:nvSpPr>
        <p:spPr>
          <a:xfrm>
            <a:off x="762000" y="1651000"/>
            <a:ext cx="660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FFB74D"/>
                </a:solidFill>
              </a:rPr>
              <a:t>Use the lowest level of complexity that reliably meets your requirements.</a:t>
            </a:r>
          </a:p>
        </p:txBody>
      </p:sp>
    </p:spTree>
    <p:extLst>
      <p:ext uri="{BB962C8B-B14F-4D97-AF65-F5344CB8AC3E}">
        <p14:creationId xmlns:p14="http://schemas.microsoft.com/office/powerpoint/2010/main" val="549010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5BB28-F9BE-1F5E-1760-8CA262C63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105156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Sequential Orchestration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tIns="36000" rIns="36000" b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Pipeline  |  Prompt Chaining  |  Linear Delegation</a:t>
            </a:r>
          </a:p>
        </p:txBody>
      </p:sp>
      <p:sp>
        <p:nvSpPr>
          <p:cNvPr id="60" name="Input"/>
          <p:cNvSpPr/>
          <p:nvPr/>
        </p:nvSpPr>
        <p:spPr>
          <a:xfrm>
            <a:off x="1295400" y="1981200"/>
            <a:ext cx="914400" cy="3048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Input</a:t>
            </a:r>
          </a:p>
        </p:txBody>
      </p:sp>
      <p:sp>
        <p:nvSpPr>
          <p:cNvPr id="61" name="A1"/>
          <p:cNvSpPr/>
          <p:nvPr/>
        </p:nvSpPr>
        <p:spPr>
          <a:xfrm>
            <a:off x="2286000" y="2038350"/>
            <a:ext cx="304800" cy="1905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Ag1"/>
          <p:cNvSpPr/>
          <p:nvPr/>
        </p:nvSpPr>
        <p:spPr>
          <a:xfrm>
            <a:off x="2667000" y="1790700"/>
            <a:ext cx="1524000" cy="6858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Template
Selection</a:t>
            </a:r>
          </a:p>
        </p:txBody>
      </p:sp>
      <p:sp>
        <p:nvSpPr>
          <p:cNvPr id="80" name="Ar2"/>
          <p:cNvSpPr/>
          <p:nvPr/>
        </p:nvSpPr>
        <p:spPr>
          <a:xfrm>
            <a:off x="4229100" y="2038350"/>
            <a:ext cx="304800" cy="1905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Ag2"/>
          <p:cNvSpPr/>
          <p:nvPr/>
        </p:nvSpPr>
        <p:spPr>
          <a:xfrm>
            <a:off x="4572000" y="1790700"/>
            <a:ext cx="1524000" cy="6858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Clause
Customization</a:t>
            </a:r>
          </a:p>
        </p:txBody>
      </p:sp>
      <p:sp>
        <p:nvSpPr>
          <p:cNvPr id="81" name="Ar3"/>
          <p:cNvSpPr/>
          <p:nvPr/>
        </p:nvSpPr>
        <p:spPr>
          <a:xfrm>
            <a:off x="6134100" y="2038350"/>
            <a:ext cx="304800" cy="1905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Ag3"/>
          <p:cNvSpPr/>
          <p:nvPr/>
        </p:nvSpPr>
        <p:spPr>
          <a:xfrm>
            <a:off x="6477000" y="1790700"/>
            <a:ext cx="1524000" cy="6858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Regulatory
Compliance</a:t>
            </a:r>
          </a:p>
        </p:txBody>
      </p:sp>
      <p:sp>
        <p:nvSpPr>
          <p:cNvPr id="82" name="Ar4"/>
          <p:cNvSpPr/>
          <p:nvPr/>
        </p:nvSpPr>
        <p:spPr>
          <a:xfrm>
            <a:off x="8039100" y="2038350"/>
            <a:ext cx="304800" cy="1905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Ag4"/>
          <p:cNvSpPr/>
          <p:nvPr/>
        </p:nvSpPr>
        <p:spPr>
          <a:xfrm>
            <a:off x="8382000" y="1790700"/>
            <a:ext cx="1524000" cy="6858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Risk
Assessment</a:t>
            </a:r>
          </a:p>
        </p:txBody>
      </p:sp>
      <p:sp>
        <p:nvSpPr>
          <p:cNvPr id="84" name="ArF"/>
          <p:cNvSpPr/>
          <p:nvPr/>
        </p:nvSpPr>
        <p:spPr>
          <a:xfrm>
            <a:off x="9982200" y="2000250"/>
            <a:ext cx="304800" cy="1905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5" name="Result"/>
          <p:cNvSpPr/>
          <p:nvPr/>
        </p:nvSpPr>
        <p:spPr>
          <a:xfrm>
            <a:off x="10325100" y="1943100"/>
            <a:ext cx="914400" cy="304800"/>
          </a:xfrm>
          <a:prstGeom prst="roundRect">
            <a:avLst/>
          </a:prstGeom>
          <a:solidFill>
            <a:srgbClr val="81C784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Result</a:t>
            </a:r>
          </a:p>
        </p:txBody>
      </p:sp>
      <p:sp>
        <p:nvSpPr>
          <p:cNvPr id="90" name="Benefits"/>
          <p:cNvSpPr/>
          <p:nvPr/>
        </p:nvSpPr>
        <p:spPr>
          <a:xfrm>
            <a:off x="457200" y="3048000"/>
            <a:ext cx="5334000" cy="7620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81C784"/>
                </a:solidFill>
              </a:rPr>
              <a:t>Benefits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Simple, predictable, easy to debug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Clear data lineage between stages</a:t>
            </a:r>
          </a:p>
        </p:txBody>
      </p:sp>
      <p:sp>
        <p:nvSpPr>
          <p:cNvPr id="91" name="Tradeoffs"/>
          <p:cNvSpPr/>
          <p:nvPr/>
        </p:nvSpPr>
        <p:spPr>
          <a:xfrm>
            <a:off x="6019800" y="3048000"/>
            <a:ext cx="5334000" cy="7620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EF5350"/>
                </a:solidFill>
              </a:rPr>
              <a:t>Trade-offs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No parallelism — latency adds up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Single point of failure cascades</a:t>
            </a:r>
          </a:p>
        </p:txBody>
      </p:sp>
      <p:sp>
        <p:nvSpPr>
          <p:cNvPr id="95" name="Example"/>
          <p:cNvSpPr/>
          <p:nvPr/>
        </p:nvSpPr>
        <p:spPr>
          <a:xfrm>
            <a:off x="457200" y="3962400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Example:  </a:t>
            </a:r>
            <a:r>
              <a:rPr lang="en-US" sz="1400" dirty="0">
                <a:solidFill>
                  <a:srgbClr val="78909C"/>
                </a:solidFill>
              </a:rPr>
              <a:t>Contract generation — Template → Clause Customization → Regulatory Compliance → Risk Assessment</a:t>
            </a:r>
          </a:p>
        </p:txBody>
      </p:sp>
    </p:spTree>
    <p:extLst>
      <p:ext uri="{BB962C8B-B14F-4D97-AF65-F5344CB8AC3E}">
        <p14:creationId xmlns:p14="http://schemas.microsoft.com/office/powerpoint/2010/main" val="3104111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47A09-0575-DDE6-F03C-39C0C88AB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105156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Concurrent Orchestration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tIns="36000" rIns="36000" b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Parallel  |  Scatter-Gather  |  Map-Reduce</a:t>
            </a:r>
          </a:p>
        </p:txBody>
      </p:sp>
      <p:sp>
        <p:nvSpPr>
          <p:cNvPr id="60" name="Input"/>
          <p:cNvSpPr/>
          <p:nvPr/>
        </p:nvSpPr>
        <p:spPr>
          <a:xfrm>
            <a:off x="1866900" y="2539666"/>
            <a:ext cx="914400" cy="3048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Input</a:t>
            </a:r>
          </a:p>
        </p:txBody>
      </p:sp>
      <p:sp>
        <p:nvSpPr>
          <p:cNvPr id="61" name="A1"/>
          <p:cNvSpPr/>
          <p:nvPr/>
        </p:nvSpPr>
        <p:spPr>
          <a:xfrm>
            <a:off x="2857500" y="2596816"/>
            <a:ext cx="228600" cy="1905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Init"/>
          <p:cNvSpPr/>
          <p:nvPr/>
        </p:nvSpPr>
        <p:spPr>
          <a:xfrm>
            <a:off x="3162300" y="2463466"/>
            <a:ext cx="12192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CE93D8"/>
                </a:solidFill>
              </a:rPr>
              <a:t>Initiator</a:t>
            </a:r>
          </a:p>
        </p:txBody>
      </p:sp>
      <p:sp>
        <p:nvSpPr>
          <p:cNvPr id="70" name="Ag0"/>
          <p:cNvSpPr/>
          <p:nvPr/>
        </p:nvSpPr>
        <p:spPr>
          <a:xfrm>
            <a:off x="5143500" y="1472866"/>
            <a:ext cx="17526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Fundamental
Analysis</a:t>
            </a:r>
          </a:p>
        </p:txBody>
      </p:sp>
      <p:sp>
        <p:nvSpPr>
          <p:cNvPr id="71" name="Ag1"/>
          <p:cNvSpPr/>
          <p:nvPr/>
        </p:nvSpPr>
        <p:spPr>
          <a:xfrm>
            <a:off x="5143500" y="2006266"/>
            <a:ext cx="17526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Technical
Analysis</a:t>
            </a:r>
          </a:p>
        </p:txBody>
      </p:sp>
      <p:sp>
        <p:nvSpPr>
          <p:cNvPr id="72" name="Ag2"/>
          <p:cNvSpPr/>
          <p:nvPr/>
        </p:nvSpPr>
        <p:spPr>
          <a:xfrm>
            <a:off x="5143500" y="2539666"/>
            <a:ext cx="17526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Sentiment
Analysis</a:t>
            </a:r>
          </a:p>
        </p:txBody>
      </p:sp>
      <p:sp>
        <p:nvSpPr>
          <p:cNvPr id="73" name="Ag3"/>
          <p:cNvSpPr/>
          <p:nvPr/>
        </p:nvSpPr>
        <p:spPr>
          <a:xfrm>
            <a:off x="5143500" y="3073066"/>
            <a:ext cx="17526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ESG
Analysis</a:t>
            </a:r>
          </a:p>
        </p:txBody>
      </p:sp>
      <p:sp>
        <p:nvSpPr>
          <p:cNvPr id="80" name="Line0"/>
          <p:cNvSpPr/>
          <p:nvPr/>
        </p:nvSpPr>
        <p:spPr>
          <a:xfrm>
            <a:off x="4381500" y="1663366"/>
            <a:ext cx="7620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Line1"/>
          <p:cNvSpPr/>
          <p:nvPr/>
        </p:nvSpPr>
        <p:spPr>
          <a:xfrm>
            <a:off x="4381500" y="2196766"/>
            <a:ext cx="7620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" name="Line2"/>
          <p:cNvSpPr/>
          <p:nvPr/>
        </p:nvSpPr>
        <p:spPr>
          <a:xfrm>
            <a:off x="4381500" y="2730166"/>
            <a:ext cx="7620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3" name="Line3"/>
          <p:cNvSpPr/>
          <p:nvPr/>
        </p:nvSpPr>
        <p:spPr>
          <a:xfrm>
            <a:off x="4381500" y="3263566"/>
            <a:ext cx="7620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LineR0"/>
          <p:cNvSpPr/>
          <p:nvPr/>
        </p:nvSpPr>
        <p:spPr>
          <a:xfrm>
            <a:off x="6896100" y="1663366"/>
            <a:ext cx="7620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7" name="LineR1"/>
          <p:cNvSpPr/>
          <p:nvPr/>
        </p:nvSpPr>
        <p:spPr>
          <a:xfrm>
            <a:off x="6896100" y="2196766"/>
            <a:ext cx="7620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8" name="LineR2"/>
          <p:cNvSpPr/>
          <p:nvPr/>
        </p:nvSpPr>
        <p:spPr>
          <a:xfrm>
            <a:off x="6896100" y="2730166"/>
            <a:ext cx="7620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9" name="LineR3"/>
          <p:cNvSpPr/>
          <p:nvPr/>
        </p:nvSpPr>
        <p:spPr>
          <a:xfrm>
            <a:off x="6896100" y="3263566"/>
            <a:ext cx="7620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2" name="A2"/>
          <p:cNvSpPr/>
          <p:nvPr/>
        </p:nvSpPr>
        <p:spPr>
          <a:xfrm>
            <a:off x="7734300" y="2596816"/>
            <a:ext cx="228600" cy="1905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3" name="Result"/>
          <p:cNvSpPr/>
          <p:nvPr/>
        </p:nvSpPr>
        <p:spPr>
          <a:xfrm>
            <a:off x="8039099" y="2196766"/>
            <a:ext cx="1684421" cy="723900"/>
          </a:xfrm>
          <a:prstGeom prst="roundRect">
            <a:avLst/>
          </a:prstGeom>
          <a:solidFill>
            <a:srgbClr val="81C784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0F1923"/>
                </a:solidFill>
              </a:rPr>
              <a:t>Combined
Recommendation</a:t>
            </a:r>
          </a:p>
        </p:txBody>
      </p:sp>
      <p:sp>
        <p:nvSpPr>
          <p:cNvPr id="94" name="Benefits"/>
          <p:cNvSpPr/>
          <p:nvPr/>
        </p:nvSpPr>
        <p:spPr>
          <a:xfrm>
            <a:off x="574709" y="3987466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81C784"/>
                </a:solidFill>
              </a:rPr>
              <a:t>Benefits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Reduced latency via parallelism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Diverse perspectives; natural voting/ensemble</a:t>
            </a:r>
          </a:p>
        </p:txBody>
      </p:sp>
      <p:sp>
        <p:nvSpPr>
          <p:cNvPr id="95" name="Trade"/>
          <p:cNvSpPr/>
          <p:nvPr/>
        </p:nvSpPr>
        <p:spPr>
          <a:xfrm>
            <a:off x="6137309" y="3987466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EF5350"/>
                </a:solidFill>
              </a:rPr>
              <a:t>Trade-offs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Resource-intensive (multiple LLM calls)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Requires conflict resolution strategy</a:t>
            </a:r>
          </a:p>
        </p:txBody>
      </p:sp>
      <p:sp>
        <p:nvSpPr>
          <p:cNvPr id="96" name="Ex"/>
          <p:cNvSpPr/>
          <p:nvPr/>
        </p:nvSpPr>
        <p:spPr>
          <a:xfrm>
            <a:off x="574709" y="4825666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Example:  </a:t>
            </a:r>
            <a:r>
              <a:rPr lang="en-US" sz="1400" dirty="0">
                <a:solidFill>
                  <a:srgbClr val="78909C"/>
                </a:solidFill>
              </a:rPr>
              <a:t>Stock analysis — Fundamental + Technical + Sentiment + ESG → Combined Recommendation</a:t>
            </a:r>
          </a:p>
        </p:txBody>
      </p:sp>
    </p:spTree>
    <p:extLst>
      <p:ext uri="{BB962C8B-B14F-4D97-AF65-F5344CB8AC3E}">
        <p14:creationId xmlns:p14="http://schemas.microsoft.com/office/powerpoint/2010/main" val="2954923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1E532-3F66-2499-E515-AF591E942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105156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Handoff Orchestration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tIns="36000" rIns="36000" b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Routing  |  Triage  |  Transfer  |  Dispatch  |  Delegation</a:t>
            </a:r>
          </a:p>
        </p:txBody>
      </p:sp>
      <p:sp>
        <p:nvSpPr>
          <p:cNvPr id="60" name="Input"/>
          <p:cNvSpPr/>
          <p:nvPr/>
        </p:nvSpPr>
        <p:spPr>
          <a:xfrm>
            <a:off x="1600200" y="2362200"/>
            <a:ext cx="914400" cy="3048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Input</a:t>
            </a:r>
          </a:p>
        </p:txBody>
      </p:sp>
      <p:sp>
        <p:nvSpPr>
          <p:cNvPr id="61" name="A1"/>
          <p:cNvSpPr/>
          <p:nvPr/>
        </p:nvSpPr>
        <p:spPr>
          <a:xfrm>
            <a:off x="2590800" y="2438400"/>
            <a:ext cx="2286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Triage"/>
          <p:cNvSpPr/>
          <p:nvPr/>
        </p:nvSpPr>
        <p:spPr>
          <a:xfrm>
            <a:off x="2895600" y="2133600"/>
            <a:ext cx="1524000" cy="762000"/>
          </a:xfrm>
          <a:prstGeom prst="roundRect">
            <a:avLst/>
          </a:prstGeom>
          <a:solidFill>
            <a:srgbClr val="1A2736"/>
          </a:solidFill>
          <a:ln w="25400">
            <a:solidFill>
              <a:srgbClr val="FFB74D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FFB74D"/>
                </a:solidFill>
              </a:rPr>
              <a:t>Triage Agent</a:t>
            </a:r>
          </a:p>
        </p:txBody>
      </p:sp>
      <p:sp>
        <p:nvSpPr>
          <p:cNvPr id="70" name="Ln0"/>
          <p:cNvSpPr/>
          <p:nvPr/>
        </p:nvSpPr>
        <p:spPr>
          <a:xfrm>
            <a:off x="4495800" y="1828800"/>
            <a:ext cx="6096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Ar0"/>
          <p:cNvSpPr/>
          <p:nvPr/>
        </p:nvSpPr>
        <p:spPr>
          <a:xfrm>
            <a:off x="5105400" y="1752600"/>
            <a:ext cx="2286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" name="Sp0"/>
          <p:cNvSpPr/>
          <p:nvPr/>
        </p:nvSpPr>
        <p:spPr>
          <a:xfrm>
            <a:off x="5410200" y="1676400"/>
            <a:ext cx="15240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Technical
Support</a:t>
            </a:r>
          </a:p>
        </p:txBody>
      </p:sp>
      <p:sp>
        <p:nvSpPr>
          <p:cNvPr id="71" name="Ln1"/>
          <p:cNvSpPr/>
          <p:nvPr/>
        </p:nvSpPr>
        <p:spPr>
          <a:xfrm>
            <a:off x="4495800" y="2514600"/>
            <a:ext cx="6096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6" name="Ar1"/>
          <p:cNvSpPr/>
          <p:nvPr/>
        </p:nvSpPr>
        <p:spPr>
          <a:xfrm>
            <a:off x="5105400" y="2438400"/>
            <a:ext cx="228600" cy="1524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Sp1"/>
          <p:cNvSpPr/>
          <p:nvPr/>
        </p:nvSpPr>
        <p:spPr>
          <a:xfrm>
            <a:off x="5410200" y="2362200"/>
            <a:ext cx="15240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Financial
Services</a:t>
            </a:r>
          </a:p>
        </p:txBody>
      </p:sp>
      <p:sp>
        <p:nvSpPr>
          <p:cNvPr id="72" name="Ln2"/>
          <p:cNvSpPr/>
          <p:nvPr/>
        </p:nvSpPr>
        <p:spPr>
          <a:xfrm>
            <a:off x="4495800" y="3200400"/>
            <a:ext cx="609600" cy="19050"/>
          </a:xfrm>
          <a:prstGeom prst="rect">
            <a:avLst/>
          </a:prstGeom>
          <a:solidFill>
            <a:srgbClr val="CE93D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7" name="Ar2"/>
          <p:cNvSpPr/>
          <p:nvPr/>
        </p:nvSpPr>
        <p:spPr>
          <a:xfrm>
            <a:off x="5105400" y="3124200"/>
            <a:ext cx="228600" cy="152400"/>
          </a:xfrm>
          <a:prstGeom prst="rightArrow">
            <a:avLst/>
          </a:prstGeom>
          <a:solidFill>
            <a:srgbClr val="CE93D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" name="Sp2"/>
          <p:cNvSpPr/>
          <p:nvPr/>
        </p:nvSpPr>
        <p:spPr>
          <a:xfrm>
            <a:off x="5410200" y="3048000"/>
            <a:ext cx="15240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Account
Access</a:t>
            </a:r>
          </a:p>
        </p:txBody>
      </p:sp>
      <p:sp>
        <p:nvSpPr>
          <p:cNvPr id="85" name="LnH"/>
          <p:cNvSpPr/>
          <p:nvPr/>
        </p:nvSpPr>
        <p:spPr>
          <a:xfrm>
            <a:off x="6934200" y="3200400"/>
            <a:ext cx="228600" cy="152400"/>
          </a:xfrm>
          <a:prstGeom prst="rightArrow">
            <a:avLst/>
          </a:prstGeom>
          <a:solidFill>
            <a:srgbClr val="EF535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Human"/>
          <p:cNvSpPr/>
          <p:nvPr/>
        </p:nvSpPr>
        <p:spPr>
          <a:xfrm>
            <a:off x="7239000" y="3048000"/>
            <a:ext cx="15240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EF5350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F5350"/>
                </a:solidFill>
              </a:rPr>
              <a:t>Human
Employee</a:t>
            </a:r>
          </a:p>
        </p:txBody>
      </p:sp>
      <p:sp>
        <p:nvSpPr>
          <p:cNvPr id="90" name="Res"/>
          <p:cNvSpPr/>
          <p:nvPr/>
        </p:nvSpPr>
        <p:spPr>
          <a:xfrm>
            <a:off x="7010400" y="1752600"/>
            <a:ext cx="228600" cy="1524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Res2"/>
          <p:cNvSpPr/>
          <p:nvPr/>
        </p:nvSpPr>
        <p:spPr>
          <a:xfrm>
            <a:off x="7010400" y="2438400"/>
            <a:ext cx="228600" cy="1524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2" name="Result"/>
          <p:cNvSpPr/>
          <p:nvPr/>
        </p:nvSpPr>
        <p:spPr>
          <a:xfrm>
            <a:off x="7315200" y="1981200"/>
            <a:ext cx="1524000" cy="457200"/>
          </a:xfrm>
          <a:prstGeom prst="roundRect">
            <a:avLst/>
          </a:prstGeom>
          <a:solidFill>
            <a:srgbClr val="81C784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Result</a:t>
            </a:r>
          </a:p>
        </p:txBody>
      </p:sp>
      <p:sp>
        <p:nvSpPr>
          <p:cNvPr id="93" name="LnR1"/>
          <p:cNvSpPr/>
          <p:nvPr/>
        </p:nvSpPr>
        <p:spPr>
          <a:xfrm>
            <a:off x="6934200" y="1828800"/>
            <a:ext cx="1524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4" name="LnR2"/>
          <p:cNvSpPr/>
          <p:nvPr/>
        </p:nvSpPr>
        <p:spPr>
          <a:xfrm>
            <a:off x="6934200" y="2514600"/>
            <a:ext cx="1524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0" name="Benefits"/>
          <p:cNvSpPr/>
          <p:nvPr/>
        </p:nvSpPr>
        <p:spPr>
          <a:xfrm>
            <a:off x="609600" y="4038600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81C784"/>
                </a:solidFill>
              </a:rPr>
              <a:t>Benefits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Dynamic, context-aware routing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Human-in-the-loop escalation support</a:t>
            </a:r>
          </a:p>
        </p:txBody>
      </p:sp>
      <p:sp>
        <p:nvSpPr>
          <p:cNvPr id="101" name="Trade"/>
          <p:cNvSpPr/>
          <p:nvPr/>
        </p:nvSpPr>
        <p:spPr>
          <a:xfrm>
            <a:off x="6172200" y="4038600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EF5350"/>
                </a:solidFill>
              </a:rPr>
              <a:t>Trade-offs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Risk of infinite handoff loops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Unpredictable routing paths; one agent active at a time</a:t>
            </a:r>
          </a:p>
        </p:txBody>
      </p:sp>
      <p:sp>
        <p:nvSpPr>
          <p:cNvPr id="102" name="Ex"/>
          <p:cNvSpPr/>
          <p:nvPr/>
        </p:nvSpPr>
        <p:spPr>
          <a:xfrm>
            <a:off x="609600" y="4876800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Example:  </a:t>
            </a:r>
            <a:r>
              <a:rPr lang="en-US" sz="1400" dirty="0">
                <a:solidFill>
                  <a:srgbClr val="78909C"/>
                </a:solidFill>
              </a:rPr>
              <a:t>Telecom support — Triage → Technical → Financial → Account Access → Human Employee</a:t>
            </a:r>
          </a:p>
        </p:txBody>
      </p:sp>
    </p:spTree>
    <p:extLst>
      <p:ext uri="{BB962C8B-B14F-4D97-AF65-F5344CB8AC3E}">
        <p14:creationId xmlns:p14="http://schemas.microsoft.com/office/powerpoint/2010/main" val="247477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B76B6-1ADD-821D-D91D-490E47725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105156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Group Chat Orchestration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Roundtable  |  Collaborative  |  Multi-Agent Debate  |  Council</a:t>
            </a:r>
          </a:p>
        </p:txBody>
      </p:sp>
      <p:sp>
        <p:nvSpPr>
          <p:cNvPr id="60" name="Thread"/>
          <p:cNvSpPr/>
          <p:nvPr/>
        </p:nvSpPr>
        <p:spPr>
          <a:xfrm>
            <a:off x="3969619" y="1688031"/>
            <a:ext cx="4876800" cy="2286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4FC3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" name="ThreadLbl"/>
          <p:cNvSpPr/>
          <p:nvPr/>
        </p:nvSpPr>
        <p:spPr>
          <a:xfrm>
            <a:off x="4122019" y="1764231"/>
            <a:ext cx="2133600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l"/>
            <a:r>
              <a:rPr lang="en-US" sz="1400" b="1" dirty="0">
                <a:solidFill>
                  <a:srgbClr val="4FC3F7"/>
                </a:solidFill>
              </a:rPr>
              <a:t>Accumulating Chat Thread</a:t>
            </a:r>
          </a:p>
        </p:txBody>
      </p:sp>
      <p:sp>
        <p:nvSpPr>
          <p:cNvPr id="65" name="Msg0"/>
          <p:cNvSpPr/>
          <p:nvPr/>
        </p:nvSpPr>
        <p:spPr>
          <a:xfrm>
            <a:off x="4198219" y="2069031"/>
            <a:ext cx="4419600" cy="228600"/>
          </a:xfrm>
          <a:prstGeom prst="roundRect">
            <a:avLst/>
          </a:prstGeom>
          <a:noFill/>
          <a:ln w="6350">
            <a:solidFill>
              <a:srgbClr val="81C784"/>
            </a:solidFill>
          </a:ln>
        </p:spPr>
        <p:txBody>
          <a:bodyPr wrap="square" lIns="72000" anchor="ctr"/>
          <a:lstStyle/>
          <a:p>
            <a:pPr algn="l"/>
            <a:r>
              <a:rPr lang="en-US" sz="1200" dirty="0">
                <a:solidFill>
                  <a:srgbClr val="81C784"/>
                </a:solidFill>
              </a:rPr>
              <a:t>Environmental: Park impacts habitat...</a:t>
            </a:r>
          </a:p>
        </p:txBody>
      </p:sp>
      <p:sp>
        <p:nvSpPr>
          <p:cNvPr id="66" name="Msg1"/>
          <p:cNvSpPr/>
          <p:nvPr/>
        </p:nvSpPr>
        <p:spPr>
          <a:xfrm>
            <a:off x="4198219" y="2373831"/>
            <a:ext cx="4419600" cy="228600"/>
          </a:xfrm>
          <a:prstGeom prst="roundRect">
            <a:avLst/>
          </a:prstGeom>
          <a:noFill/>
          <a:ln w="6350">
            <a:solidFill>
              <a:srgbClr val="FFB74D"/>
            </a:solidFill>
          </a:ln>
        </p:spPr>
        <p:txBody>
          <a:bodyPr wrap="square" lIns="72000" anchor="ctr"/>
          <a:lstStyle/>
          <a:p>
            <a:pPr algn="l"/>
            <a:r>
              <a:rPr lang="en-US" sz="1200" dirty="0">
                <a:solidFill>
                  <a:srgbClr val="FFB74D"/>
                </a:solidFill>
              </a:rPr>
              <a:t>Community: Residents want green space...</a:t>
            </a:r>
          </a:p>
        </p:txBody>
      </p:sp>
      <p:sp>
        <p:nvSpPr>
          <p:cNvPr id="67" name="Msg2"/>
          <p:cNvSpPr/>
          <p:nvPr/>
        </p:nvSpPr>
        <p:spPr>
          <a:xfrm>
            <a:off x="4198219" y="2678631"/>
            <a:ext cx="4419600" cy="228600"/>
          </a:xfrm>
          <a:prstGeom prst="roundRect">
            <a:avLst/>
          </a:prstGeom>
          <a:noFill/>
          <a:ln w="6350">
            <a:solidFill>
              <a:srgbClr val="CE93D8"/>
            </a:solidFill>
          </a:ln>
        </p:spPr>
        <p:txBody>
          <a:bodyPr wrap="square" lIns="72000" anchor="ctr"/>
          <a:lstStyle/>
          <a:p>
            <a:pPr algn="l"/>
            <a:r>
              <a:rPr lang="en-US" sz="1200" dirty="0">
                <a:solidFill>
                  <a:srgbClr val="CE93D8"/>
                </a:solidFill>
              </a:rPr>
              <a:t>Budget: Estimated cost is $2.4M...</a:t>
            </a:r>
          </a:p>
        </p:txBody>
      </p:sp>
      <p:sp>
        <p:nvSpPr>
          <p:cNvPr id="68" name="Msg3"/>
          <p:cNvSpPr/>
          <p:nvPr/>
        </p:nvSpPr>
        <p:spPr>
          <a:xfrm>
            <a:off x="4198219" y="2983431"/>
            <a:ext cx="4419600" cy="228600"/>
          </a:xfrm>
          <a:prstGeom prst="roundRect">
            <a:avLst/>
          </a:prstGeom>
          <a:noFill/>
          <a:ln w="6350">
            <a:solidFill>
              <a:srgbClr val="81C784"/>
            </a:solidFill>
          </a:ln>
        </p:spPr>
        <p:txBody>
          <a:bodyPr wrap="square" lIns="72000" anchor="ctr"/>
          <a:lstStyle/>
          <a:p>
            <a:pPr algn="l"/>
            <a:r>
              <a:rPr lang="en-US" sz="1200" dirty="0">
                <a:solidFill>
                  <a:srgbClr val="81C784"/>
                </a:solidFill>
              </a:rPr>
              <a:t>Environmental: We can mitigate with...</a:t>
            </a:r>
          </a:p>
        </p:txBody>
      </p:sp>
      <p:sp>
        <p:nvSpPr>
          <p:cNvPr id="72" name="ArRes"/>
          <p:cNvSpPr/>
          <p:nvPr/>
        </p:nvSpPr>
        <p:spPr>
          <a:xfrm>
            <a:off x="8922619" y="2678631"/>
            <a:ext cx="228600" cy="1524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Result"/>
          <p:cNvSpPr/>
          <p:nvPr/>
        </p:nvSpPr>
        <p:spPr>
          <a:xfrm>
            <a:off x="9227419" y="2450031"/>
            <a:ext cx="1524000" cy="609600"/>
          </a:xfrm>
          <a:prstGeom prst="roundRect">
            <a:avLst/>
          </a:prstGeom>
          <a:solidFill>
            <a:srgbClr val="81C784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Consensus
Result</a:t>
            </a:r>
          </a:p>
        </p:txBody>
      </p:sp>
      <p:sp>
        <p:nvSpPr>
          <p:cNvPr id="74" name="Mgr"/>
          <p:cNvSpPr/>
          <p:nvPr/>
        </p:nvSpPr>
        <p:spPr>
          <a:xfrm>
            <a:off x="5417419" y="1268931"/>
            <a:ext cx="2133600" cy="3048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 wrap="square" anchor="ctr"/>
          <a:lstStyle/>
          <a:p>
            <a:pPr algn="ctr"/>
            <a:r>
              <a:rPr lang="en-US" sz="1400" b="1" dirty="0">
                <a:solidFill>
                  <a:srgbClr val="FFB74D"/>
                </a:solidFill>
              </a:rPr>
              <a:t>Chat Manager (LLM)</a:t>
            </a:r>
          </a:p>
        </p:txBody>
      </p:sp>
      <p:sp>
        <p:nvSpPr>
          <p:cNvPr id="80" name="Ag0"/>
          <p:cNvSpPr/>
          <p:nvPr/>
        </p:nvSpPr>
        <p:spPr>
          <a:xfrm>
            <a:off x="1150219" y="1764231"/>
            <a:ext cx="15240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Environmental
Agent</a:t>
            </a:r>
          </a:p>
        </p:txBody>
      </p:sp>
      <p:sp>
        <p:nvSpPr>
          <p:cNvPr id="86" name="Ln0"/>
          <p:cNvSpPr/>
          <p:nvPr/>
        </p:nvSpPr>
        <p:spPr>
          <a:xfrm>
            <a:off x="2750419" y="1916631"/>
            <a:ext cx="1143000" cy="1905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Ag1"/>
          <p:cNvSpPr/>
          <p:nvPr/>
        </p:nvSpPr>
        <p:spPr>
          <a:xfrm>
            <a:off x="1150219" y="2297631"/>
            <a:ext cx="15240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Community
Agent</a:t>
            </a:r>
          </a:p>
        </p:txBody>
      </p:sp>
      <p:sp>
        <p:nvSpPr>
          <p:cNvPr id="87" name="Ln1"/>
          <p:cNvSpPr/>
          <p:nvPr/>
        </p:nvSpPr>
        <p:spPr>
          <a:xfrm>
            <a:off x="2750419" y="2450031"/>
            <a:ext cx="1143000" cy="19050"/>
          </a:xfrm>
          <a:prstGeom prst="rect">
            <a:avLst/>
          </a:prstGeom>
          <a:solidFill>
            <a:srgbClr val="FFB74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" name="Ag2"/>
          <p:cNvSpPr/>
          <p:nvPr/>
        </p:nvSpPr>
        <p:spPr>
          <a:xfrm>
            <a:off x="1150219" y="2831031"/>
            <a:ext cx="1524000" cy="3810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E8ECF1"/>
                </a:solidFill>
              </a:rPr>
              <a:t>Budget
Agent</a:t>
            </a:r>
          </a:p>
        </p:txBody>
      </p:sp>
      <p:sp>
        <p:nvSpPr>
          <p:cNvPr id="88" name="Ln2"/>
          <p:cNvSpPr/>
          <p:nvPr/>
        </p:nvSpPr>
        <p:spPr>
          <a:xfrm>
            <a:off x="2750419" y="2983431"/>
            <a:ext cx="1143000" cy="19050"/>
          </a:xfrm>
          <a:prstGeom prst="rect">
            <a:avLst/>
          </a:prstGeom>
          <a:solidFill>
            <a:srgbClr val="CE93D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5" name="Input"/>
          <p:cNvSpPr/>
          <p:nvPr/>
        </p:nvSpPr>
        <p:spPr>
          <a:xfrm>
            <a:off x="1150219" y="3288231"/>
            <a:ext cx="1524000" cy="3048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Input</a:t>
            </a:r>
          </a:p>
        </p:txBody>
      </p:sp>
      <p:sp>
        <p:nvSpPr>
          <p:cNvPr id="96" name="ArIn"/>
          <p:cNvSpPr/>
          <p:nvPr/>
        </p:nvSpPr>
        <p:spPr>
          <a:xfrm>
            <a:off x="2750419" y="3364431"/>
            <a:ext cx="11430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0" name="Benefits"/>
          <p:cNvSpPr/>
          <p:nvPr/>
        </p:nvSpPr>
        <p:spPr>
          <a:xfrm>
            <a:off x="457200" y="4267200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81C784"/>
                </a:solidFill>
              </a:rPr>
              <a:t>Benefits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Full transparency and auditability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Natural HITL support; brainstorm or debate</a:t>
            </a:r>
          </a:p>
        </p:txBody>
      </p:sp>
      <p:sp>
        <p:nvSpPr>
          <p:cNvPr id="101" name="Trade"/>
          <p:cNvSpPr/>
          <p:nvPr/>
        </p:nvSpPr>
        <p:spPr>
          <a:xfrm>
            <a:off x="6019800" y="4267200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EF5350"/>
                </a:solidFill>
              </a:rPr>
              <a:t>Trade-offs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Conversation loops; hard to control with 3+ agents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Chat overhead increases latency</a:t>
            </a:r>
          </a:p>
        </p:txBody>
      </p:sp>
      <p:sp>
        <p:nvSpPr>
          <p:cNvPr id="102" name="Ex"/>
          <p:cNvSpPr/>
          <p:nvPr/>
        </p:nvSpPr>
        <p:spPr>
          <a:xfrm>
            <a:off x="457200" y="5105400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Example:  </a:t>
            </a:r>
            <a:r>
              <a:rPr lang="en-US" sz="1400" dirty="0">
                <a:solidFill>
                  <a:srgbClr val="78909C"/>
                </a:solidFill>
              </a:rPr>
              <a:t>City parks proposal — Environmental + Community + Budget agents debate a park development proposal</a:t>
            </a:r>
          </a:p>
        </p:txBody>
      </p:sp>
    </p:spTree>
    <p:extLst>
      <p:ext uri="{BB962C8B-B14F-4D97-AF65-F5344CB8AC3E}">
        <p14:creationId xmlns:p14="http://schemas.microsoft.com/office/powerpoint/2010/main" val="3720583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A012-471C-D2CB-DDEF-BF96AFA9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105156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Magentic Orchestration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Dynamic Orchestration  |  Task-Ledger-Based  |  Adaptive Planning</a:t>
            </a:r>
          </a:p>
        </p:txBody>
      </p:sp>
      <p:sp>
        <p:nvSpPr>
          <p:cNvPr id="60" name="Manager"/>
          <p:cNvSpPr/>
          <p:nvPr/>
        </p:nvSpPr>
        <p:spPr>
          <a:xfrm>
            <a:off x="3962400" y="1471061"/>
            <a:ext cx="2286000" cy="609600"/>
          </a:xfrm>
          <a:prstGeom prst="roundRect">
            <a:avLst/>
          </a:prstGeom>
          <a:solidFill>
            <a:srgbClr val="1A2736"/>
          </a:solidFill>
          <a:ln w="25400">
            <a:solidFill>
              <a:srgbClr val="FFB74D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800" b="1" dirty="0">
                <a:solidFill>
                  <a:srgbClr val="FFB74D"/>
                </a:solidFill>
              </a:rPr>
              <a:t>Manager Agent</a:t>
            </a:r>
          </a:p>
        </p:txBody>
      </p:sp>
      <p:sp>
        <p:nvSpPr>
          <p:cNvPr id="61" name="Ledger"/>
          <p:cNvSpPr/>
          <p:nvPr/>
        </p:nvSpPr>
        <p:spPr>
          <a:xfrm>
            <a:off x="6705600" y="1471061"/>
            <a:ext cx="2286000" cy="6096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54000" anchor="ctr"/>
          <a:lstStyle/>
          <a:p>
            <a:pPr algn="ctr"/>
            <a:r>
              <a:rPr lang="en-US" sz="1400" b="1" dirty="0">
                <a:solidFill>
                  <a:srgbClr val="4FC3F7"/>
                </a:solidFill>
              </a:rPr>
              <a:t>Task &amp; Progress Ledger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Dynamically built &amp; refined</a:t>
            </a:r>
          </a:p>
        </p:txBody>
      </p:sp>
      <p:sp>
        <p:nvSpPr>
          <p:cNvPr id="62" name="MgrLdg"/>
          <p:cNvSpPr/>
          <p:nvPr/>
        </p:nvSpPr>
        <p:spPr>
          <a:xfrm>
            <a:off x="6324600" y="1699661"/>
            <a:ext cx="3810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Loop"/>
          <p:cNvSpPr/>
          <p:nvPr/>
        </p:nvSpPr>
        <p:spPr>
          <a:xfrm>
            <a:off x="4419600" y="2156861"/>
            <a:ext cx="1371600" cy="304800"/>
          </a:xfrm>
          <a:prstGeom prst="roundRect">
            <a:avLst/>
          </a:prstGeom>
          <a:noFill/>
          <a:ln w="12700">
            <a:solidFill>
              <a:srgbClr val="FFB74D"/>
            </a:solidFill>
          </a:ln>
        </p:spPr>
        <p:txBody>
          <a:bodyPr wrap="square" anchor="ctr"/>
          <a:lstStyle/>
          <a:p>
            <a:pPr algn="ctr"/>
            <a:r>
              <a:rPr lang="en-US" sz="1200" dirty="0">
                <a:solidFill>
                  <a:srgbClr val="FFB74D"/>
                </a:solidFill>
              </a:rPr>
              <a:t>↻ Evaluate Goal Loop</a:t>
            </a:r>
          </a:p>
        </p:txBody>
      </p:sp>
      <p:sp>
        <p:nvSpPr>
          <p:cNvPr id="70" name="Ag0"/>
          <p:cNvSpPr/>
          <p:nvPr/>
        </p:nvSpPr>
        <p:spPr>
          <a:xfrm>
            <a:off x="990600" y="2766461"/>
            <a:ext cx="1752600" cy="6096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4FC3F7"/>
                </a:solidFill>
              </a:rPr>
              <a:t>Diagnostics
Agent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Model + Knowledge</a:t>
            </a:r>
          </a:p>
        </p:txBody>
      </p:sp>
      <p:sp>
        <p:nvSpPr>
          <p:cNvPr id="80" name="Ln0"/>
          <p:cNvSpPr/>
          <p:nvPr/>
        </p:nvSpPr>
        <p:spPr>
          <a:xfrm>
            <a:off x="1828800" y="2080661"/>
            <a:ext cx="19050" cy="68580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Ag1"/>
          <p:cNvSpPr/>
          <p:nvPr/>
        </p:nvSpPr>
        <p:spPr>
          <a:xfrm>
            <a:off x="3276600" y="2766461"/>
            <a:ext cx="1752600" cy="6096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81C784"/>
                </a:solidFill>
              </a:rPr>
              <a:t>Infrastructure
Agent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Model + Tools</a:t>
            </a:r>
          </a:p>
        </p:txBody>
      </p:sp>
      <p:sp>
        <p:nvSpPr>
          <p:cNvPr id="81" name="Ln1"/>
          <p:cNvSpPr/>
          <p:nvPr/>
        </p:nvSpPr>
        <p:spPr>
          <a:xfrm>
            <a:off x="4114800" y="2080661"/>
            <a:ext cx="19050" cy="685800"/>
          </a:xfrm>
          <a:prstGeom prst="rect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Ag2"/>
          <p:cNvSpPr/>
          <p:nvPr/>
        </p:nvSpPr>
        <p:spPr>
          <a:xfrm>
            <a:off x="5562600" y="2766461"/>
            <a:ext cx="1752600" cy="6096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CE93D8"/>
                </a:solidFill>
              </a:rPr>
              <a:t>Rollback
Agent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Model + Tools</a:t>
            </a:r>
          </a:p>
        </p:txBody>
      </p:sp>
      <p:sp>
        <p:nvSpPr>
          <p:cNvPr id="82" name="Ln2"/>
          <p:cNvSpPr/>
          <p:nvPr/>
        </p:nvSpPr>
        <p:spPr>
          <a:xfrm>
            <a:off x="6400800" y="2080661"/>
            <a:ext cx="19050" cy="685800"/>
          </a:xfrm>
          <a:prstGeom prst="rect">
            <a:avLst/>
          </a:prstGeom>
          <a:solidFill>
            <a:srgbClr val="CE93D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Ag3"/>
          <p:cNvSpPr/>
          <p:nvPr/>
        </p:nvSpPr>
        <p:spPr>
          <a:xfrm>
            <a:off x="7848600" y="2766461"/>
            <a:ext cx="1752600" cy="6096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400" b="1" dirty="0">
                <a:solidFill>
                  <a:srgbClr val="FFB74D"/>
                </a:solidFill>
              </a:rPr>
              <a:t>Communication
Agent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Model + Knowledge</a:t>
            </a:r>
          </a:p>
        </p:txBody>
      </p:sp>
      <p:sp>
        <p:nvSpPr>
          <p:cNvPr id="83" name="Ln3"/>
          <p:cNvSpPr/>
          <p:nvPr/>
        </p:nvSpPr>
        <p:spPr>
          <a:xfrm>
            <a:off x="8686800" y="2080661"/>
            <a:ext cx="19050" cy="685800"/>
          </a:xfrm>
          <a:prstGeom prst="rect">
            <a:avLst/>
          </a:prstGeom>
          <a:solidFill>
            <a:srgbClr val="FFB74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" name="ExtSys"/>
          <p:cNvSpPr/>
          <p:nvPr/>
        </p:nvSpPr>
        <p:spPr>
          <a:xfrm>
            <a:off x="3276600" y="3528461"/>
            <a:ext cx="1752600" cy="304800"/>
          </a:xfrm>
          <a:prstGeom prst="roundRect">
            <a:avLst/>
          </a:prstGeom>
          <a:noFill/>
          <a:ln w="6350">
            <a:solidFill>
              <a:srgbClr val="81C784"/>
            </a:solidFill>
          </a:ln>
        </p:spPr>
        <p:txBody>
          <a:bodyPr wrap="square" anchor="ctr"/>
          <a:lstStyle/>
          <a:p>
            <a:pPr algn="ctr"/>
            <a:r>
              <a:rPr lang="en-US" sz="1200" dirty="0">
                <a:solidFill>
                  <a:srgbClr val="81C784"/>
                </a:solidFill>
              </a:rPr>
              <a:t>→ External Systems</a:t>
            </a:r>
          </a:p>
        </p:txBody>
      </p:sp>
      <p:sp>
        <p:nvSpPr>
          <p:cNvPr id="91" name="ExtSys2"/>
          <p:cNvSpPr/>
          <p:nvPr/>
        </p:nvSpPr>
        <p:spPr>
          <a:xfrm>
            <a:off x="5562600" y="3528461"/>
            <a:ext cx="1752600" cy="304800"/>
          </a:xfrm>
          <a:prstGeom prst="roundRect">
            <a:avLst/>
          </a:prstGeom>
          <a:noFill/>
          <a:ln w="6350">
            <a:solidFill>
              <a:srgbClr val="CE93D8"/>
            </a:solidFill>
          </a:ln>
        </p:spPr>
        <p:txBody>
          <a:bodyPr wrap="square" anchor="ctr"/>
          <a:lstStyle/>
          <a:p>
            <a:pPr algn="ctr"/>
            <a:r>
              <a:rPr lang="en-US" sz="1200" dirty="0">
                <a:solidFill>
                  <a:srgbClr val="CE93D8"/>
                </a:solidFill>
              </a:rPr>
              <a:t>→ External Systems</a:t>
            </a:r>
          </a:p>
        </p:txBody>
      </p:sp>
      <p:sp>
        <p:nvSpPr>
          <p:cNvPr id="95" name="Input"/>
          <p:cNvSpPr/>
          <p:nvPr/>
        </p:nvSpPr>
        <p:spPr>
          <a:xfrm>
            <a:off x="990600" y="1547261"/>
            <a:ext cx="1524000" cy="4572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Complex
Problem</a:t>
            </a:r>
          </a:p>
        </p:txBody>
      </p:sp>
      <p:sp>
        <p:nvSpPr>
          <p:cNvPr id="96" name="ArIn"/>
          <p:cNvSpPr/>
          <p:nvPr/>
        </p:nvSpPr>
        <p:spPr>
          <a:xfrm>
            <a:off x="2590800" y="1699661"/>
            <a:ext cx="3048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7" name="ArRes"/>
          <p:cNvSpPr/>
          <p:nvPr/>
        </p:nvSpPr>
        <p:spPr>
          <a:xfrm>
            <a:off x="9220200" y="1699661"/>
            <a:ext cx="304800" cy="152400"/>
          </a:xfrm>
          <a:prstGeom prst="rightArrow">
            <a:avLst/>
          </a:prstGeom>
          <a:solidFill>
            <a:srgbClr val="81C78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Result"/>
          <p:cNvSpPr/>
          <p:nvPr/>
        </p:nvSpPr>
        <p:spPr>
          <a:xfrm>
            <a:off x="9601200" y="1547261"/>
            <a:ext cx="1524000" cy="457200"/>
          </a:xfrm>
          <a:prstGeom prst="roundRect">
            <a:avLst/>
          </a:prstGeom>
          <a:solidFill>
            <a:srgbClr val="81C784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Resolved
Result</a:t>
            </a:r>
          </a:p>
        </p:txBody>
      </p:sp>
      <p:sp>
        <p:nvSpPr>
          <p:cNvPr id="100" name="Benefits"/>
          <p:cNvSpPr/>
          <p:nvPr/>
        </p:nvSpPr>
        <p:spPr>
          <a:xfrm>
            <a:off x="533400" y="4389922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81C784"/>
                </a:solidFill>
              </a:rPr>
              <a:t>Benefits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Handles truly complex, open-ended problems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Auditable plans; dynamic adaptation</a:t>
            </a:r>
          </a:p>
        </p:txBody>
      </p:sp>
      <p:sp>
        <p:nvSpPr>
          <p:cNvPr id="101" name="Trade"/>
          <p:cNvSpPr/>
          <p:nvPr/>
        </p:nvSpPr>
        <p:spPr>
          <a:xfrm>
            <a:off x="6096000" y="4389922"/>
            <a:ext cx="5334000" cy="6858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EF5350"/>
                </a:solidFill>
              </a:rPr>
              <a:t>Trade-offs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Slow to converge; most expensive pattern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Cost difficult to predict; requires capable manager</a:t>
            </a:r>
          </a:p>
        </p:txBody>
      </p:sp>
      <p:sp>
        <p:nvSpPr>
          <p:cNvPr id="102" name="Ex"/>
          <p:cNvSpPr/>
          <p:nvPr/>
        </p:nvSpPr>
        <p:spPr>
          <a:xfrm>
            <a:off x="533400" y="5228122"/>
            <a:ext cx="10896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Example:  </a:t>
            </a:r>
            <a:r>
              <a:rPr lang="en-US" sz="1400" dirty="0">
                <a:solidFill>
                  <a:srgbClr val="78909C"/>
                </a:solidFill>
              </a:rPr>
              <a:t>SRE incident response — Manager coordinates Diagnostics, Infrastructure, Rollback, and Communication agents</a:t>
            </a:r>
          </a:p>
        </p:txBody>
      </p:sp>
    </p:spTree>
    <p:extLst>
      <p:ext uri="{BB962C8B-B14F-4D97-AF65-F5344CB8AC3E}">
        <p14:creationId xmlns:p14="http://schemas.microsoft.com/office/powerpoint/2010/main" val="4147421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8AF39-623D-C656-5BF3-90D12CA1C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000"/>
            <a:ext cx="10160000" cy="914400"/>
          </a:xfrm>
        </p:spPr>
        <p:txBody>
          <a:bodyPr>
            <a:normAutofit/>
          </a:bodyPr>
          <a:lstStyle/>
          <a:p>
            <a:r>
              <a:rPr lang="en-US" sz="2800"/>
              <a:t>Pattern Comparison Matrix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5086D80-18A3-4596-901A-1909A680FA0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5240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>
                  <a:extLst>
                    <a:ext uri="{9D8B030D-6E8A-4147-A177-3AD203B41FA5}">
                      <a16:colId xmlns:a16="http://schemas.microsoft.com/office/drawing/2014/main" val="572402019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1216447879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174243310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3477734333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52652850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Pattern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Communication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Agent Selection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Best For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Key Risk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709017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Sequential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Linear pipeline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Deterministic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Step-by-step refinement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Failures propagate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68672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81C784"/>
                          </a:solidFill>
                        </a:rPr>
                        <a:t>Concurrent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Parallel, independent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Deterministic/dynamic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Multi-perspective analysis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Contradictory results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702398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B74D"/>
                          </a:solidFill>
                        </a:rPr>
                        <a:t>Handoff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Dynamic delegation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Agents decide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Specialist emerges at runtime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Infinite handoff loops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20576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CE93D8"/>
                          </a:solidFill>
                        </a:rPr>
                        <a:t>Group Chat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Shared thread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Chat manager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Consensus &amp; brainstorming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Conversation loops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04095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F5350"/>
                          </a:solidFill>
                        </a:rPr>
                        <a:t>Magentic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Plan-build-execute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Manager assigns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Open-ended problems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Slow to converge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0090391"/>
                  </a:ext>
                </a:extLst>
              </a:tr>
            </a:tbl>
          </a:graphicData>
        </a:graphic>
      </p:graphicFrame>
      <p:pic>
        <p:nvPicPr>
          <p:cNvPr id="5" name="Graphic 5" descr="Workflow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381000"/>
            <a:ext cx="76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32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1192-4B52-12A3-A544-0FC0748CE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000"/>
            <a:ext cx="10160000" cy="914400"/>
          </a:xfrm>
        </p:spPr>
        <p:txBody>
          <a:bodyPr>
            <a:normAutofit/>
          </a:bodyPr>
          <a:lstStyle/>
          <a:p>
            <a:r>
              <a:rPr lang="en-US" sz="2800"/>
              <a:t>Library Ecosystem &amp; Pattern Support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A6A34C-0691-4970-9B84-8C0B67D0B373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524000"/>
          <a:ext cx="11277602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86">
                  <a:extLst>
                    <a:ext uri="{9D8B030D-6E8A-4147-A177-3AD203B41FA5}">
                      <a16:colId xmlns:a16="http://schemas.microsoft.com/office/drawing/2014/main" val="39300943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1721056746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06661218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26303347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815203501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804501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255826979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Pattern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LangGraph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Semantic
Kernel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Agent
Framework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AutoGen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OpenAI
Agents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CrewAI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58783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Sequential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45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Concurrent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Partial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Partial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83471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Handoff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89565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Group Chat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14119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Magentic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67846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Graph/DAG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Exp.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620456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HITL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386457"/>
                  </a:ext>
                </a:extLst>
              </a:tr>
            </a:tbl>
          </a:graphicData>
        </a:graphic>
      </p:graphicFrame>
      <p:pic>
        <p:nvPicPr>
          <p:cNvPr id="5" name="Graphic 5" descr="Library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381000"/>
            <a:ext cx="76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930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E7A53-3107-0D36-CF3B-1E491558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000"/>
            <a:ext cx="10160000" cy="914400"/>
          </a:xfrm>
        </p:spPr>
        <p:txBody>
          <a:bodyPr>
            <a:normAutofit/>
          </a:bodyPr>
          <a:lstStyle/>
          <a:p>
            <a:r>
              <a:rPr lang="en-US" sz="2800"/>
              <a:t>Azure AI Foundry Compatibility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F1CD77EE-432A-4E91-9238-AEA1618864D8}"/>
              </a:ext>
            </a:extLst>
          </p:cNvPr>
          <p:cNvSpPr/>
          <p:nvPr/>
        </p:nvSpPr>
        <p:spPr>
          <a:xfrm>
            <a:off x="609600" y="1651000"/>
            <a:ext cx="3683000" cy="1016000"/>
          </a:xfrm>
          <a:prstGeom prst="chevron">
            <a:avLst/>
          </a:prstGeom>
          <a:solidFill>
            <a:srgbClr val="81C78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18381-9BF1-4BA3-9431-4BE68DFE629A}"/>
              </a:ext>
            </a:extLst>
          </p:cNvPr>
          <p:cNvSpPr txBox="1"/>
          <p:nvPr/>
        </p:nvSpPr>
        <p:spPr>
          <a:xfrm>
            <a:off x="990600" y="1676400"/>
            <a:ext cx="279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F1923"/>
                </a:solidFill>
              </a:rPr>
              <a:t>Prompt Agents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EC290F-7C6F-4CE8-A30D-22CABEE8EF22}"/>
              </a:ext>
            </a:extLst>
          </p:cNvPr>
          <p:cNvSpPr txBox="1"/>
          <p:nvPr/>
        </p:nvSpPr>
        <p:spPr>
          <a:xfrm>
            <a:off x="990600" y="2032000"/>
            <a:ext cx="2794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F1923"/>
                </a:solidFill>
              </a:rPr>
              <a:t>No code
Prototyping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5920295F-EEC3-41C1-B154-E2B8FD795386}"/>
              </a:ext>
            </a:extLst>
          </p:cNvPr>
          <p:cNvSpPr/>
          <p:nvPr/>
        </p:nvSpPr>
        <p:spPr>
          <a:xfrm>
            <a:off x="4191000" y="1651000"/>
            <a:ext cx="3683000" cy="1016000"/>
          </a:xfrm>
          <a:prstGeom prst="chevron">
            <a:avLst/>
          </a:prstGeom>
          <a:solidFill>
            <a:srgbClr val="FFB7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D48C91-9FB0-449A-A66C-BD0845124B6C}"/>
              </a:ext>
            </a:extLst>
          </p:cNvPr>
          <p:cNvSpPr txBox="1"/>
          <p:nvPr/>
        </p:nvSpPr>
        <p:spPr>
          <a:xfrm>
            <a:off x="4572000" y="1676400"/>
            <a:ext cx="279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F1923"/>
                </a:solidFill>
              </a:rPr>
              <a:t>Workflow Agents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6DAE6-F1A9-4FA6-A21B-C7721D923E0B}"/>
              </a:ext>
            </a:extLst>
          </p:cNvPr>
          <p:cNvSpPr txBox="1"/>
          <p:nvPr/>
        </p:nvSpPr>
        <p:spPr>
          <a:xfrm>
            <a:off x="4572000" y="2032000"/>
            <a:ext cx="2794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F1923"/>
                </a:solidFill>
              </a:rPr>
              <a:t>YAML optional
Multi-step automation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A65497F-607F-4009-AC7C-9CD5AA5DB510}"/>
              </a:ext>
            </a:extLst>
          </p:cNvPr>
          <p:cNvSpPr/>
          <p:nvPr/>
        </p:nvSpPr>
        <p:spPr>
          <a:xfrm>
            <a:off x="7772400" y="1651000"/>
            <a:ext cx="3683000" cy="1016000"/>
          </a:xfrm>
          <a:prstGeom prst="chevron">
            <a:avLst/>
          </a:prstGeom>
          <a:solidFill>
            <a:srgbClr val="4FC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B936D-DC41-47FA-8510-8B113835EF99}"/>
              </a:ext>
            </a:extLst>
          </p:cNvPr>
          <p:cNvSpPr txBox="1"/>
          <p:nvPr/>
        </p:nvSpPr>
        <p:spPr>
          <a:xfrm>
            <a:off x="8153400" y="1676400"/>
            <a:ext cx="279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F1923"/>
                </a:solidFill>
              </a:rPr>
              <a:t>Hosted Agents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5CC43-1A80-4E9B-BC40-3C3357A94F0E}"/>
              </a:ext>
            </a:extLst>
          </p:cNvPr>
          <p:cNvSpPr txBox="1"/>
          <p:nvPr/>
        </p:nvSpPr>
        <p:spPr>
          <a:xfrm>
            <a:off x="8153400" y="2032000"/>
            <a:ext cx="2794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F1923"/>
                </a:solidFill>
              </a:rPr>
              <a:t>Containerized
Full control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93AA7-080A-4C20-AD02-B6DE3260EF4C}"/>
              </a:ext>
            </a:extLst>
          </p:cNvPr>
          <p:cNvSpPr txBox="1"/>
          <p:nvPr/>
        </p:nvSpPr>
        <p:spPr>
          <a:xfrm>
            <a:off x="609600" y="13716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78909C"/>
                </a:solidFill>
              </a:rPr>
              <a:t>Three-Tier Graduation Path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C7EF15B-DAE2-4712-9255-BCC342F691C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048000"/>
          <a:ext cx="11277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223571925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488458408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44344902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89134689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Semantic Kernel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Agent Framework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LangChain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05657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Azure OpenAI Models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Full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Full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Full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14697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Foundry Agent Service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 AzureAIAgent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 AzureAIAgentClient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 AgentServiceFactory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85923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Hosted Deployment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 Python, C#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✅ Python only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71657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Observability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OpenTelemetry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OpenTelemetry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App Insights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645580"/>
                  </a:ext>
                </a:extLst>
              </a:tr>
            </a:tbl>
          </a:graphicData>
        </a:graphic>
      </p:graphicFrame>
      <p:pic>
        <p:nvPicPr>
          <p:cNvPr id="15" name="Graphic 15" descr="Cloud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381000"/>
            <a:ext cx="76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24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F926C-EB04-4878-D691-2B673EE46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8900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Agent2Agent (A2A) Protocol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Open standard (v1.0.0) | Linux Foundation | Agent-to-Agent communication</a:t>
            </a:r>
          </a:p>
        </p:txBody>
      </p:sp>
      <p:sp>
        <p:nvSpPr>
          <p:cNvPr id="60" name="A2A"/>
          <p:cNvSpPr/>
          <p:nvPr/>
        </p:nvSpPr>
        <p:spPr>
          <a:xfrm>
            <a:off x="457200" y="1837623"/>
            <a:ext cx="3810000" cy="1981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91440" tIns="72000" rIns="91440" bIns="45720"/>
          <a:lstStyle/>
          <a:p>
            <a:pPr algn="ctr">
              <a:buNone/>
            </a:pPr>
            <a:r>
              <a:rPr lang="en-US" sz="2000" b="1" dirty="0">
                <a:solidFill>
                  <a:srgbClr val="4FC3F7"/>
                </a:solidFill>
              </a:rPr>
              <a:t>A2A</a:t>
            </a:r>
          </a:p>
          <a:p>
            <a:pPr algn="ctr">
              <a:buNone/>
            </a:pPr>
            <a:r>
              <a:rPr lang="en-US" sz="1400" dirty="0">
                <a:solidFill>
                  <a:srgbClr val="E8ECF1"/>
                </a:solidFill>
              </a:rPr>
              <a:t>Agent ↔ Agent</a:t>
            </a:r>
          </a:p>
          <a:p>
            <a:pPr algn="ctr">
              <a:buNone/>
            </a:pPr>
            <a:r>
              <a:rPr lang="en-US" sz="1200" dirty="0">
                <a:solidFill>
                  <a:srgbClr val="78909C"/>
                </a:solidFill>
              </a:rPr>
              <a:t>The "public internet"</a:t>
            </a:r>
          </a:p>
          <a:p>
            <a:pPr algn="ctr">
              <a:buNone/>
            </a:pPr>
            <a:r>
              <a:rPr lang="en-US" sz="1200" dirty="0">
                <a:solidFill>
                  <a:srgbClr val="78909C"/>
                </a:solidFill>
              </a:rPr>
              <a:t>between agents</a:t>
            </a:r>
          </a:p>
          <a:p>
            <a:pPr algn="ctr">
              <a:buNone/>
            </a:pPr>
            <a:endParaRPr lang="en-US" sz="800" dirty="0"/>
          </a:p>
          <a:p>
            <a:pPr algn="ctr">
              <a:buNone/>
            </a:pPr>
            <a:r>
              <a:rPr lang="en-US" sz="1200" dirty="0">
                <a:solidFill>
                  <a:srgbClr val="B0BEC5"/>
                </a:solidFill>
              </a:rPr>
              <a:t>Task-based, multi-turn</a:t>
            </a:r>
          </a:p>
          <a:p>
            <a:pPr algn="ctr">
              <a:buNone/>
            </a:pPr>
            <a:r>
              <a:rPr lang="en-US" sz="1200" dirty="0">
                <a:solidFill>
                  <a:srgbClr val="B0BEC5"/>
                </a:solidFill>
              </a:rPr>
              <a:t>Potentially long-running</a:t>
            </a:r>
          </a:p>
        </p:txBody>
      </p:sp>
      <p:sp>
        <p:nvSpPr>
          <p:cNvPr id="61" name="MCP"/>
          <p:cNvSpPr/>
          <p:nvPr/>
        </p:nvSpPr>
        <p:spPr>
          <a:xfrm>
            <a:off x="4724400" y="1837623"/>
            <a:ext cx="3810000" cy="1981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91440" tIns="72000" rIns="91440" bIns="45720"/>
          <a:lstStyle/>
          <a:p>
            <a:pPr algn="ctr">
              <a:buNone/>
            </a:pPr>
            <a:r>
              <a:rPr lang="en-US" sz="2000" b="1" dirty="0">
                <a:solidFill>
                  <a:srgbClr val="CE93D8"/>
                </a:solidFill>
              </a:rPr>
              <a:t>MCP</a:t>
            </a:r>
          </a:p>
          <a:p>
            <a:pPr algn="ctr">
              <a:buNone/>
            </a:pPr>
            <a:r>
              <a:rPr lang="en-US" sz="1400" dirty="0">
                <a:solidFill>
                  <a:srgbClr val="E8ECF1"/>
                </a:solidFill>
              </a:rPr>
              <a:t>Agent ↔ Tool</a:t>
            </a:r>
          </a:p>
          <a:p>
            <a:pPr algn="ctr">
              <a:buNone/>
            </a:pPr>
            <a:r>
              <a:rPr lang="en-US" sz="1200" dirty="0">
                <a:solidFill>
                  <a:srgbClr val="78909C"/>
                </a:solidFill>
              </a:rPr>
              <a:t>The "how-to" for using</a:t>
            </a:r>
          </a:p>
          <a:p>
            <a:pPr algn="ctr">
              <a:buNone/>
            </a:pPr>
            <a:r>
              <a:rPr lang="en-US" sz="1200" dirty="0">
                <a:solidFill>
                  <a:srgbClr val="78909C"/>
                </a:solidFill>
              </a:rPr>
              <a:t>a specific tool</a:t>
            </a:r>
          </a:p>
          <a:p>
            <a:pPr algn="ctr">
              <a:buNone/>
            </a:pPr>
            <a:endParaRPr lang="en-US" sz="800" dirty="0"/>
          </a:p>
          <a:p>
            <a:pPr algn="ctr">
              <a:buNone/>
            </a:pPr>
            <a:r>
              <a:rPr lang="en-US" sz="1200" dirty="0">
                <a:solidFill>
                  <a:srgbClr val="B0BEC5"/>
                </a:solidFill>
              </a:rPr>
              <a:t>Request/response</a:t>
            </a:r>
          </a:p>
          <a:p>
            <a:pPr algn="ctr">
              <a:buNone/>
            </a:pPr>
            <a:r>
              <a:rPr lang="en-US" sz="1200" dirty="0">
                <a:solidFill>
                  <a:srgbClr val="B0BEC5"/>
                </a:solidFill>
              </a:rPr>
              <a:t>Function call style</a:t>
            </a:r>
          </a:p>
        </p:txBody>
      </p:sp>
      <p:sp>
        <p:nvSpPr>
          <p:cNvPr id="62" name="Comp"/>
          <p:cNvSpPr/>
          <p:nvPr/>
        </p:nvSpPr>
        <p:spPr>
          <a:xfrm>
            <a:off x="4267200" y="2523423"/>
            <a:ext cx="457200" cy="381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FFB74D"/>
            </a:solidFill>
          </a:ln>
        </p:spPr>
        <p:txBody>
          <a:bodyPr wrap="square" lIns="18000" rIns="18000" anchor="ctr"/>
          <a:lstStyle/>
          <a:p>
            <a:pPr algn="ctr"/>
            <a:r>
              <a:rPr lang="en-US" sz="1000" b="1" dirty="0">
                <a:solidFill>
                  <a:srgbClr val="FFB74D"/>
                </a:solidFill>
              </a:rPr>
              <a:t>↔</a:t>
            </a:r>
          </a:p>
        </p:txBody>
      </p:sp>
      <p:sp>
        <p:nvSpPr>
          <p:cNvPr id="70" name="Concepts"/>
          <p:cNvSpPr/>
          <p:nvPr/>
        </p:nvSpPr>
        <p:spPr>
          <a:xfrm>
            <a:off x="8991600" y="1837623"/>
            <a:ext cx="2743200" cy="19812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1400" b="1" dirty="0">
                <a:solidFill>
                  <a:srgbClr val="4FC3F7"/>
                </a:solidFill>
              </a:rPr>
              <a:t>Core Concepts</a:t>
            </a:r>
          </a:p>
          <a:p>
            <a:pPr>
              <a:buFont typeface="Arial"/>
              <a:buChar char="•"/>
            </a:pPr>
            <a:r>
              <a:rPr lang="en-US" sz="1200" b="1" dirty="0">
                <a:solidFill>
                  <a:srgbClr val="E8ECF1"/>
                </a:solidFill>
              </a:rPr>
              <a:t>Agent Card</a:t>
            </a:r>
            <a:r>
              <a:rPr lang="en-US" sz="1200" dirty="0">
                <a:solidFill>
                  <a:srgbClr val="B0BEC5"/>
                </a:solidFill>
              </a:rPr>
              <a:t> — JSON metadata</a:t>
            </a:r>
          </a:p>
          <a:p>
            <a:pPr>
              <a:buFont typeface="Arial"/>
              <a:buChar char="•"/>
            </a:pPr>
            <a:r>
              <a:rPr lang="en-US" sz="1200" b="1" dirty="0">
                <a:solidFill>
                  <a:srgbClr val="E8ECF1"/>
                </a:solidFill>
              </a:rPr>
              <a:t>Task</a:t>
            </a:r>
            <a:r>
              <a:rPr lang="en-US" sz="1200" dirty="0">
                <a:solidFill>
                  <a:srgbClr val="B0BEC5"/>
                </a:solidFill>
              </a:rPr>
              <a:t> — Work unit lifecycle</a:t>
            </a:r>
          </a:p>
          <a:p>
            <a:pPr>
              <a:buFont typeface="Arial"/>
              <a:buChar char="•"/>
            </a:pPr>
            <a:r>
              <a:rPr lang="en-US" sz="1200" b="1" dirty="0">
                <a:solidFill>
                  <a:srgbClr val="E8ECF1"/>
                </a:solidFill>
              </a:rPr>
              <a:t>Message</a:t>
            </a:r>
            <a:r>
              <a:rPr lang="en-US" sz="1200" dirty="0">
                <a:solidFill>
                  <a:srgbClr val="B0BEC5"/>
                </a:solidFill>
              </a:rPr>
              <a:t> — Comm turn</a:t>
            </a:r>
          </a:p>
          <a:p>
            <a:pPr>
              <a:buFont typeface="Arial"/>
              <a:buChar char="•"/>
            </a:pPr>
            <a:r>
              <a:rPr lang="en-US" sz="1200" b="1" dirty="0">
                <a:solidFill>
                  <a:srgbClr val="E8ECF1"/>
                </a:solidFill>
              </a:rPr>
              <a:t>Artifact</a:t>
            </a:r>
            <a:r>
              <a:rPr lang="en-US" sz="1200" dirty="0">
                <a:solidFill>
                  <a:srgbClr val="B0BEC5"/>
                </a:solidFill>
              </a:rPr>
              <a:t> — Output data</a:t>
            </a:r>
          </a:p>
          <a:p>
            <a:pPr>
              <a:buFont typeface="Arial"/>
              <a:buChar char="•"/>
            </a:pPr>
            <a:r>
              <a:rPr lang="en-US" sz="1200" b="1" dirty="0">
                <a:solidFill>
                  <a:srgbClr val="E8ECF1"/>
                </a:solidFill>
              </a:rPr>
              <a:t>Streaming</a:t>
            </a:r>
            <a:r>
              <a:rPr lang="en-US" sz="1200" dirty="0">
                <a:solidFill>
                  <a:srgbClr val="B0BEC5"/>
                </a:solidFill>
              </a:rPr>
              <a:t> — SSE / gRPC</a:t>
            </a:r>
          </a:p>
        </p:txBody>
      </p:sp>
      <p:sp>
        <p:nvSpPr>
          <p:cNvPr id="80" name="Bindings"/>
          <p:cNvSpPr/>
          <p:nvPr/>
        </p:nvSpPr>
        <p:spPr>
          <a:xfrm>
            <a:off x="457200" y="4047423"/>
            <a:ext cx="11277600" cy="381000"/>
          </a:xfrm>
          <a:prstGeom prst="roundRect">
            <a:avLst/>
          </a:prstGeom>
          <a:solidFill>
            <a:srgbClr val="1A2736"/>
          </a:solidFill>
          <a:ln w="6350">
            <a:solidFill>
              <a:srgbClr val="4FC3F7"/>
            </a:solidFill>
          </a:ln>
        </p:spPr>
        <p:txBody>
          <a:bodyPr wrap="square" lIns="91440" anchor="ctr"/>
          <a:lstStyle/>
          <a:p>
            <a:pPr algn="ctr">
              <a:buNone/>
            </a:pPr>
            <a:r>
              <a:rPr lang="en-US" sz="1400" b="1" dirty="0">
                <a:solidFill>
                  <a:srgbClr val="4FC3F7"/>
                </a:solidFill>
              </a:rPr>
              <a:t>Protocol Bindings:  </a:t>
            </a:r>
            <a:r>
              <a:rPr lang="en-US" sz="1400" dirty="0">
                <a:solidFill>
                  <a:srgbClr val="B0BEC5"/>
                </a:solidFill>
              </a:rPr>
              <a:t>JSON-RPC 2.0   |   gRPC   |   HTTP+JSON/REST</a:t>
            </a:r>
          </a:p>
        </p:txBody>
      </p:sp>
      <p:sp>
        <p:nvSpPr>
          <p:cNvPr id="85" name="Insight"/>
          <p:cNvSpPr/>
          <p:nvPr/>
        </p:nvSpPr>
        <p:spPr>
          <a:xfrm>
            <a:off x="457200" y="4580823"/>
            <a:ext cx="11277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91440" anchor="ctr"/>
          <a:lstStyle/>
          <a:p>
            <a:pPr>
              <a:buNone/>
            </a:pPr>
            <a:r>
              <a:rPr lang="en-US" sz="1400" dirty="0">
                <a:solidFill>
                  <a:srgbClr val="FFB74D"/>
                </a:solidFill>
              </a:rPr>
              <a:t>Key Insight:  </a:t>
            </a:r>
            <a:r>
              <a:rPr lang="en-US" sz="1400" dirty="0">
                <a:solidFill>
                  <a:srgbClr val="B0BEC5"/>
                </a:solidFill>
              </a:rPr>
              <a:t>A2A is outward-facing (between agents). MCP is inward-facing (agent-to-tools). They work together: an A2A Server may use MCP internally to invoke tools.</a:t>
            </a:r>
          </a:p>
        </p:txBody>
      </p:sp>
      <p:pic>
        <p:nvPicPr>
          <p:cNvPr id="86" name="Graphic 86" descr="Network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0" y="1016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30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0B47D-D20A-4619-0BB9-A05F5B38E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4000"/>
            <a:ext cx="10160000" cy="914400"/>
          </a:xfrm>
        </p:spPr>
        <p:txBody>
          <a:bodyPr>
            <a:normAutofit/>
          </a:bodyPr>
          <a:lstStyle/>
          <a:p>
            <a:r>
              <a:rPr lang="en-US" sz="2800"/>
              <a:t>In-Process vs A2A Communication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714FD9-863E-4814-A627-279338ADB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648867"/>
              </p:ext>
            </p:extLst>
          </p:nvPr>
        </p:nvGraphicFramePr>
        <p:xfrm>
          <a:off x="457200" y="1524000"/>
          <a:ext cx="11277600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>
                  <a:extLst>
                    <a:ext uri="{9D8B030D-6E8A-4147-A177-3AD203B41FA5}">
                      <a16:colId xmlns:a16="http://schemas.microsoft.com/office/drawing/2014/main" val="3343261324"/>
                    </a:ext>
                  </a:extLst>
                </a:gridCol>
                <a:gridCol w="3759200">
                  <a:extLst>
                    <a:ext uri="{9D8B030D-6E8A-4147-A177-3AD203B41FA5}">
                      <a16:colId xmlns:a16="http://schemas.microsoft.com/office/drawing/2014/main" val="3467743923"/>
                    </a:ext>
                  </a:extLst>
                </a:gridCol>
                <a:gridCol w="3759200">
                  <a:extLst>
                    <a:ext uri="{9D8B030D-6E8A-4147-A177-3AD203B41FA5}">
                      <a16:colId xmlns:a16="http://schemas.microsoft.com/office/drawing/2014/main" val="3806080875"/>
                    </a:ext>
                  </a:extLst>
                </a:gridCol>
              </a:tblGrid>
              <a:tr h="492125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In-Process (SK/AF)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4FC3F7"/>
                          </a:solidFill>
                        </a:rPr>
                        <a:t>A2A (Inter-Process)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0097030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Latency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Nanoseconds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Milliseconds to seconds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74503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Single process failure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Independent failure domains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481242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Scalability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Scales as one unit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Independently scalable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628560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Framework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Same language required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Any framework, any language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751087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Deployment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Single deployment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Independent per agent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338135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Security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In-process trust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Network auth (OAuth, mTLS)</a:t>
                      </a:r>
                    </a:p>
                  </a:txBody>
                  <a:tcPr anchor="ctr">
                    <a:solidFill>
                      <a:srgbClr val="1622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179544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E8ECF1"/>
                          </a:solidFill>
                        </a:rPr>
                        <a:t>Team Ownership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Same team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B0BEC5"/>
                          </a:solidFill>
                        </a:rPr>
                        <a:t>Different teams/orgs</a:t>
                      </a:r>
                    </a:p>
                  </a:txBody>
                  <a:tcPr anchor="ctr">
                    <a:solidFill>
                      <a:srgbClr val="1A27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453012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C04AC4-5003-4DF3-A0B8-17197C19BB64}"/>
              </a:ext>
            </a:extLst>
          </p:cNvPr>
          <p:cNvSpPr/>
          <p:nvPr/>
        </p:nvSpPr>
        <p:spPr>
          <a:xfrm>
            <a:off x="457200" y="5588000"/>
            <a:ext cx="5461000" cy="1016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81C78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1B38D0-D031-4F73-9C64-1BB1F2B09E93}"/>
              </a:ext>
            </a:extLst>
          </p:cNvPr>
          <p:cNvSpPr txBox="1"/>
          <p:nvPr/>
        </p:nvSpPr>
        <p:spPr>
          <a:xfrm>
            <a:off x="609600" y="5626100"/>
            <a:ext cx="5156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81C784"/>
                </a:solidFill>
              </a:rPr>
              <a:t>Use In-Process When: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BDAB8-DB5E-4A23-9086-C6C9FA55D883}"/>
              </a:ext>
            </a:extLst>
          </p:cNvPr>
          <p:cNvSpPr txBox="1"/>
          <p:nvPr/>
        </p:nvSpPr>
        <p:spPr>
          <a:xfrm>
            <a:off x="609600" y="5943600"/>
            <a:ext cx="51562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Same team, same stack, low latency, simple deployment, shared state, prototyping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59B6D8-20A1-44FB-9787-5C4EBAEABEC7}"/>
              </a:ext>
            </a:extLst>
          </p:cNvPr>
          <p:cNvSpPr/>
          <p:nvPr/>
        </p:nvSpPr>
        <p:spPr>
          <a:xfrm>
            <a:off x="6273800" y="5588000"/>
            <a:ext cx="5461000" cy="1016000"/>
          </a:xfrm>
          <a:prstGeom prst="roundRect">
            <a:avLst/>
          </a:prstGeom>
          <a:solidFill>
            <a:srgbClr val="1A2736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B22ABA-10CD-4E04-A5E5-41A2AEA61754}"/>
              </a:ext>
            </a:extLst>
          </p:cNvPr>
          <p:cNvSpPr txBox="1"/>
          <p:nvPr/>
        </p:nvSpPr>
        <p:spPr>
          <a:xfrm>
            <a:off x="6426200" y="5626100"/>
            <a:ext cx="5156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4FC3F7"/>
                </a:solidFill>
              </a:rPr>
              <a:t>Use A2A When: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BDBB78-CE6D-4AF9-9830-C89A1438F573}"/>
              </a:ext>
            </a:extLst>
          </p:cNvPr>
          <p:cNvSpPr txBox="1"/>
          <p:nvPr/>
        </p:nvSpPr>
        <p:spPr>
          <a:xfrm>
            <a:off x="6426200" y="5943600"/>
            <a:ext cx="51562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Different teams, polyglot systems, independent scaling, security boundaries, async tasks</a:t>
            </a:r>
          </a:p>
        </p:txBody>
      </p:sp>
    </p:spTree>
    <p:extLst>
      <p:ext uri="{BB962C8B-B14F-4D97-AF65-F5344CB8AC3E}">
        <p14:creationId xmlns:p14="http://schemas.microsoft.com/office/powerpoint/2010/main" val="1692490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AC2FF-C406-B0BD-4D77-DD801534D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8900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Hybrid Architecture</a:t>
            </a:r>
          </a:p>
        </p:txBody>
      </p:sp>
      <p:sp>
        <p:nvSpPr>
          <p:cNvPr id="50" name="Sub"/>
          <p:cNvSpPr/>
          <p:nvPr/>
        </p:nvSpPr>
        <p:spPr>
          <a:xfrm>
            <a:off x="457200" y="609600"/>
            <a:ext cx="10515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6000" anchor="ctr"/>
          <a:lstStyle/>
          <a:p>
            <a:pPr algn="l"/>
            <a:r>
              <a:rPr lang="en-US" sz="1400" dirty="0">
                <a:solidFill>
                  <a:srgbClr val="78909C"/>
                </a:solidFill>
              </a:rPr>
              <a:t>In-process orchestration within services + A2A for cross-team communication</a:t>
            </a:r>
          </a:p>
        </p:txBody>
      </p:sp>
      <p:sp>
        <p:nvSpPr>
          <p:cNvPr id="55" name="User"/>
          <p:cNvSpPr/>
          <p:nvPr/>
        </p:nvSpPr>
        <p:spPr>
          <a:xfrm>
            <a:off x="1746183" y="1905000"/>
            <a:ext cx="1371600" cy="457200"/>
          </a:xfrm>
          <a:prstGeom prst="roundRect">
            <a:avLst/>
          </a:prstGeom>
          <a:solidFill>
            <a:srgbClr val="4FC3F7"/>
          </a:solidFill>
          <a:ln w="0">
            <a:noFill/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600" b="1" dirty="0">
                <a:solidFill>
                  <a:srgbClr val="0F1923"/>
                </a:solidFill>
              </a:rPr>
              <a:t>User / Frontend</a:t>
            </a:r>
          </a:p>
        </p:txBody>
      </p:sp>
      <p:sp>
        <p:nvSpPr>
          <p:cNvPr id="56" name="Ar1"/>
          <p:cNvSpPr/>
          <p:nvPr/>
        </p:nvSpPr>
        <p:spPr>
          <a:xfrm>
            <a:off x="3193983" y="2057400"/>
            <a:ext cx="3048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OrcBg"/>
          <p:cNvSpPr/>
          <p:nvPr/>
        </p:nvSpPr>
        <p:spPr>
          <a:xfrm>
            <a:off x="3574983" y="1752600"/>
            <a:ext cx="4114800" cy="28194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8" name="OrcLabel"/>
          <p:cNvSpPr/>
          <p:nvPr/>
        </p:nvSpPr>
        <p:spPr>
          <a:xfrm>
            <a:off x="3651183" y="182880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l"/>
            <a:r>
              <a:rPr lang="en-US" sz="1600" b="1" dirty="0">
                <a:solidFill>
                  <a:srgbClr val="FFB74D"/>
                </a:solidFill>
              </a:rPr>
              <a:t>Orchestrator Agent (ASP.NET)</a:t>
            </a:r>
          </a:p>
        </p:txBody>
      </p:sp>
      <p:sp>
        <p:nvSpPr>
          <p:cNvPr id="60" name="InProc1"/>
          <p:cNvSpPr/>
          <p:nvPr/>
        </p:nvSpPr>
        <p:spPr>
          <a:xfrm>
            <a:off x="4244340" y="2362199"/>
            <a:ext cx="2500162" cy="513949"/>
          </a:xfrm>
          <a:prstGeom prst="roundRect">
            <a:avLst/>
          </a:prstGeom>
          <a:solidFill>
            <a:srgbClr val="162231"/>
          </a:solidFill>
          <a:ln w="1270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200" b="1" dirty="0">
                <a:solidFill>
                  <a:srgbClr val="81C784"/>
                </a:solidFill>
              </a:rPr>
              <a:t>In-Process Agent 1
(SK / Agent Framework)</a:t>
            </a:r>
          </a:p>
        </p:txBody>
      </p:sp>
      <p:sp>
        <p:nvSpPr>
          <p:cNvPr id="61" name="InProc2"/>
          <p:cNvSpPr/>
          <p:nvPr/>
        </p:nvSpPr>
        <p:spPr>
          <a:xfrm>
            <a:off x="4244340" y="2971800"/>
            <a:ext cx="2500162" cy="685800"/>
          </a:xfrm>
          <a:prstGeom prst="roundRect">
            <a:avLst/>
          </a:prstGeom>
          <a:solidFill>
            <a:srgbClr val="162231"/>
          </a:solidFill>
          <a:ln w="1270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200" b="1" dirty="0">
                <a:solidFill>
                  <a:srgbClr val="81C784"/>
                </a:solidFill>
              </a:rPr>
              <a:t>In-Process Agent 2
(SK / Agent Framework)</a:t>
            </a:r>
          </a:p>
        </p:txBody>
      </p:sp>
      <p:sp>
        <p:nvSpPr>
          <p:cNvPr id="62" name="InProc3"/>
          <p:cNvSpPr/>
          <p:nvPr/>
        </p:nvSpPr>
        <p:spPr>
          <a:xfrm>
            <a:off x="4229902" y="3753251"/>
            <a:ext cx="2500162" cy="685800"/>
          </a:xfrm>
          <a:prstGeom prst="roundRect">
            <a:avLst/>
          </a:prstGeom>
          <a:solidFill>
            <a:srgbClr val="162231"/>
          </a:solidFill>
          <a:ln w="12700">
            <a:solidFill>
              <a:srgbClr val="81C784"/>
            </a:solidFill>
          </a:ln>
        </p:spPr>
        <p:txBody>
          <a:bodyPr wrap="square" lIns="36000" tIns="36000" rIns="36000" bIns="36000" anchor="ctr"/>
          <a:lstStyle/>
          <a:p>
            <a:pPr algn="ctr"/>
            <a:r>
              <a:rPr lang="en-US" sz="1200" b="1" dirty="0">
                <a:solidFill>
                  <a:srgbClr val="81C784"/>
                </a:solidFill>
              </a:rPr>
              <a:t>In-Process Agent 3
(SK / Agent Framework)</a:t>
            </a:r>
          </a:p>
        </p:txBody>
      </p:sp>
      <p:sp>
        <p:nvSpPr>
          <p:cNvPr id="63" name="InProcLbl"/>
          <p:cNvSpPr/>
          <p:nvPr/>
        </p:nvSpPr>
        <p:spPr>
          <a:xfrm>
            <a:off x="3727383" y="2133600"/>
            <a:ext cx="1752600" cy="15240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l"/>
            <a:r>
              <a:rPr lang="en-US" sz="1000" dirty="0">
                <a:solidFill>
                  <a:srgbClr val="81C784"/>
                </a:solidFill>
              </a:rPr>
              <a:t>IN-PROCESS</a:t>
            </a:r>
          </a:p>
        </p:txBody>
      </p:sp>
      <p:sp>
        <p:nvSpPr>
          <p:cNvPr id="64" name="A2ALbl"/>
          <p:cNvSpPr/>
          <p:nvPr/>
        </p:nvSpPr>
        <p:spPr>
          <a:xfrm>
            <a:off x="5632383" y="2133600"/>
            <a:ext cx="1828800" cy="152400"/>
          </a:xfrm>
          <a:prstGeom prst="rect">
            <a:avLst/>
          </a:prstGeom>
          <a:noFill/>
          <a:ln w="0">
            <a:noFill/>
          </a:ln>
        </p:spPr>
        <p:txBody>
          <a:bodyPr wrap="square" anchor="ctr"/>
          <a:lstStyle/>
          <a:p>
            <a:pPr algn="r"/>
            <a:r>
              <a:rPr lang="en-US" sz="1000" dirty="0">
                <a:solidFill>
                  <a:srgbClr val="4FC3F7"/>
                </a:solidFill>
              </a:rPr>
              <a:t>A2A PROTOCOL →</a:t>
            </a:r>
          </a:p>
        </p:txBody>
      </p:sp>
      <p:sp>
        <p:nvSpPr>
          <p:cNvPr id="65" name="A2Ar1"/>
          <p:cNvSpPr/>
          <p:nvPr/>
        </p:nvSpPr>
        <p:spPr>
          <a:xfrm>
            <a:off x="7765983" y="2286000"/>
            <a:ext cx="3810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A2Ar2"/>
          <p:cNvSpPr/>
          <p:nvPr/>
        </p:nvSpPr>
        <p:spPr>
          <a:xfrm>
            <a:off x="7765983" y="2743200"/>
            <a:ext cx="3810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A2Ar3"/>
          <p:cNvSpPr/>
          <p:nvPr/>
        </p:nvSpPr>
        <p:spPr>
          <a:xfrm>
            <a:off x="7765983" y="3200400"/>
            <a:ext cx="381000" cy="152400"/>
          </a:xfrm>
          <a:prstGeom prst="rightArrow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Ln1"/>
          <p:cNvSpPr/>
          <p:nvPr/>
        </p:nvSpPr>
        <p:spPr>
          <a:xfrm>
            <a:off x="7689783" y="2362200"/>
            <a:ext cx="1524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Ln2"/>
          <p:cNvSpPr/>
          <p:nvPr/>
        </p:nvSpPr>
        <p:spPr>
          <a:xfrm>
            <a:off x="7689783" y="2819400"/>
            <a:ext cx="1524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Ln3"/>
          <p:cNvSpPr/>
          <p:nvPr/>
        </p:nvSpPr>
        <p:spPr>
          <a:xfrm>
            <a:off x="7689783" y="3276600"/>
            <a:ext cx="152400" cy="19050"/>
          </a:xfrm>
          <a:prstGeom prst="rect">
            <a:avLst/>
          </a:prstGeom>
          <a:solidFill>
            <a:srgbClr val="4FC3F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ExtA"/>
          <p:cNvSpPr/>
          <p:nvPr/>
        </p:nvSpPr>
        <p:spPr>
          <a:xfrm>
            <a:off x="8223183" y="2133600"/>
            <a:ext cx="21336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4FC3F7"/>
            </a:solidFill>
          </a:ln>
        </p:spPr>
        <p:txBody>
          <a:bodyPr wrap="square" lIns="54000" anchor="ctr"/>
          <a:lstStyle/>
          <a:p>
            <a:pPr algn="ctr"/>
            <a:r>
              <a:rPr lang="en-US" sz="1400" b="1" dirty="0">
                <a:solidFill>
                  <a:srgbClr val="4FC3F7"/>
                </a:solidFill>
              </a:rPr>
              <a:t>External Agent A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(Python / LangGraph)</a:t>
            </a:r>
          </a:p>
        </p:txBody>
      </p:sp>
      <p:sp>
        <p:nvSpPr>
          <p:cNvPr id="76" name="ExtB"/>
          <p:cNvSpPr/>
          <p:nvPr/>
        </p:nvSpPr>
        <p:spPr>
          <a:xfrm>
            <a:off x="8223183" y="2667000"/>
            <a:ext cx="21336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CE93D8"/>
            </a:solidFill>
          </a:ln>
        </p:spPr>
        <p:txBody>
          <a:bodyPr wrap="square" lIns="54000" anchor="ctr"/>
          <a:lstStyle/>
          <a:p>
            <a:pPr algn="ctr"/>
            <a:r>
              <a:rPr lang="en-US" sz="1400" b="1" dirty="0">
                <a:solidFill>
                  <a:srgbClr val="CE93D8"/>
                </a:solidFill>
              </a:rPr>
              <a:t>External Agent B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(Java Service)</a:t>
            </a:r>
          </a:p>
        </p:txBody>
      </p:sp>
      <p:sp>
        <p:nvSpPr>
          <p:cNvPr id="77" name="ExtC"/>
          <p:cNvSpPr/>
          <p:nvPr/>
        </p:nvSpPr>
        <p:spPr>
          <a:xfrm>
            <a:off x="8223183" y="3200400"/>
            <a:ext cx="2133600" cy="457200"/>
          </a:xfrm>
          <a:prstGeom prst="roundRect">
            <a:avLst/>
          </a:prstGeom>
          <a:solidFill>
            <a:srgbClr val="1A2736"/>
          </a:solidFill>
          <a:ln w="19050">
            <a:solidFill>
              <a:srgbClr val="FFB74D"/>
            </a:solidFill>
          </a:ln>
        </p:spPr>
        <p:txBody>
          <a:bodyPr wrap="square" lIns="54000" anchor="ctr"/>
          <a:lstStyle/>
          <a:p>
            <a:pPr algn="ctr"/>
            <a:r>
              <a:rPr lang="en-US" sz="1400" b="1" dirty="0">
                <a:solidFill>
                  <a:srgbClr val="FFB74D"/>
                </a:solidFill>
              </a:rPr>
              <a:t>Vendor Agent C</a:t>
            </a:r>
          </a:p>
          <a:p>
            <a:pPr algn="ctr"/>
            <a:r>
              <a:rPr lang="en-US" sz="1200" dirty="0">
                <a:solidFill>
                  <a:srgbClr val="78909C"/>
                </a:solidFill>
              </a:rPr>
              <a:t>(Any Framework)</a:t>
            </a:r>
          </a:p>
        </p:txBody>
      </p:sp>
      <p:sp>
        <p:nvSpPr>
          <p:cNvPr id="85" name="KeyPt"/>
          <p:cNvSpPr/>
          <p:nvPr/>
        </p:nvSpPr>
        <p:spPr>
          <a:xfrm>
            <a:off x="533400" y="4953000"/>
            <a:ext cx="11277600" cy="609600"/>
          </a:xfrm>
          <a:prstGeom prst="roundRect">
            <a:avLst/>
          </a:prstGeom>
          <a:solidFill>
            <a:srgbClr val="1A2736"/>
          </a:solidFill>
          <a:ln w="0">
            <a:noFill/>
          </a:ln>
        </p:spPr>
        <p:txBody>
          <a:bodyPr wrap="square" lIns="91440" tIns="45720" rIns="91440" bIns="45720"/>
          <a:lstStyle/>
          <a:p>
            <a:pPr>
              <a:buNone/>
            </a:pPr>
            <a:r>
              <a:rPr lang="en-US" sz="1600" b="1" dirty="0">
                <a:solidFill>
                  <a:srgbClr val="FFB74D"/>
                </a:solidFill>
              </a:rPr>
              <a:t>Enterprise Pattern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In-process orchestration (SK or Agent Framework) within each service for low latency</a:t>
            </a:r>
          </a:p>
          <a:p>
            <a:pPr>
              <a:buFont typeface="Arial"/>
              <a:buChar char="•"/>
            </a:pPr>
            <a:r>
              <a:rPr lang="en-US" sz="1400" dirty="0">
                <a:solidFill>
                  <a:srgbClr val="B0BEC5"/>
                </a:solidFill>
              </a:rPr>
              <a:t>A2A protocol for cross-team, cross-language, cross-organization communication</a:t>
            </a:r>
          </a:p>
        </p:txBody>
      </p:sp>
      <p:pic>
        <p:nvPicPr>
          <p:cNvPr id="86" name="Graphic 86" descr="Connections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381000"/>
            <a:ext cx="76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999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F16BF-9155-DDCA-5E6F-BEE6F3E31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890000" cy="457200"/>
          </a:xfrm>
        </p:spPr>
        <p:txBody>
          <a:bodyPr/>
          <a:lstStyle/>
          <a:p>
            <a:pPr>
              <a:buNone/>
            </a:pPr>
            <a:r>
              <a:rPr lang="en-US" sz="2400" b="1" dirty="0"/>
              <a:t>Key Takeaways &amp; Recommendations</a:t>
            </a:r>
          </a:p>
        </p:txBody>
      </p:sp>
      <p:sp>
        <p:nvSpPr>
          <p:cNvPr id="50" name="Card0"/>
          <p:cNvSpPr/>
          <p:nvPr/>
        </p:nvSpPr>
        <p:spPr>
          <a:xfrm>
            <a:off x="266700" y="7112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4FC3F7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4FC3F7">
                    <a:alpha val="30000"/>
                  </a:srgbClr>
                </a:solidFill>
              </a:rPr>
              <a:t>1</a:t>
            </a:r>
            <a:r>
              <a:rPr lang="en-US" sz="1600" b="1" dirty="0">
                <a:solidFill>
                  <a:srgbClr val="4FC3F7"/>
                </a:solidFill>
              </a:rPr>
              <a:t>  Microsoft Is Consolidating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Agent Framework is the successor to both AutoGen and SK. It is the strategic direction for new enterprise development.</a:t>
            </a:r>
          </a:p>
        </p:txBody>
      </p:sp>
      <p:sp>
        <p:nvSpPr>
          <p:cNvPr id="51" name="Card1"/>
          <p:cNvSpPr/>
          <p:nvPr/>
        </p:nvSpPr>
        <p:spPr>
          <a:xfrm>
            <a:off x="4254500" y="7112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81C784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81C784">
                    <a:alpha val="30000"/>
                  </a:srgbClr>
                </a:solidFill>
              </a:rPr>
              <a:t>2</a:t>
            </a:r>
            <a:r>
              <a:rPr lang="en-US" sz="1600" b="1" dirty="0">
                <a:solidFill>
                  <a:srgbClr val="81C784"/>
                </a:solidFill>
              </a:rPr>
              <a:t>  Five Standardized Patterns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Sequential, Concurrent, Handoff, Group Chat, and Magentic are now officially codified in Azure Architecture Center.</a:t>
            </a:r>
          </a:p>
        </p:txBody>
      </p:sp>
      <p:sp>
        <p:nvSpPr>
          <p:cNvPr id="52" name="Card2"/>
          <p:cNvSpPr/>
          <p:nvPr/>
        </p:nvSpPr>
        <p:spPr>
          <a:xfrm>
            <a:off x="8242300" y="7112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FFB74D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FFB74D">
                    <a:alpha val="30000"/>
                  </a:srgbClr>
                </a:solidFill>
              </a:rPr>
              <a:t>3</a:t>
            </a:r>
            <a:r>
              <a:rPr lang="en-US" sz="1600" b="1" dirty="0">
                <a:solidFill>
                  <a:srgbClr val="FFB74D"/>
                </a:solidFill>
              </a:rPr>
              <a:t>  Strong Foundry Compatibility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All three primary frameworks have first-class Azure AI Foundry integration. No vendor lock-in concerns.</a:t>
            </a:r>
          </a:p>
        </p:txBody>
      </p:sp>
      <p:sp>
        <p:nvSpPr>
          <p:cNvPr id="53" name="Card3"/>
          <p:cNvSpPr/>
          <p:nvPr/>
        </p:nvSpPr>
        <p:spPr>
          <a:xfrm>
            <a:off x="266700" y="37084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CE93D8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CE93D8">
                    <a:alpha val="30000"/>
                  </a:srgbClr>
                </a:solidFill>
              </a:rPr>
              <a:t>4</a:t>
            </a:r>
            <a:r>
              <a:rPr lang="en-US" sz="1600" b="1" dirty="0">
                <a:solidFill>
                  <a:srgbClr val="CE93D8"/>
                </a:solidFill>
              </a:rPr>
              <a:t>  A2A Is the Standard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The A2A protocol (v1.0.0, Linux Foundation) is the emerging standard. Microsoft provides first-class ASP.NET support.</a:t>
            </a:r>
          </a:p>
        </p:txBody>
      </p:sp>
      <p:sp>
        <p:nvSpPr>
          <p:cNvPr id="54" name="Card4"/>
          <p:cNvSpPr/>
          <p:nvPr/>
        </p:nvSpPr>
        <p:spPr>
          <a:xfrm>
            <a:off x="4254500" y="37084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EF5350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EF5350">
                    <a:alpha val="30000"/>
                  </a:srgbClr>
                </a:solidFill>
              </a:rPr>
              <a:t>5</a:t>
            </a:r>
            <a:r>
              <a:rPr lang="en-US" sz="1600" b="1" dirty="0">
                <a:solidFill>
                  <a:srgbClr val="EF5350"/>
                </a:solidFill>
              </a:rPr>
              <a:t>  Hybrid Is Recommended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In-process orchestration within services + A2A for cross-team/cross-language communication.</a:t>
            </a:r>
          </a:p>
        </p:txBody>
      </p:sp>
      <p:sp>
        <p:nvSpPr>
          <p:cNvPr id="55" name="Card5"/>
          <p:cNvSpPr/>
          <p:nvPr/>
        </p:nvSpPr>
        <p:spPr>
          <a:xfrm>
            <a:off x="8242300" y="3708400"/>
            <a:ext cx="3683000" cy="2794000"/>
          </a:xfrm>
          <a:prstGeom prst="roundRect">
            <a:avLst/>
          </a:prstGeom>
          <a:solidFill>
            <a:srgbClr val="1A2736"/>
          </a:solidFill>
          <a:ln w="12700">
            <a:solidFill>
              <a:srgbClr val="4DD0E1"/>
            </a:solidFill>
          </a:ln>
        </p:spPr>
        <p:txBody>
          <a:bodyPr wrap="square" lIns="91440" tIns="72000" rIns="91440" bIns="45720"/>
          <a:lstStyle/>
          <a:p>
            <a:pPr>
              <a:buNone/>
            </a:pPr>
            <a:r>
              <a:rPr lang="en-US" sz="2800" b="1" dirty="0">
                <a:solidFill>
                  <a:srgbClr val="4DD0E1">
                    <a:alpha val="30000"/>
                  </a:srgbClr>
                </a:solidFill>
              </a:rPr>
              <a:t>6</a:t>
            </a:r>
            <a:r>
              <a:rPr lang="en-US" sz="1600" b="1" dirty="0">
                <a:solidFill>
                  <a:srgbClr val="4DD0E1"/>
                </a:solidFill>
              </a:rPr>
              <a:t>  Everything Is in Preview</a:t>
            </a:r>
          </a:p>
          <a:p>
            <a:pPr>
              <a:buNone/>
            </a:pPr>
            <a:endParaRPr lang="en-US" sz="600" dirty="0"/>
          </a:p>
          <a:p>
            <a:pPr>
              <a:buNone/>
            </a:pPr>
            <a:r>
              <a:rPr lang="en-US" sz="1400" dirty="0">
                <a:solidFill>
                  <a:srgbClr val="B0BEC5"/>
                </a:solidFill>
              </a:rPr>
              <a:t>Agent Framework is in public preview. SK Agents are experimental. Plan for API changes. LangGraph core is GA.</a:t>
            </a:r>
          </a:p>
        </p:txBody>
      </p:sp>
      <p:pic>
        <p:nvPicPr>
          <p:cNvPr id="56" name="Graphic 56" descr="Lightbulb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0" y="1016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211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nterprise AI">
      <a:dk1>
        <a:srgbClr val="E8ECF1"/>
      </a:dk1>
      <a:lt1>
        <a:srgbClr val="0F1923"/>
      </a:lt1>
      <a:dk2>
        <a:srgbClr val="B0BEC5"/>
      </a:dk2>
      <a:lt2>
        <a:srgbClr val="1A2736"/>
      </a:lt2>
      <a:accent1>
        <a:srgbClr val="4FC3F7"/>
      </a:accent1>
      <a:accent2>
        <a:srgbClr val="81C784"/>
      </a:accent2>
      <a:accent3>
        <a:srgbClr val="FFB74D"/>
      </a:accent3>
      <a:accent4>
        <a:srgbClr val="CE93D8"/>
      </a:accent4>
      <a:accent5>
        <a:srgbClr val="EF5350"/>
      </a:accent5>
      <a:accent6>
        <a:srgbClr val="4DD0E1"/>
      </a:accent6>
      <a:hlink>
        <a:srgbClr val="0563C1"/>
      </a:hlink>
      <a:folHlink>
        <a:srgbClr val="954F72"/>
      </a:folHlink>
    </a:clrScheme>
    <a:fontScheme name="Enterprise AI">
      <a:majorFont>
        <a:latin typeface="Segoe UI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ddd7e2-e222-45fa-9d55-369e51267403}">
  <we:reference id="WA200010001" version="1.0.0.1" store="en-US" storeType="OMEX"/>
  <we:alternateReferences/>
  <we:properties>
    <we:property name="Microsoft.Office.CampaignId" value="&quot;non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1571</TotalTime>
  <Words>1199</Words>
  <Application>Microsoft Office PowerPoint</Application>
  <PresentationFormat>Widescreen</PresentationFormat>
  <Paragraphs>324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Segoe UI</vt:lpstr>
      <vt:lpstr>Segoe UI Semibold</vt:lpstr>
      <vt:lpstr>Office Theme</vt:lpstr>
      <vt:lpstr>Multi-Agent Enterprise Architecture</vt:lpstr>
      <vt:lpstr>Agenda</vt:lpstr>
      <vt:lpstr>Start Simple: The Complexity Spectrum</vt:lpstr>
      <vt:lpstr>Sequential Orchestration</vt:lpstr>
      <vt:lpstr>Concurrent Orchestration</vt:lpstr>
      <vt:lpstr>Handoff Orchestration</vt:lpstr>
      <vt:lpstr>Group Chat Orchestration</vt:lpstr>
      <vt:lpstr>Magentic Orchestration</vt:lpstr>
      <vt:lpstr>Pattern Comparison Matrix</vt:lpstr>
      <vt:lpstr>Library Ecosystem &amp; Pattern Support</vt:lpstr>
      <vt:lpstr>Azure AI Foundry Compatibility</vt:lpstr>
      <vt:lpstr>Agent2Agent (A2A) Protocol</vt:lpstr>
      <vt:lpstr>In-Process vs A2A Communication</vt:lpstr>
      <vt:lpstr>Hybrid Architecture</vt:lpstr>
      <vt:lpstr>Key Takeaways &amp; 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Shawn Gaul</cp:lastModifiedBy>
  <cp:revision>3</cp:revision>
  <dcterms:created xsi:type="dcterms:W3CDTF">2018-06-07T21:39:02Z</dcterms:created>
  <dcterms:modified xsi:type="dcterms:W3CDTF">2026-03-20T16:31:49Z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